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9fa3ee-24c7-5bc9-b338-fb61ac1dfa66}">
          <p14:sldIdLst>
            <p14:sldId id="256"/>
            <p14:sldId id="257"/>
            <p14:sldId id="258"/>
            <p14:sldId id="259"/>
            <p14:sldId id="260"/>
            <p14:sldId id="261"/>
          </p14:sldIdLst>
        </p14:section>
        <p14:section name="1. Structural consistency" id="{0bf44c2a-0f28-7e94-d6de-a80aa367d582}">
          <p14:sldIdLst>
            <p14:sldId id="262"/>
            <p14:sldId id="263"/>
            <p14:sldId id="264"/>
            <p14:sldId id="265"/>
            <p14:sldId id="266"/>
            <p14:sldId id="267"/>
          </p14:sldIdLst>
        </p14:section>
        <p14:section name="2. The so what" id="{6580b5d7-d2bd-2ecd-f8e2-2cc65a4cbb84}">
          <p14:sldIdLst>
            <p14:sldId id="268"/>
            <p14:sldId id="269"/>
            <p14:sldId id="270"/>
            <p14:sldId id="271"/>
            <p14:sldId id="272"/>
            <p14:sldId id="273"/>
            <p14:sldId id="274"/>
          </p14:sldIdLst>
        </p14:section>
        <p14:section name="3. RFI documentation" id="{d19d5cb0-a87e-739f-337e-8445150d7b8d}">
          <p14:sldIdLst>
            <p14:sldId id="275"/>
            <p14:sldId id="276"/>
            <p14:sldId id="277"/>
            <p14:sldId id="278"/>
            <p14:sldId id="279"/>
          </p14:sldIdLst>
        </p14:section>
        <p14:section name="Q&amp;A: spot the gap" id="{429e01ad-866c-3a51-7cc6-935bf594ab2e}">
          <p14:sldIdLst>
            <p14:sldId id="280"/>
            <p14:sldId id="281"/>
            <p14:sldId id="282"/>
            <p14:sldId id="283"/>
            <p14:sldId id="284"/>
            <p14:sldId id="285"/>
            <p14:sldId id="286"/>
            <p14:sldId id="287"/>
            <p14:sldId id="288"/>
            <p14:sldId id="289"/>
          </p14:sldIdLst>
        </p14:section>
        <p14:section name="Close" id="{f1f730e3-48d8-4c91-852c-fa334cfcbc55}">
          <p14:sldIdLst>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is about making our case notes as strong as the work behind them. It is not a review of any individual. Lots of the analysis being done is good. The aim is to make sure the notes show that work clearly, consistently and in a way that holds up to outside scrutiny.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session: context first, then three themes, then an interactive section with a true or false round and four real case rationales, and finally what's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This isn't an internal preference or a change for the sake of it. Regulators are actively asking questions about our notes. When they test our controls they read the case note. That note is the only evidence they have that the work was done and that the decision was reasonable. Better notes reduce external risk for the whole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September 2026 QA cycle reviewed 30 closed UK cases. Its key conclusion was that we can't currently cite L1/L2 output to Internal Audit, banking partners or regulators without qualification. That's a strong message, but the detail is reassuring. The pattern was uniform across the team, not down to individuals. The alerted activity was generally real, and the tester did not regularly disagree with the dispositions. The issue is that the notes don't evidence the investigation. Optional context if asked: most significant findings sat in narrative reasoning and defensibility, rather than documentary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a positive. These checks passed in every applicable case in the QA sample. Copy-and-paste, which was a big theme in the Singapore comparator review, was found in only one UK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QA review applied a simple test: would this file survive an FCA, card scheme or banking partner review? To pass, a note must be complete, reasoned and independently reconstructable. Where these are missing, the control can be judged unreliable even when the underlying work and decision were sound. That can lead to findings, extra testing or look-back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constructive. Many notes are already very good. The issue is consistency: the same type of alert can produce a very thorough note from one analyst and a two-line note from another. Often the work was done but not written down. From a regulator's point of view, missing equals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what alerted: the rule and the transaction that caused the flag, not the full transaction history. A generic review of wider activity is still useful later in the note, because it supports the investigation. For example, it might show that a high-value payment sits within an account that typically shows genuine activity. But it can't replace analysis of the alerted activity itself. The QA review found critical analysis that didn't match the alerted activity in at least 9 of 30 cases: wrong review periods, or aggregate activity instead of the specific alerting pattern. This came up in almost every case in the QA feedback. Notes often gave a general merchant review, which is useful context, but did not identify the specific transactions or activity that triggered the rule, or explain why that activity is not a concern. Aggregate analysis is not enough: itemise what alerted. A template update is in progress so this is captured explicitly, but we don't need to wait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themes every L1 and L2 note should cover, even if only to confirm an assessment was done and found nothing of concern. Align this list to the current L1 and L2 SOPs; add any SOP-specific steps your team uses. The final element is always the conclusion and rationale, which we cover in Theme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is good; boilerplate is not. Regulators notice when notes read identically across cases. That suggests a tick-box exercise rather than an investigation. Use the headings as a framework and fill them with case-specific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win. Confirming a negative takes one line, and closes a gap a regulator would otherwise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A fact on its own does not tell the reader anything about the decision. For every point you write down, ask: so what? Does it make the activity more or less consistent with the expected profile? Does it raise or reduce a specific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three patterns we see regularly. Each statement is correct, but the note stops before the analysis. Talk through each row and ask the room what they would add. Adjust the example risk factors to reflect the current risk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straight from the QA feedback and recur across many cases. They are often not wrong, but they are weak. "It may be" or "might have" is speculation. "Plausible" or "reasonable", tied to what the merchant does or the account's overall activity, gives the argument much more strength. For example: "Given the merchant is a licensed gambling operator and the cardholder paid in £4,800 over the period, a withdrawal of £5,200 is reasonable and consistent with winnings." The structuring/smurfing line is the classic example of a typology used where it doesn't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like "detailed", "high-quality", "appropriately", "significantly" and "no concerns whatsoever" are opinions dressed up as facts. To a regulator they read as advocacy, not analysis, and they can't be tested. The QA review specifically tests for precise language with no unsupported absolutes. Replace adjectives with the evidence behind them: numbers, dates, sources. Keep opinions measured: "this is consistent with…" or "on balance, we assess…". Left-hand examples are taken from recent rationales.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explanation is only as strong as the evidence behind it. Gambling and crypto withdrawals: check the pay-in history before you attribute withdrawals to winnings or profits. Open-source research shouldn't stop at the merchant or end user. Global or seasonal events can explain spikes in volume or value, and citing them, with a source, strengthens the note. Finally, only reference typologies that are genuinely relevant. Ruling out a typology that doesn't apply adds length but no value, and suggests a template rather than an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turn a checklist into an investigation. The last one is the regulator test: if a reviewer with no other context reads your note, will they agree with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The key point: an RFI is not a box to tick. A reader should be able to follow why it was sent, what we got back, whether it was good enough, and what difference it made to the outcome. If no RFI was sent, that decision needs a rationale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pattern from recent notes. The first version is accurate but stops short. The improved version adds when and what was asked, what came back, why it was inadequate and, crucially, what risk we therefore could not rule out and how that drove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context: over the past 12 months the UK raised RFIs at roughly 44% of the global rate, and RFIs converted to L2 at 34.7% vs 57.2% globally. In the QA sample, two RFI-response cases were assessed as warranting L2 escalation but were discounted at L1. The RFI process and template are also being reviewed so requests target the evidential gap, and the SOP will make clear when an unresolved RFI response should go to L2. The message for analysts: an RFI response is evidence to be tested, not a box to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analysts keep this list to hand when writing notes. It mirrors today's themes and should be read alongside the L1 and L2 SOPs.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true or false round as a warm-up: ask for a show of hands on each statement. Then move on to the cases. Show each rationale, give the room a minute, take answers, then reveal the QA feedback on the next slide. Rationales are excerpts from recent QA-reviewed cases with customer names, fingerprints and merchant names removed. Emphasise that in most of these the outcome wasn't wrong: the gap is in what the note evidences.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statement and ask for a show of hands, true or false. Don't reveal yet; take a couple of reasons from the room for the ones that split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only statement 3 is true. Use each answer to briefly recap the theme it relates to. On closure reasons, a related point from QA: where a rule has correctly alerted on real activity, check whether 'false positive' is the right closure reason under the SOP.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a minute. Case ref 02089993. QA's view: the content isn't incorrect and does support discounting, but the information should inform the disposition rather than simply be taken as evidence that the alerted activity is of no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discussion. Case ref 02089993. QA's view: the content isn't incorrect and does support discounting, but the information should inform the disposition rather than simply be taken as evidence that the alerted activity is of no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a minute. Case ref 02093988. A good example of a note that is long and contains true statements, yet never addresses why this specific cardholder's share is not a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discussion. Case ref 02093988. A good example of a note that is long and contains true statements, yet never addresses why this specific cardholder's share is not a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a minute. Case ref not recorded in the feedback. The simple answer QA identified: Ukraine is an expected target market for this merchant. One sentence of specific reasoning would have done more than the whole generic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discussion. Case ref not recorded in the feedback. The simple answer QA identified: Ukraine is an expected target market for this merchant. One sentence of specific reasoning would have done more than the whole generic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ref C104239. Ask the room first: what makes this strong? Then reveal. It establishes why the merchant alerted, explains what drives the average value, and gives a reason it sits above its industry peers. Every piece of information serves the disposition, and the false-positive reasoning is relevant. Note: QA has referred the broad food &amp; drink peer group used by this rule to the rule owners. That's a rule-design point, not an analyst quality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actions from the control reliance assessment that affect analysts day to day. Template redesign is targeted for November 2026. Until the refreshed geographic risk list is communicated, check you are using the current AML Geographic Risk Rating; some reviews in the sample used the 2024 Q3 version. Confirm dates and owners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themes. Reinforce the positive message: the analysis is often already there; we just need to make sure it is visible on the page. Close by opening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926080"/>
            <a:ext cx="804672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03120" y="1554480"/>
            <a:ext cx="658368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2103120" y="2743200"/>
            <a:ext cx="6583680" cy="10972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Elevating L1 &amp; L2 Case Note Quality</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4.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rPr>
              <a:t>From Checklist to Investigation</a:t>
            </a:r>
            <a:endParaRPr lang="en-US" sz="3800" dirty="0"/>
          </a:p>
        </p:txBody>
      </p:sp>
      <p:sp>
        <p:nvSpPr>
          <p:cNvPr id="3" name="Text 0"/>
          <p:cNvSpPr/>
          <p:nvPr>
            <p:ph idx="101" type="body" hasCustomPrompt="1"/>
          </p:nvPr>
        </p:nvSpPr>
        <p:spPr>
          <a:xfrm>
            <a:off x="548640" y="2926080"/>
            <a:ext cx="8046720" cy="914400"/>
          </a:xfrm>
          <a:prstGeom prst="rect">
            <a:avLst/>
          </a:prstGeom>
          <a:noFill/>
          <a:ln/>
        </p:spPr>
        <p:txBody>
          <a:bodyPr wrap="square" lIns="0" tIns="0" rIns="0" bIns="0" rtlCol="0" anchor="t"/>
          <a:lstStyle/>
          <a:p>
            <a:pPr indent="0" marL="0">
              <a:buNone/>
            </a:pPr>
            <a:r>
              <a:rPr lang="en-US" sz="1800" dirty="0">
                <a:solidFill>
                  <a:schemeClr val="accent6"/>
                </a:solidFill>
              </a:rPr>
              <a:t>Elevating the quality of L1 &amp; L2 case notes</a:t>
            </a:r>
            <a:endParaRPr lang="en-US" sz="1800" dirty="0"/>
          </a:p>
        </p:txBody>
      </p:sp>
      <p:sp>
        <p:nvSpPr>
          <p:cNvPr id="4" name="Title circle"/>
          <p:cNvSpPr/>
          <p:nvPr/>
        </p:nvSpPr>
        <p:spPr>
          <a:xfrm>
            <a:off x="548640" y="457200"/>
            <a:ext cx="731520" cy="731520"/>
          </a:xfrm>
          <a:prstGeom prst="ellipse">
            <a:avLst/>
          </a:prstGeom>
          <a:solidFill>
            <a:srgbClr val="F2A541"/>
          </a:solidFill>
          <a:ln w="12700">
            <a:solidFill>
              <a:srgbClr val="F2A541"/>
            </a:solidFill>
            <a:prstDash val="solid"/>
          </a:ln>
        </p:spPr>
      </p:sp>
      <p:pic>
        <p:nvPicPr>
          <p:cNvPr id="5" name="Title icon" descr="preencoded.png">    </p:cNvPr>
          <p:cNvPicPr>
            <a:picLocks noChangeAspect="1"/>
          </p:cNvPicPr>
          <p:nvPr/>
        </p:nvPicPr>
        <p:blipFill>
          <a:blip r:embed="rId1"/>
          <a:stretch>
            <a:fillRect/>
          </a:stretch>
        </p:blipFill>
        <p:spPr>
          <a:xfrm>
            <a:off x="731520" y="64008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Contents</a:t>
            </a:r>
            <a:endParaRPr lang="en-US" sz="2800" dirty="0"/>
          </a:p>
        </p:txBody>
      </p:sp>
      <p:sp>
        <p:nvSpPr>
          <p:cNvPr id="3" name="Contents card 1"/>
          <p:cNvSpPr/>
          <p:nvPr/>
        </p:nvSpPr>
        <p:spPr>
          <a:xfrm>
            <a:off x="457200" y="1097280"/>
            <a:ext cx="402336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Contents 1 circle"/>
          <p:cNvSpPr/>
          <p:nvPr/>
        </p:nvSpPr>
        <p:spPr>
          <a:xfrm>
            <a:off x="640080" y="1280160"/>
            <a:ext cx="640080" cy="640080"/>
          </a:xfrm>
          <a:prstGeom prst="ellipse">
            <a:avLst/>
          </a:prstGeom>
          <a:solidFill>
            <a:srgbClr val="0F7173"/>
          </a:solidFill>
          <a:ln w="12700">
            <a:solidFill>
              <a:srgbClr val="0F7173"/>
            </a:solidFill>
            <a:prstDash val="solid"/>
          </a:ln>
        </p:spPr>
      </p:sp>
      <p:pic>
        <p:nvPicPr>
          <p:cNvPr id="5" name="Contents 1 icon" descr="preencoded.png">    </p:cNvPr>
          <p:cNvPicPr>
            <a:picLocks noChangeAspect="1"/>
          </p:cNvPicPr>
          <p:nvPr/>
        </p:nvPicPr>
        <p:blipFill>
          <a:blip r:embed="rId1"/>
          <a:stretch>
            <a:fillRect/>
          </a:stretch>
        </p:blipFill>
        <p:spPr>
          <a:xfrm>
            <a:off x="800100" y="1440180"/>
            <a:ext cx="320040" cy="320040"/>
          </a:xfrm>
          <a:prstGeom prst="rect">
            <a:avLst/>
          </a:prstGeom>
        </p:spPr>
      </p:pic>
      <p:sp>
        <p:nvSpPr>
          <p:cNvPr id="6" name="Text 3"/>
          <p:cNvSpPr txBox="1"/>
          <p:nvPr/>
        </p:nvSpPr>
        <p:spPr>
          <a:xfrm>
            <a:off x="1463040" y="1234440"/>
            <a:ext cx="2880360" cy="365760"/>
          </a:xfrm>
          <a:prstGeom prst="rect">
            <a:avLst/>
          </a:prstGeom>
          <a:noFill/>
          <a:ln/>
        </p:spPr>
        <p:txBody>
          <a:bodyPr wrap="square" lIns="0" tIns="0" rIns="0" bIns="0" rtlCol="0" anchor="ctr"/>
          <a:lstStyle/>
          <a:p>
            <a:pPr indent="0" marL="0">
              <a:buNone/>
            </a:pPr>
            <a:r>
              <a:rPr lang="en-US" sz="1600" b="1" dirty="0">
                <a:solidFill>
                  <a:schemeClr val="tx2"/>
                </a:solidFill>
              </a:rPr>
              <a:t>Why we are here</a:t>
            </a:r>
            <a:endParaRPr lang="en-US" sz="1600" dirty="0"/>
          </a:p>
        </p:txBody>
      </p:sp>
      <p:sp>
        <p:nvSpPr>
          <p:cNvPr id="7" name="Text 4"/>
          <p:cNvSpPr txBox="1"/>
          <p:nvPr/>
        </p:nvSpPr>
        <p:spPr>
          <a:xfrm>
            <a:off x="1463040" y="1600200"/>
            <a:ext cx="2880360" cy="365760"/>
          </a:xfrm>
          <a:prstGeom prst="rect">
            <a:avLst/>
          </a:prstGeom>
          <a:noFill/>
          <a:ln/>
        </p:spPr>
        <p:txBody>
          <a:bodyPr wrap="square" lIns="0" tIns="0" rIns="0" bIns="0" rtlCol="0" anchor="t"/>
          <a:lstStyle/>
          <a:p>
            <a:pPr indent="0" marL="0">
              <a:buNone/>
            </a:pPr>
            <a:r>
              <a:rPr lang="en-US" sz="1300" dirty="0">
                <a:solidFill>
                  <a:schemeClr val="tx1"/>
                </a:solidFill>
              </a:rPr>
              <a:t>Regulatory context and what QA told us</a:t>
            </a:r>
            <a:endParaRPr lang="en-US" sz="1300" dirty="0"/>
          </a:p>
        </p:txBody>
      </p:sp>
      <p:sp>
        <p:nvSpPr>
          <p:cNvPr id="8" name="Contents card 2"/>
          <p:cNvSpPr/>
          <p:nvPr/>
        </p:nvSpPr>
        <p:spPr>
          <a:xfrm>
            <a:off x="4663440" y="1097280"/>
            <a:ext cx="402336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Contents 2 circle"/>
          <p:cNvSpPr/>
          <p:nvPr/>
        </p:nvSpPr>
        <p:spPr>
          <a:xfrm>
            <a:off x="4846320" y="1280160"/>
            <a:ext cx="640080" cy="640080"/>
          </a:xfrm>
          <a:prstGeom prst="ellipse">
            <a:avLst/>
          </a:prstGeom>
          <a:solidFill>
            <a:srgbClr val="0F7173"/>
          </a:solidFill>
          <a:ln w="12700">
            <a:solidFill>
              <a:srgbClr val="0F7173"/>
            </a:solidFill>
            <a:prstDash val="solid"/>
          </a:ln>
        </p:spPr>
      </p:sp>
      <p:pic>
        <p:nvPicPr>
          <p:cNvPr id="10" name="Contents 2 icon" descr="preencoded.png">    </p:cNvPr>
          <p:cNvPicPr>
            <a:picLocks noChangeAspect="1"/>
          </p:cNvPicPr>
          <p:nvPr/>
        </p:nvPicPr>
        <p:blipFill>
          <a:blip r:embed="rId2"/>
          <a:stretch>
            <a:fillRect/>
          </a:stretch>
        </p:blipFill>
        <p:spPr>
          <a:xfrm>
            <a:off x="5006340" y="1440180"/>
            <a:ext cx="320040" cy="320040"/>
          </a:xfrm>
          <a:prstGeom prst="rect">
            <a:avLst/>
          </a:prstGeom>
        </p:spPr>
      </p:pic>
      <p:sp>
        <p:nvSpPr>
          <p:cNvPr id="11" name="Text 7"/>
          <p:cNvSpPr txBox="1"/>
          <p:nvPr/>
        </p:nvSpPr>
        <p:spPr>
          <a:xfrm>
            <a:off x="5669280" y="1234440"/>
            <a:ext cx="2880360" cy="365760"/>
          </a:xfrm>
          <a:prstGeom prst="rect">
            <a:avLst/>
          </a:prstGeom>
          <a:noFill/>
          <a:ln/>
        </p:spPr>
        <p:txBody>
          <a:bodyPr wrap="square" lIns="0" tIns="0" rIns="0" bIns="0" rtlCol="0" anchor="ctr"/>
          <a:lstStyle/>
          <a:p>
            <a:pPr indent="0" marL="0">
              <a:buNone/>
            </a:pPr>
            <a:r>
              <a:rPr lang="en-US" sz="1600" b="1" dirty="0">
                <a:solidFill>
                  <a:schemeClr val="tx2"/>
                </a:solidFill>
              </a:rPr>
              <a:t>1. Consistent structure</a:t>
            </a:r>
            <a:endParaRPr lang="en-US" sz="1600" dirty="0"/>
          </a:p>
        </p:txBody>
      </p:sp>
      <p:sp>
        <p:nvSpPr>
          <p:cNvPr id="12" name="Text 8"/>
          <p:cNvSpPr txBox="1"/>
          <p:nvPr/>
        </p:nvSpPr>
        <p:spPr>
          <a:xfrm>
            <a:off x="5669280" y="1600200"/>
            <a:ext cx="2880360" cy="365760"/>
          </a:xfrm>
          <a:prstGeom prst="rect">
            <a:avLst/>
          </a:prstGeom>
          <a:noFill/>
          <a:ln/>
        </p:spPr>
        <p:txBody>
          <a:bodyPr wrap="square" lIns="0" tIns="0" rIns="0" bIns="0" rtlCol="0" anchor="t"/>
          <a:lstStyle/>
          <a:p>
            <a:pPr indent="0" marL="0">
              <a:buNone/>
            </a:pPr>
            <a:r>
              <a:rPr lang="en-US" sz="1300" dirty="0">
                <a:solidFill>
                  <a:schemeClr val="tx1"/>
                </a:solidFill>
              </a:rPr>
              <a:t>The same themes, in the same order, every time</a:t>
            </a:r>
            <a:endParaRPr lang="en-US" sz="1300" dirty="0"/>
          </a:p>
        </p:txBody>
      </p:sp>
      <p:sp>
        <p:nvSpPr>
          <p:cNvPr id="13" name="Contents card 3"/>
          <p:cNvSpPr/>
          <p:nvPr/>
        </p:nvSpPr>
        <p:spPr>
          <a:xfrm>
            <a:off x="457200" y="2286000"/>
            <a:ext cx="402336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Contents 3 circle"/>
          <p:cNvSpPr/>
          <p:nvPr/>
        </p:nvSpPr>
        <p:spPr>
          <a:xfrm>
            <a:off x="640080" y="2468880"/>
            <a:ext cx="640080" cy="640080"/>
          </a:xfrm>
          <a:prstGeom prst="ellipse">
            <a:avLst/>
          </a:prstGeom>
          <a:solidFill>
            <a:srgbClr val="0F7173"/>
          </a:solidFill>
          <a:ln w="12700">
            <a:solidFill>
              <a:srgbClr val="0F7173"/>
            </a:solidFill>
            <a:prstDash val="solid"/>
          </a:ln>
        </p:spPr>
      </p:sp>
      <p:pic>
        <p:nvPicPr>
          <p:cNvPr id="15" name="Contents 3 icon" descr="preencoded.png">    </p:cNvPr>
          <p:cNvPicPr>
            <a:picLocks noChangeAspect="1"/>
          </p:cNvPicPr>
          <p:nvPr/>
        </p:nvPicPr>
        <p:blipFill>
          <a:blip r:embed="rId3"/>
          <a:stretch>
            <a:fillRect/>
          </a:stretch>
        </p:blipFill>
        <p:spPr>
          <a:xfrm>
            <a:off x="800100" y="2628900"/>
            <a:ext cx="320040" cy="320040"/>
          </a:xfrm>
          <a:prstGeom prst="rect">
            <a:avLst/>
          </a:prstGeom>
        </p:spPr>
      </p:pic>
      <p:sp>
        <p:nvSpPr>
          <p:cNvPr id="16" name="Text 11"/>
          <p:cNvSpPr txBox="1"/>
          <p:nvPr/>
        </p:nvSpPr>
        <p:spPr>
          <a:xfrm>
            <a:off x="1463040" y="2423160"/>
            <a:ext cx="2880360" cy="365760"/>
          </a:xfrm>
          <a:prstGeom prst="rect">
            <a:avLst/>
          </a:prstGeom>
          <a:noFill/>
          <a:ln/>
        </p:spPr>
        <p:txBody>
          <a:bodyPr wrap="square" lIns="0" tIns="0" rIns="0" bIns="0" rtlCol="0" anchor="ctr"/>
          <a:lstStyle/>
          <a:p>
            <a:pPr indent="0" marL="0">
              <a:buNone/>
            </a:pPr>
            <a:r>
              <a:rPr lang="en-US" sz="1600" b="1" dirty="0">
                <a:solidFill>
                  <a:schemeClr val="tx2"/>
                </a:solidFill>
              </a:rPr>
              <a:t>2. The "so what?"</a:t>
            </a:r>
            <a:endParaRPr lang="en-US" sz="1600" dirty="0"/>
          </a:p>
        </p:txBody>
      </p:sp>
      <p:sp>
        <p:nvSpPr>
          <p:cNvPr id="17" name="Text 12"/>
          <p:cNvSpPr txBox="1"/>
          <p:nvPr/>
        </p:nvSpPr>
        <p:spPr>
          <a:xfrm>
            <a:off x="1463040" y="2788920"/>
            <a:ext cx="2880360" cy="365760"/>
          </a:xfrm>
          <a:prstGeom prst="rect">
            <a:avLst/>
          </a:prstGeom>
          <a:noFill/>
          <a:ln/>
        </p:spPr>
        <p:txBody>
          <a:bodyPr wrap="square" lIns="0" tIns="0" rIns="0" bIns="0" rtlCol="0" anchor="t"/>
          <a:lstStyle/>
          <a:p>
            <a:pPr indent="0" marL="0">
              <a:buNone/>
            </a:pPr>
            <a:r>
              <a:rPr lang="en-US" sz="1300" dirty="0">
                <a:solidFill>
                  <a:schemeClr val="tx1"/>
                </a:solidFill>
              </a:rPr>
              <a:t>Connecting facts to the final decision</a:t>
            </a:r>
            <a:endParaRPr lang="en-US" sz="1300" dirty="0"/>
          </a:p>
        </p:txBody>
      </p:sp>
      <p:sp>
        <p:nvSpPr>
          <p:cNvPr id="18" name="Contents card 4"/>
          <p:cNvSpPr/>
          <p:nvPr/>
        </p:nvSpPr>
        <p:spPr>
          <a:xfrm>
            <a:off x="4663440" y="2286000"/>
            <a:ext cx="402336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9" name="Contents 4 circle"/>
          <p:cNvSpPr/>
          <p:nvPr/>
        </p:nvSpPr>
        <p:spPr>
          <a:xfrm>
            <a:off x="4846320" y="2468880"/>
            <a:ext cx="640080" cy="640080"/>
          </a:xfrm>
          <a:prstGeom prst="ellipse">
            <a:avLst/>
          </a:prstGeom>
          <a:solidFill>
            <a:srgbClr val="0F7173"/>
          </a:solidFill>
          <a:ln w="12700">
            <a:solidFill>
              <a:srgbClr val="0F7173"/>
            </a:solidFill>
            <a:prstDash val="solid"/>
          </a:ln>
        </p:spPr>
      </p:sp>
      <p:pic>
        <p:nvPicPr>
          <p:cNvPr id="20" name="Contents 4 icon" descr="preencoded.png">    </p:cNvPr>
          <p:cNvPicPr>
            <a:picLocks noChangeAspect="1"/>
          </p:cNvPicPr>
          <p:nvPr/>
        </p:nvPicPr>
        <p:blipFill>
          <a:blip r:embed="rId4"/>
          <a:stretch>
            <a:fillRect/>
          </a:stretch>
        </p:blipFill>
        <p:spPr>
          <a:xfrm>
            <a:off x="5006340" y="2628900"/>
            <a:ext cx="320040" cy="320040"/>
          </a:xfrm>
          <a:prstGeom prst="rect">
            <a:avLst/>
          </a:prstGeom>
        </p:spPr>
      </p:pic>
      <p:sp>
        <p:nvSpPr>
          <p:cNvPr id="21" name="Text 15"/>
          <p:cNvSpPr txBox="1"/>
          <p:nvPr/>
        </p:nvSpPr>
        <p:spPr>
          <a:xfrm>
            <a:off x="5669280" y="2423160"/>
            <a:ext cx="2880360" cy="365760"/>
          </a:xfrm>
          <a:prstGeom prst="rect">
            <a:avLst/>
          </a:prstGeom>
          <a:noFill/>
          <a:ln/>
        </p:spPr>
        <p:txBody>
          <a:bodyPr wrap="square" lIns="0" tIns="0" rIns="0" bIns="0" rtlCol="0" anchor="ctr"/>
          <a:lstStyle/>
          <a:p>
            <a:pPr indent="0" marL="0">
              <a:buNone/>
            </a:pPr>
            <a:r>
              <a:rPr lang="en-US" sz="1600" b="1" dirty="0">
                <a:solidFill>
                  <a:schemeClr val="tx2"/>
                </a:solidFill>
              </a:rPr>
              <a:t>3. RFI documentation</a:t>
            </a:r>
            <a:endParaRPr lang="en-US" sz="1600" dirty="0"/>
          </a:p>
        </p:txBody>
      </p:sp>
      <p:sp>
        <p:nvSpPr>
          <p:cNvPr id="22" name="Text 16"/>
          <p:cNvSpPr txBox="1"/>
          <p:nvPr/>
        </p:nvSpPr>
        <p:spPr>
          <a:xfrm>
            <a:off x="5669280" y="2788920"/>
            <a:ext cx="2880360" cy="365760"/>
          </a:xfrm>
          <a:prstGeom prst="rect">
            <a:avLst/>
          </a:prstGeom>
          <a:noFill/>
          <a:ln/>
        </p:spPr>
        <p:txBody>
          <a:bodyPr wrap="square" lIns="0" tIns="0" rIns="0" bIns="0" rtlCol="0" anchor="t"/>
          <a:lstStyle/>
          <a:p>
            <a:pPr indent="0" marL="0">
              <a:buNone/>
            </a:pPr>
            <a:r>
              <a:rPr lang="en-US" sz="1300" dirty="0">
                <a:solidFill>
                  <a:schemeClr val="tx1"/>
                </a:solidFill>
              </a:rPr>
              <a:t>A logical flow from request to impact</a:t>
            </a:r>
            <a:endParaRPr lang="en-US" sz="1300" dirty="0"/>
          </a:p>
        </p:txBody>
      </p:sp>
      <p:sp>
        <p:nvSpPr>
          <p:cNvPr id="23" name="Contents card 5"/>
          <p:cNvSpPr/>
          <p:nvPr/>
        </p:nvSpPr>
        <p:spPr>
          <a:xfrm>
            <a:off x="457200" y="3474720"/>
            <a:ext cx="402336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4" name="Contents 5 circle"/>
          <p:cNvSpPr/>
          <p:nvPr/>
        </p:nvSpPr>
        <p:spPr>
          <a:xfrm>
            <a:off x="640080" y="3657600"/>
            <a:ext cx="640080" cy="640080"/>
          </a:xfrm>
          <a:prstGeom prst="ellipse">
            <a:avLst/>
          </a:prstGeom>
          <a:solidFill>
            <a:srgbClr val="0F7173"/>
          </a:solidFill>
          <a:ln w="12700">
            <a:solidFill>
              <a:srgbClr val="0F7173"/>
            </a:solidFill>
            <a:prstDash val="solid"/>
          </a:ln>
        </p:spPr>
      </p:sp>
      <p:pic>
        <p:nvPicPr>
          <p:cNvPr id="25" name="Contents 5 icon" descr="preencoded.png">    </p:cNvPr>
          <p:cNvPicPr>
            <a:picLocks noChangeAspect="1"/>
          </p:cNvPicPr>
          <p:nvPr/>
        </p:nvPicPr>
        <p:blipFill>
          <a:blip r:embed="rId5"/>
          <a:stretch>
            <a:fillRect/>
          </a:stretch>
        </p:blipFill>
        <p:spPr>
          <a:xfrm>
            <a:off x="800100" y="3817620"/>
            <a:ext cx="320040" cy="320040"/>
          </a:xfrm>
          <a:prstGeom prst="rect">
            <a:avLst/>
          </a:prstGeom>
        </p:spPr>
      </p:pic>
      <p:sp>
        <p:nvSpPr>
          <p:cNvPr id="26" name="Text 19"/>
          <p:cNvSpPr txBox="1"/>
          <p:nvPr/>
        </p:nvSpPr>
        <p:spPr>
          <a:xfrm>
            <a:off x="1463040" y="3611880"/>
            <a:ext cx="2880360" cy="365760"/>
          </a:xfrm>
          <a:prstGeom prst="rect">
            <a:avLst/>
          </a:prstGeom>
          <a:noFill/>
          <a:ln/>
        </p:spPr>
        <p:txBody>
          <a:bodyPr wrap="square" lIns="0" tIns="0" rIns="0" bIns="0" rtlCol="0" anchor="ctr"/>
          <a:lstStyle/>
          <a:p>
            <a:pPr indent="0" marL="0">
              <a:buNone/>
            </a:pPr>
            <a:r>
              <a:rPr lang="en-US" sz="1600" b="1" dirty="0">
                <a:solidFill>
                  <a:schemeClr val="tx2"/>
                </a:solidFill>
              </a:rPr>
              <a:t>4. Test yourself</a:t>
            </a:r>
            <a:endParaRPr lang="en-US" sz="1600" dirty="0"/>
          </a:p>
        </p:txBody>
      </p:sp>
      <p:sp>
        <p:nvSpPr>
          <p:cNvPr id="27" name="Text 20"/>
          <p:cNvSpPr txBox="1"/>
          <p:nvPr/>
        </p:nvSpPr>
        <p:spPr>
          <a:xfrm>
            <a:off x="1463040" y="3977640"/>
            <a:ext cx="2880360" cy="365760"/>
          </a:xfrm>
          <a:prstGeom prst="rect">
            <a:avLst/>
          </a:prstGeom>
          <a:noFill/>
          <a:ln/>
        </p:spPr>
        <p:txBody>
          <a:bodyPr wrap="square" lIns="0" tIns="0" rIns="0" bIns="0" rtlCol="0" anchor="t"/>
          <a:lstStyle/>
          <a:p>
            <a:pPr indent="0" marL="0">
              <a:buNone/>
            </a:pPr>
            <a:r>
              <a:rPr lang="en-US" sz="1300" dirty="0">
                <a:solidFill>
                  <a:schemeClr val="tx1"/>
                </a:solidFill>
              </a:rPr>
              <a:t>True or false, then recent QA-reviewed cases</a:t>
            </a:r>
            <a:endParaRPr lang="en-US" sz="1300" dirty="0"/>
          </a:p>
        </p:txBody>
      </p:sp>
      <p:sp>
        <p:nvSpPr>
          <p:cNvPr id="28" name="Contents card 6"/>
          <p:cNvSpPr/>
          <p:nvPr/>
        </p:nvSpPr>
        <p:spPr>
          <a:xfrm>
            <a:off x="4663440" y="3474720"/>
            <a:ext cx="402336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9" name="Contents 6 circle"/>
          <p:cNvSpPr/>
          <p:nvPr/>
        </p:nvSpPr>
        <p:spPr>
          <a:xfrm>
            <a:off x="4846320" y="3657600"/>
            <a:ext cx="640080" cy="640080"/>
          </a:xfrm>
          <a:prstGeom prst="ellipse">
            <a:avLst/>
          </a:prstGeom>
          <a:solidFill>
            <a:srgbClr val="0F7173"/>
          </a:solidFill>
          <a:ln w="12700">
            <a:solidFill>
              <a:srgbClr val="0F7173"/>
            </a:solidFill>
            <a:prstDash val="solid"/>
          </a:ln>
        </p:spPr>
      </p:sp>
      <p:pic>
        <p:nvPicPr>
          <p:cNvPr id="30" name="Contents 6 icon" descr="preencoded.png">    </p:cNvPr>
          <p:cNvPicPr>
            <a:picLocks noChangeAspect="1"/>
          </p:cNvPicPr>
          <p:nvPr/>
        </p:nvPicPr>
        <p:blipFill>
          <a:blip r:embed="rId6"/>
          <a:stretch>
            <a:fillRect/>
          </a:stretch>
        </p:blipFill>
        <p:spPr>
          <a:xfrm>
            <a:off x="5006340" y="3817620"/>
            <a:ext cx="320040" cy="320040"/>
          </a:xfrm>
          <a:prstGeom prst="rect">
            <a:avLst/>
          </a:prstGeom>
        </p:spPr>
      </p:pic>
      <p:sp>
        <p:nvSpPr>
          <p:cNvPr id="31" name="Text 23"/>
          <p:cNvSpPr txBox="1"/>
          <p:nvPr/>
        </p:nvSpPr>
        <p:spPr>
          <a:xfrm>
            <a:off x="5669280" y="3611880"/>
            <a:ext cx="2880360" cy="365760"/>
          </a:xfrm>
          <a:prstGeom prst="rect">
            <a:avLst/>
          </a:prstGeom>
          <a:noFill/>
          <a:ln/>
        </p:spPr>
        <p:txBody>
          <a:bodyPr wrap="square" lIns="0" tIns="0" rIns="0" bIns="0" rtlCol="0" anchor="ctr"/>
          <a:lstStyle/>
          <a:p>
            <a:pPr indent="0" marL="0">
              <a:buNone/>
            </a:pPr>
            <a:r>
              <a:rPr lang="en-US" sz="1600" b="1" dirty="0">
                <a:solidFill>
                  <a:schemeClr val="tx2"/>
                </a:solidFill>
              </a:rPr>
              <a:t>Wrap-up</a:t>
            </a:r>
            <a:endParaRPr lang="en-US" sz="1600" dirty="0"/>
          </a:p>
        </p:txBody>
      </p:sp>
      <p:sp>
        <p:nvSpPr>
          <p:cNvPr id="32" name="Text 24"/>
          <p:cNvSpPr txBox="1"/>
          <p:nvPr/>
        </p:nvSpPr>
        <p:spPr>
          <a:xfrm>
            <a:off x="5669280" y="3977640"/>
            <a:ext cx="2880360" cy="365760"/>
          </a:xfrm>
          <a:prstGeom prst="rect">
            <a:avLst/>
          </a:prstGeom>
          <a:noFill/>
          <a:ln/>
        </p:spPr>
        <p:txBody>
          <a:bodyPr wrap="square" lIns="0" tIns="0" rIns="0" bIns="0" rtlCol="0" anchor="t"/>
          <a:lstStyle/>
          <a:p>
            <a:pPr indent="0" marL="0">
              <a:buNone/>
            </a:pPr>
            <a:r>
              <a:rPr lang="en-US" sz="1300" dirty="0">
                <a:solidFill>
                  <a:schemeClr val="tx1"/>
                </a:solidFill>
              </a:rPr>
              <a:t>What is coming, key takeaways and questions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Why we are here</a:t>
            </a:r>
            <a:endParaRPr lang="en-US" sz="2800" dirty="0"/>
          </a:p>
        </p:txBody>
      </p:sp>
      <p:sp>
        <p:nvSpPr>
          <p:cNvPr id="3" name="Why card 1"/>
          <p:cNvSpPr/>
          <p:nvPr/>
        </p:nvSpPr>
        <p:spPr>
          <a:xfrm>
            <a:off x="457200" y="1234440"/>
            <a:ext cx="2560320" cy="3246120"/>
          </a:xfrm>
          <a:prstGeom prst="roundRect">
            <a:avLst>
              <a:gd name="adj" fmla="val 285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Why 1 circle"/>
          <p:cNvSpPr/>
          <p:nvPr/>
        </p:nvSpPr>
        <p:spPr>
          <a:xfrm>
            <a:off x="731520" y="1463040"/>
            <a:ext cx="640080" cy="640080"/>
          </a:xfrm>
          <a:prstGeom prst="ellipse">
            <a:avLst/>
          </a:prstGeom>
          <a:solidFill>
            <a:srgbClr val="0F7173"/>
          </a:solidFill>
          <a:ln w="12700">
            <a:solidFill>
              <a:srgbClr val="0F7173"/>
            </a:solidFill>
            <a:prstDash val="solid"/>
          </a:ln>
        </p:spPr>
      </p:sp>
      <p:pic>
        <p:nvPicPr>
          <p:cNvPr id="5" name="Why 1 icon" descr="preencoded.png">    </p:cNvPr>
          <p:cNvPicPr>
            <a:picLocks noChangeAspect="1"/>
          </p:cNvPicPr>
          <p:nvPr/>
        </p:nvPicPr>
        <p:blipFill>
          <a:blip r:embed="rId1"/>
          <a:stretch>
            <a:fillRect/>
          </a:stretch>
        </p:blipFill>
        <p:spPr>
          <a:xfrm>
            <a:off x="891540" y="1623060"/>
            <a:ext cx="320040" cy="320040"/>
          </a:xfrm>
          <a:prstGeom prst="rect">
            <a:avLst/>
          </a:prstGeom>
        </p:spPr>
      </p:pic>
      <p:sp>
        <p:nvSpPr>
          <p:cNvPr id="6" name="Text 3"/>
          <p:cNvSpPr txBox="1"/>
          <p:nvPr/>
        </p:nvSpPr>
        <p:spPr>
          <a:xfrm>
            <a:off x="731520" y="2286000"/>
            <a:ext cx="2011680" cy="548640"/>
          </a:xfrm>
          <a:prstGeom prst="rect">
            <a:avLst/>
          </a:prstGeom>
          <a:noFill/>
          <a:ln/>
        </p:spPr>
        <p:txBody>
          <a:bodyPr wrap="square" lIns="0" tIns="0" rIns="0" bIns="0" rtlCol="0" anchor="t"/>
          <a:lstStyle/>
          <a:p>
            <a:pPr indent="0" marL="0">
              <a:buNone/>
            </a:pPr>
            <a:r>
              <a:rPr lang="en-US" sz="1700" b="1" dirty="0">
                <a:solidFill>
                  <a:schemeClr val="tx2"/>
                </a:solidFill>
              </a:rPr>
              <a:t>Regulators are asking</a:t>
            </a:r>
            <a:endParaRPr lang="en-US" sz="1700" dirty="0"/>
          </a:p>
        </p:txBody>
      </p:sp>
      <p:sp>
        <p:nvSpPr>
          <p:cNvPr id="7" name="Text 4"/>
          <p:cNvSpPr txBox="1"/>
          <p:nvPr/>
        </p:nvSpPr>
        <p:spPr>
          <a:xfrm>
            <a:off x="731520" y="2880360"/>
            <a:ext cx="2011680" cy="1463040"/>
          </a:xfrm>
          <a:prstGeom prst="rect">
            <a:avLst/>
          </a:prstGeom>
          <a:noFill/>
          <a:ln/>
        </p:spPr>
        <p:txBody>
          <a:bodyPr wrap="square" lIns="0" tIns="0" rIns="0" bIns="0" rtlCol="0" anchor="t"/>
          <a:lstStyle/>
          <a:p>
            <a:pPr indent="0" marL="0">
              <a:buNone/>
            </a:pPr>
            <a:r>
              <a:rPr lang="en-US" sz="1400" dirty="0">
                <a:solidFill>
                  <a:schemeClr val="tx1"/>
                </a:solidFill>
              </a:rPr>
              <a:t>Recent regulatory feedback has focused directly on our case notes and how we evidence our decisions.</a:t>
            </a:r>
            <a:endParaRPr lang="en-US" sz="1400" dirty="0"/>
          </a:p>
        </p:txBody>
      </p:sp>
      <p:sp>
        <p:nvSpPr>
          <p:cNvPr id="8" name="Why card 2"/>
          <p:cNvSpPr/>
          <p:nvPr/>
        </p:nvSpPr>
        <p:spPr>
          <a:xfrm>
            <a:off x="3291840" y="1234440"/>
            <a:ext cx="2560320" cy="3246120"/>
          </a:xfrm>
          <a:prstGeom prst="roundRect">
            <a:avLst>
              <a:gd name="adj" fmla="val 285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Why 2 circle"/>
          <p:cNvSpPr/>
          <p:nvPr/>
        </p:nvSpPr>
        <p:spPr>
          <a:xfrm>
            <a:off x="3566160" y="1463040"/>
            <a:ext cx="640080" cy="640080"/>
          </a:xfrm>
          <a:prstGeom prst="ellipse">
            <a:avLst/>
          </a:prstGeom>
          <a:solidFill>
            <a:srgbClr val="0F7173"/>
          </a:solidFill>
          <a:ln w="12700">
            <a:solidFill>
              <a:srgbClr val="0F7173"/>
            </a:solidFill>
            <a:prstDash val="solid"/>
          </a:ln>
        </p:spPr>
      </p:sp>
      <p:pic>
        <p:nvPicPr>
          <p:cNvPr id="10" name="Why 2 icon" descr="preencoded.png">    </p:cNvPr>
          <p:cNvPicPr>
            <a:picLocks noChangeAspect="1"/>
          </p:cNvPicPr>
          <p:nvPr/>
        </p:nvPicPr>
        <p:blipFill>
          <a:blip r:embed="rId2"/>
          <a:stretch>
            <a:fillRect/>
          </a:stretch>
        </p:blipFill>
        <p:spPr>
          <a:xfrm>
            <a:off x="3726180" y="1623060"/>
            <a:ext cx="320040" cy="320040"/>
          </a:xfrm>
          <a:prstGeom prst="rect">
            <a:avLst/>
          </a:prstGeom>
        </p:spPr>
      </p:pic>
      <p:sp>
        <p:nvSpPr>
          <p:cNvPr id="11" name="Text 7"/>
          <p:cNvSpPr txBox="1"/>
          <p:nvPr/>
        </p:nvSpPr>
        <p:spPr>
          <a:xfrm>
            <a:off x="3566160" y="2286000"/>
            <a:ext cx="2011680" cy="548640"/>
          </a:xfrm>
          <a:prstGeom prst="rect">
            <a:avLst/>
          </a:prstGeom>
          <a:noFill/>
          <a:ln/>
        </p:spPr>
        <p:txBody>
          <a:bodyPr wrap="square" lIns="0" tIns="0" rIns="0" bIns="0" rtlCol="0" anchor="t"/>
          <a:lstStyle/>
          <a:p>
            <a:pPr indent="0" marL="0">
              <a:buNone/>
            </a:pPr>
            <a:r>
              <a:rPr lang="en-US" sz="1700" b="1" dirty="0">
                <a:solidFill>
                  <a:schemeClr val="tx2"/>
                </a:solidFill>
              </a:rPr>
              <a:t>The note is the evidence</a:t>
            </a:r>
            <a:endParaRPr lang="en-US" sz="1700" dirty="0"/>
          </a:p>
        </p:txBody>
      </p:sp>
      <p:sp>
        <p:nvSpPr>
          <p:cNvPr id="12" name="Text 8"/>
          <p:cNvSpPr txBox="1"/>
          <p:nvPr/>
        </p:nvSpPr>
        <p:spPr>
          <a:xfrm>
            <a:off x="3566160" y="2880360"/>
            <a:ext cx="2011680" cy="1463040"/>
          </a:xfrm>
          <a:prstGeom prst="rect">
            <a:avLst/>
          </a:prstGeom>
          <a:noFill/>
          <a:ln/>
        </p:spPr>
        <p:txBody>
          <a:bodyPr wrap="square" lIns="0" tIns="0" rIns="0" bIns="0" rtlCol="0" anchor="t"/>
          <a:lstStyle/>
          <a:p>
            <a:pPr indent="0" marL="0">
              <a:buNone/>
            </a:pPr>
            <a:r>
              <a:rPr lang="en-US" sz="1400" dirty="0">
                <a:solidFill>
                  <a:schemeClr val="tx1"/>
                </a:solidFill>
              </a:rPr>
              <a:t>An external reviewer only sees what is written. If it is not documented, it cannot be relied on.</a:t>
            </a:r>
            <a:endParaRPr lang="en-US" sz="1400" dirty="0"/>
          </a:p>
        </p:txBody>
      </p:sp>
      <p:sp>
        <p:nvSpPr>
          <p:cNvPr id="13" name="Why card 3"/>
          <p:cNvSpPr/>
          <p:nvPr/>
        </p:nvSpPr>
        <p:spPr>
          <a:xfrm>
            <a:off x="6126480" y="1234440"/>
            <a:ext cx="2560320" cy="3246120"/>
          </a:xfrm>
          <a:prstGeom prst="roundRect">
            <a:avLst>
              <a:gd name="adj" fmla="val 285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Why 3 circle"/>
          <p:cNvSpPr/>
          <p:nvPr/>
        </p:nvSpPr>
        <p:spPr>
          <a:xfrm>
            <a:off x="6400800" y="1463040"/>
            <a:ext cx="640080" cy="640080"/>
          </a:xfrm>
          <a:prstGeom prst="ellipse">
            <a:avLst/>
          </a:prstGeom>
          <a:solidFill>
            <a:srgbClr val="0F7173"/>
          </a:solidFill>
          <a:ln w="12700">
            <a:solidFill>
              <a:srgbClr val="0F7173"/>
            </a:solidFill>
            <a:prstDash val="solid"/>
          </a:ln>
        </p:spPr>
      </p:sp>
      <p:pic>
        <p:nvPicPr>
          <p:cNvPr id="15" name="Why 3 icon" descr="preencoded.png">    </p:cNvPr>
          <p:cNvPicPr>
            <a:picLocks noChangeAspect="1"/>
          </p:cNvPicPr>
          <p:nvPr/>
        </p:nvPicPr>
        <p:blipFill>
          <a:blip r:embed="rId3"/>
          <a:stretch>
            <a:fillRect/>
          </a:stretch>
        </p:blipFill>
        <p:spPr>
          <a:xfrm>
            <a:off x="6560820" y="1623060"/>
            <a:ext cx="320040" cy="320040"/>
          </a:xfrm>
          <a:prstGeom prst="rect">
            <a:avLst/>
          </a:prstGeom>
        </p:spPr>
      </p:pic>
      <p:sp>
        <p:nvSpPr>
          <p:cNvPr id="16" name="Text 11"/>
          <p:cNvSpPr txBox="1"/>
          <p:nvPr/>
        </p:nvSpPr>
        <p:spPr>
          <a:xfrm>
            <a:off x="6400800" y="2286000"/>
            <a:ext cx="2011680" cy="548640"/>
          </a:xfrm>
          <a:prstGeom prst="rect">
            <a:avLst/>
          </a:prstGeom>
          <a:noFill/>
          <a:ln/>
        </p:spPr>
        <p:txBody>
          <a:bodyPr wrap="square" lIns="0" tIns="0" rIns="0" bIns="0" rtlCol="0" anchor="t"/>
          <a:lstStyle/>
          <a:p>
            <a:pPr indent="0" marL="0">
              <a:buNone/>
            </a:pPr>
            <a:r>
              <a:rPr lang="en-US" sz="1700" b="1" dirty="0">
                <a:solidFill>
                  <a:schemeClr val="tx2"/>
                </a:solidFill>
              </a:rPr>
              <a:t>Reducing external risk</a:t>
            </a:r>
            <a:endParaRPr lang="en-US" sz="1700" dirty="0"/>
          </a:p>
        </p:txBody>
      </p:sp>
      <p:sp>
        <p:nvSpPr>
          <p:cNvPr id="17" name="Text 12"/>
          <p:cNvSpPr txBox="1"/>
          <p:nvPr/>
        </p:nvSpPr>
        <p:spPr>
          <a:xfrm>
            <a:off x="6400800" y="2880360"/>
            <a:ext cx="2011680" cy="1463040"/>
          </a:xfrm>
          <a:prstGeom prst="rect">
            <a:avLst/>
          </a:prstGeom>
          <a:noFill/>
          <a:ln/>
        </p:spPr>
        <p:txBody>
          <a:bodyPr wrap="square" lIns="0" tIns="0" rIns="0" bIns="0" rtlCol="0" anchor="t"/>
          <a:lstStyle/>
          <a:p>
            <a:pPr indent="0" marL="0">
              <a:buNone/>
            </a:pPr>
            <a:r>
              <a:rPr lang="en-US" sz="1400" dirty="0">
                <a:solidFill>
                  <a:schemeClr val="tx1"/>
                </a:solidFill>
              </a:rPr>
              <a:t>Stronger notes protect the firm, the team and you as the analyst who made the decision.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the recent QA review told us</a:t>
            </a:r>
            <a:endParaRPr lang="en-US" sz="2800" dirty="0"/>
          </a:p>
        </p:txBody>
      </p:sp>
      <p:sp>
        <p:nvSpPr>
          <p:cNvPr id="3" name="Quote panel"/>
          <p:cNvSpPr/>
          <p:nvPr/>
        </p:nvSpPr>
        <p:spPr>
          <a:xfrm>
            <a:off x="457200" y="1143000"/>
            <a:ext cx="8229600" cy="1188720"/>
          </a:xfrm>
          <a:prstGeom prst="roundRect">
            <a:avLst>
              <a:gd name="adj" fmla="val 6154"/>
            </a:avLst>
          </a:prstGeom>
          <a:solidFill>
            <a:schemeClr val="tx2"/>
          </a:solidFill>
          <a:ln w="12700">
            <a:solidFill>
              <a:schemeClr val="tx2"/>
            </a:solidFill>
            <a:prstDash val="solid"/>
          </a:ln>
        </p:spPr>
      </p:sp>
      <p:sp>
        <p:nvSpPr>
          <p:cNvPr id="4" name="Quote circle"/>
          <p:cNvSpPr/>
          <p:nvPr/>
        </p:nvSpPr>
        <p:spPr>
          <a:xfrm>
            <a:off x="731520" y="1371600"/>
            <a:ext cx="731520" cy="731520"/>
          </a:xfrm>
          <a:prstGeom prst="ellipse">
            <a:avLst/>
          </a:prstGeom>
          <a:solidFill>
            <a:srgbClr val="F2A541"/>
          </a:solidFill>
          <a:ln w="12700">
            <a:solidFill>
              <a:srgbClr val="F2A541"/>
            </a:solidFill>
            <a:prstDash val="solid"/>
          </a:ln>
        </p:spPr>
      </p:sp>
      <p:pic>
        <p:nvPicPr>
          <p:cNvPr id="5" name="Quote icon" descr="preencoded.png">    </p:cNvPr>
          <p:cNvPicPr>
            <a:picLocks noChangeAspect="1"/>
          </p:cNvPicPr>
          <p:nvPr/>
        </p:nvPicPr>
        <p:blipFill>
          <a:blip r:embed="rId1"/>
          <a:stretch>
            <a:fillRect/>
          </a:stretch>
        </p:blipFill>
        <p:spPr>
          <a:xfrm>
            <a:off x="914400" y="1554480"/>
            <a:ext cx="365760" cy="365760"/>
          </a:xfrm>
          <a:prstGeom prst="rect">
            <a:avLst/>
          </a:prstGeom>
        </p:spPr>
      </p:pic>
      <p:sp>
        <p:nvSpPr>
          <p:cNvPr id="6" name="Text 3"/>
          <p:cNvSpPr txBox="1"/>
          <p:nvPr/>
        </p:nvSpPr>
        <p:spPr>
          <a:xfrm>
            <a:off x="1691640" y="1280160"/>
            <a:ext cx="6766560" cy="594360"/>
          </a:xfrm>
          <a:prstGeom prst="rect">
            <a:avLst/>
          </a:prstGeom>
          <a:noFill/>
          <a:ln/>
        </p:spPr>
        <p:txBody>
          <a:bodyPr wrap="square" lIns="0" tIns="0" rIns="0" bIns="0" rtlCol="0" anchor="ctr"/>
          <a:lstStyle/>
          <a:p>
            <a:pPr indent="0" marL="0">
              <a:buNone/>
            </a:pPr>
            <a:r>
              <a:rPr lang="en-US" sz="1900" i="1" dirty="0">
                <a:solidFill>
                  <a:schemeClr val="bg1"/>
                </a:solidFill>
              </a:rPr>
              <a:t>"The file shows an alert was processed, not that it was investigated."</a:t>
            </a:r>
            <a:endParaRPr lang="en-US" sz="1900" dirty="0"/>
          </a:p>
        </p:txBody>
      </p:sp>
      <p:sp>
        <p:nvSpPr>
          <p:cNvPr id="7" name="Text 4"/>
          <p:cNvSpPr txBox="1"/>
          <p:nvPr/>
        </p:nvSpPr>
        <p:spPr>
          <a:xfrm>
            <a:off x="1691640" y="1874520"/>
            <a:ext cx="6766560" cy="320040"/>
          </a:xfrm>
          <a:prstGeom prst="rect">
            <a:avLst/>
          </a:prstGeom>
          <a:noFill/>
          <a:ln/>
        </p:spPr>
        <p:txBody>
          <a:bodyPr wrap="square" lIns="0" tIns="0" rIns="0" bIns="0" rtlCol="0" anchor="t"/>
          <a:lstStyle/>
          <a:p>
            <a:pPr indent="0" marL="0">
              <a:buNone/>
            </a:pPr>
            <a:r>
              <a:rPr lang="en-US" sz="1100" dirty="0">
                <a:solidFill>
                  <a:schemeClr val="accent6"/>
                </a:solidFill>
              </a:rPr>
              <a:t>TM L1/L2 Control Reliance Assessment, September 2026</a:t>
            </a:r>
            <a:endParaRPr lang="en-US" sz="1100" dirty="0"/>
          </a:p>
        </p:txBody>
      </p:sp>
      <p:sp>
        <p:nvSpPr>
          <p:cNvPr id="8" name="QA 1 circle"/>
          <p:cNvSpPr/>
          <p:nvPr/>
        </p:nvSpPr>
        <p:spPr>
          <a:xfrm>
            <a:off x="457200" y="2606040"/>
            <a:ext cx="548640" cy="548640"/>
          </a:xfrm>
          <a:prstGeom prst="ellipse">
            <a:avLst/>
          </a:prstGeom>
          <a:solidFill>
            <a:srgbClr val="0F7173"/>
          </a:solidFill>
          <a:ln w="12700">
            <a:solidFill>
              <a:srgbClr val="0F7173"/>
            </a:solidFill>
            <a:prstDash val="solid"/>
          </a:ln>
        </p:spPr>
      </p:sp>
      <p:pic>
        <p:nvPicPr>
          <p:cNvPr id="9" name="QA 1 icon" descr="preencoded.png">    </p:cNvPr>
          <p:cNvPicPr>
            <a:picLocks noChangeAspect="1"/>
          </p:cNvPicPr>
          <p:nvPr/>
        </p:nvPicPr>
        <p:blipFill>
          <a:blip r:embed="rId2"/>
          <a:stretch>
            <a:fillRect/>
          </a:stretch>
        </p:blipFill>
        <p:spPr>
          <a:xfrm>
            <a:off x="594360" y="2743200"/>
            <a:ext cx="274320" cy="274320"/>
          </a:xfrm>
          <a:prstGeom prst="rect">
            <a:avLst/>
          </a:prstGeom>
        </p:spPr>
      </p:pic>
      <p:sp>
        <p:nvSpPr>
          <p:cNvPr id="10" name="Text 6"/>
          <p:cNvSpPr txBox="1"/>
          <p:nvPr/>
        </p:nvSpPr>
        <p:spPr>
          <a:xfrm>
            <a:off x="1143000" y="2606040"/>
            <a:ext cx="1920240" cy="548640"/>
          </a:xfrm>
          <a:prstGeom prst="rect">
            <a:avLst/>
          </a:prstGeom>
          <a:noFill/>
          <a:ln/>
        </p:spPr>
        <p:txBody>
          <a:bodyPr wrap="square" lIns="0" tIns="0" rIns="0" bIns="0" rtlCol="0" anchor="ctr"/>
          <a:lstStyle/>
          <a:p>
            <a:pPr indent="0" marL="0">
              <a:buNone/>
            </a:pPr>
            <a:r>
              <a:rPr lang="en-US" sz="1500" b="1" dirty="0">
                <a:solidFill>
                  <a:schemeClr val="tx2"/>
                </a:solidFill>
              </a:rPr>
              <a:t>A team-wide pattern</a:t>
            </a:r>
            <a:endParaRPr lang="en-US" sz="1500" dirty="0"/>
          </a:p>
        </p:txBody>
      </p:sp>
      <p:sp>
        <p:nvSpPr>
          <p:cNvPr id="11" name="Text 7"/>
          <p:cNvSpPr txBox="1"/>
          <p:nvPr/>
        </p:nvSpPr>
        <p:spPr>
          <a:xfrm>
            <a:off x="457200" y="3291840"/>
            <a:ext cx="2606040" cy="1188720"/>
          </a:xfrm>
          <a:prstGeom prst="rect">
            <a:avLst/>
          </a:prstGeom>
          <a:noFill/>
          <a:ln/>
        </p:spPr>
        <p:txBody>
          <a:bodyPr wrap="square" lIns="0" tIns="0" rIns="0" bIns="0" rtlCol="0" anchor="t"/>
          <a:lstStyle/>
          <a:p>
            <a:pPr indent="0" marL="0">
              <a:buNone/>
            </a:pPr>
            <a:r>
              <a:rPr lang="en-US" sz="1300" dirty="0">
                <a:solidFill>
                  <a:schemeClr val="tx1"/>
                </a:solidFill>
              </a:rPr>
              <a:t>Not concentrated in individuals. This is about how we all document.</a:t>
            </a:r>
            <a:endParaRPr lang="en-US" sz="1300" dirty="0"/>
          </a:p>
        </p:txBody>
      </p:sp>
      <p:sp>
        <p:nvSpPr>
          <p:cNvPr id="12" name="QA 2 circle"/>
          <p:cNvSpPr/>
          <p:nvPr/>
        </p:nvSpPr>
        <p:spPr>
          <a:xfrm>
            <a:off x="3291840" y="2606040"/>
            <a:ext cx="548640" cy="548640"/>
          </a:xfrm>
          <a:prstGeom prst="ellipse">
            <a:avLst/>
          </a:prstGeom>
          <a:solidFill>
            <a:srgbClr val="0F7173"/>
          </a:solidFill>
          <a:ln w="12700">
            <a:solidFill>
              <a:srgbClr val="0F7173"/>
            </a:solidFill>
            <a:prstDash val="solid"/>
          </a:ln>
        </p:spPr>
      </p:sp>
      <p:pic>
        <p:nvPicPr>
          <p:cNvPr id="13" name="QA 2 icon" descr="preencoded.png">    </p:cNvPr>
          <p:cNvPicPr>
            <a:picLocks noChangeAspect="1"/>
          </p:cNvPicPr>
          <p:nvPr/>
        </p:nvPicPr>
        <p:blipFill>
          <a:blip r:embed="rId3"/>
          <a:stretch>
            <a:fillRect/>
          </a:stretch>
        </p:blipFill>
        <p:spPr>
          <a:xfrm>
            <a:off x="3429000" y="2743200"/>
            <a:ext cx="274320" cy="274320"/>
          </a:xfrm>
          <a:prstGeom prst="rect">
            <a:avLst/>
          </a:prstGeom>
        </p:spPr>
      </p:pic>
      <p:sp>
        <p:nvSpPr>
          <p:cNvPr id="14" name="Text 9"/>
          <p:cNvSpPr txBox="1"/>
          <p:nvPr/>
        </p:nvSpPr>
        <p:spPr>
          <a:xfrm>
            <a:off x="3977640" y="2606040"/>
            <a:ext cx="1920240" cy="548640"/>
          </a:xfrm>
          <a:prstGeom prst="rect">
            <a:avLst/>
          </a:prstGeom>
          <a:noFill/>
          <a:ln/>
        </p:spPr>
        <p:txBody>
          <a:bodyPr wrap="square" lIns="0" tIns="0" rIns="0" bIns="0" rtlCol="0" anchor="ctr"/>
          <a:lstStyle/>
          <a:p>
            <a:pPr indent="0" marL="0">
              <a:buNone/>
            </a:pPr>
            <a:r>
              <a:rPr lang="en-US" sz="1500" b="1" dirty="0">
                <a:solidFill>
                  <a:schemeClr val="tx2"/>
                </a:solidFill>
              </a:rPr>
              <a:t>Decisions were generally right</a:t>
            </a:r>
            <a:endParaRPr lang="en-US" sz="1500" dirty="0"/>
          </a:p>
        </p:txBody>
      </p:sp>
      <p:sp>
        <p:nvSpPr>
          <p:cNvPr id="15" name="Text 10"/>
          <p:cNvSpPr txBox="1"/>
          <p:nvPr/>
        </p:nvSpPr>
        <p:spPr>
          <a:xfrm>
            <a:off x="3291840" y="3291840"/>
            <a:ext cx="2606040" cy="1188720"/>
          </a:xfrm>
          <a:prstGeom prst="rect">
            <a:avLst/>
          </a:prstGeom>
          <a:noFill/>
          <a:ln/>
        </p:spPr>
        <p:txBody>
          <a:bodyPr wrap="square" lIns="0" tIns="0" rIns="0" bIns="0" rtlCol="0" anchor="t"/>
          <a:lstStyle/>
          <a:p>
            <a:pPr indent="0" marL="0">
              <a:buNone/>
            </a:pPr>
            <a:r>
              <a:rPr lang="en-US" sz="1300" dirty="0">
                <a:solidFill>
                  <a:schemeClr val="tx1"/>
                </a:solidFill>
              </a:rPr>
              <a:t>The tester rarely disagreed with the final outcome. The notes did not show why.</a:t>
            </a:r>
            <a:endParaRPr lang="en-US" sz="1300" dirty="0"/>
          </a:p>
        </p:txBody>
      </p:sp>
      <p:sp>
        <p:nvSpPr>
          <p:cNvPr id="16" name="QA 3 circle"/>
          <p:cNvSpPr/>
          <p:nvPr/>
        </p:nvSpPr>
        <p:spPr>
          <a:xfrm>
            <a:off x="6126480" y="2606040"/>
            <a:ext cx="548640" cy="548640"/>
          </a:xfrm>
          <a:prstGeom prst="ellipse">
            <a:avLst/>
          </a:prstGeom>
          <a:solidFill>
            <a:srgbClr val="0F7173"/>
          </a:solidFill>
          <a:ln w="12700">
            <a:solidFill>
              <a:srgbClr val="0F7173"/>
            </a:solidFill>
            <a:prstDash val="solid"/>
          </a:ln>
        </p:spPr>
      </p:sp>
      <p:pic>
        <p:nvPicPr>
          <p:cNvPr id="17" name="QA 3 icon" descr="preencoded.png">    </p:cNvPr>
          <p:cNvPicPr>
            <a:picLocks noChangeAspect="1"/>
          </p:cNvPicPr>
          <p:nvPr/>
        </p:nvPicPr>
        <p:blipFill>
          <a:blip r:embed="rId4"/>
          <a:stretch>
            <a:fillRect/>
          </a:stretch>
        </p:blipFill>
        <p:spPr>
          <a:xfrm>
            <a:off x="6263640" y="2743200"/>
            <a:ext cx="274320" cy="274320"/>
          </a:xfrm>
          <a:prstGeom prst="rect">
            <a:avLst/>
          </a:prstGeom>
        </p:spPr>
      </p:pic>
      <p:sp>
        <p:nvSpPr>
          <p:cNvPr id="18" name="Text 12"/>
          <p:cNvSpPr txBox="1"/>
          <p:nvPr/>
        </p:nvSpPr>
        <p:spPr>
          <a:xfrm>
            <a:off x="6812280" y="2606040"/>
            <a:ext cx="1920240" cy="548640"/>
          </a:xfrm>
          <a:prstGeom prst="rect">
            <a:avLst/>
          </a:prstGeom>
          <a:noFill/>
          <a:ln/>
        </p:spPr>
        <p:txBody>
          <a:bodyPr wrap="square" lIns="0" tIns="0" rIns="0" bIns="0" rtlCol="0" anchor="ctr"/>
          <a:lstStyle/>
          <a:p>
            <a:pPr indent="0" marL="0">
              <a:buNone/>
            </a:pPr>
            <a:r>
              <a:rPr lang="en-US" sz="1500" b="1" dirty="0">
                <a:solidFill>
                  <a:schemeClr val="tx2"/>
                </a:solidFill>
              </a:rPr>
              <a:t>Where the gaps are</a:t>
            </a:r>
            <a:endParaRPr lang="en-US" sz="1500" dirty="0"/>
          </a:p>
        </p:txBody>
      </p:sp>
      <p:sp>
        <p:nvSpPr>
          <p:cNvPr id="19" name="Text 13"/>
          <p:cNvSpPr txBox="1"/>
          <p:nvPr/>
        </p:nvSpPr>
        <p:spPr>
          <a:xfrm>
            <a:off x="6126480" y="3291840"/>
            <a:ext cx="2606040" cy="1188720"/>
          </a:xfrm>
          <a:prstGeom prst="rect">
            <a:avLst/>
          </a:prstGeom>
          <a:noFill/>
          <a:ln/>
        </p:spPr>
        <p:txBody>
          <a:bodyPr wrap="square" lIns="0" tIns="0" rIns="0" bIns="0" rtlCol="0" anchor="t"/>
          <a:lstStyle/>
          <a:p>
            <a:pPr indent="0" marL="0">
              <a:buNone/>
            </a:pPr>
            <a:r>
              <a:rPr lang="en-US" sz="1300" dirty="0">
                <a:solidFill>
                  <a:schemeClr val="tx1"/>
                </a:solidFill>
              </a:rPr>
              <a:t>Specificity to the alert, the reasoning behind the outcome, and scrutiny of RFI responses.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is already working well</a:t>
            </a:r>
            <a:endParaRPr lang="en-US" sz="2800" dirty="0"/>
          </a:p>
        </p:txBody>
      </p:sp>
      <p:sp>
        <p:nvSpPr>
          <p:cNvPr id="3" name="Stat card 1"/>
          <p:cNvSpPr/>
          <p:nvPr/>
        </p:nvSpPr>
        <p:spPr>
          <a:xfrm>
            <a:off x="457200" y="1234440"/>
            <a:ext cx="1920240" cy="210312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594360" y="141732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100%</a:t>
            </a:r>
            <a:endParaRPr lang="en-US" sz="4000" dirty="0"/>
          </a:p>
        </p:txBody>
      </p:sp>
      <p:sp>
        <p:nvSpPr>
          <p:cNvPr id="5" name="Text 3"/>
          <p:cNvSpPr txBox="1"/>
          <p:nvPr/>
        </p:nvSpPr>
        <p:spPr>
          <a:xfrm>
            <a:off x="594360" y="2331720"/>
            <a:ext cx="1645920" cy="868680"/>
          </a:xfrm>
          <a:prstGeom prst="rect">
            <a:avLst/>
          </a:prstGeom>
          <a:noFill/>
          <a:ln/>
        </p:spPr>
        <p:txBody>
          <a:bodyPr wrap="square" lIns="0" tIns="0" rIns="0" bIns="0" rtlCol="0" anchor="t"/>
          <a:lstStyle/>
          <a:p>
            <a:pPr algn="ctr" indent="0" marL="0">
              <a:buNone/>
            </a:pPr>
            <a:r>
              <a:rPr lang="en-US" sz="1300" dirty="0">
                <a:solidFill>
                  <a:schemeClr val="tx1"/>
                </a:solidFill>
              </a:rPr>
              <a:t>Prior case history checked</a:t>
            </a:r>
            <a:endParaRPr lang="en-US" sz="1300" dirty="0"/>
          </a:p>
        </p:txBody>
      </p:sp>
      <p:sp>
        <p:nvSpPr>
          <p:cNvPr id="6" name="Stat card 2"/>
          <p:cNvSpPr/>
          <p:nvPr/>
        </p:nvSpPr>
        <p:spPr>
          <a:xfrm>
            <a:off x="2560320" y="1234440"/>
            <a:ext cx="1920240" cy="210312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7" name="Text 5"/>
          <p:cNvSpPr txBox="1"/>
          <p:nvPr/>
        </p:nvSpPr>
        <p:spPr>
          <a:xfrm>
            <a:off x="2697480" y="141732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100%</a:t>
            </a:r>
            <a:endParaRPr lang="en-US" sz="4000" dirty="0"/>
          </a:p>
        </p:txBody>
      </p:sp>
      <p:sp>
        <p:nvSpPr>
          <p:cNvPr id="8" name="Text 6"/>
          <p:cNvSpPr txBox="1"/>
          <p:nvPr/>
        </p:nvSpPr>
        <p:spPr>
          <a:xfrm>
            <a:off x="2697480" y="2331720"/>
            <a:ext cx="1645920" cy="868680"/>
          </a:xfrm>
          <a:prstGeom prst="rect">
            <a:avLst/>
          </a:prstGeom>
          <a:noFill/>
          <a:ln/>
        </p:spPr>
        <p:txBody>
          <a:bodyPr wrap="square" lIns="0" tIns="0" rIns="0" bIns="0" rtlCol="0" anchor="t"/>
          <a:lstStyle/>
          <a:p>
            <a:pPr algn="ctr" indent="0" marL="0">
              <a:buNone/>
            </a:pPr>
            <a:r>
              <a:rPr lang="en-US" sz="1300" dirty="0">
                <a:solidFill>
                  <a:schemeClr val="tx1"/>
                </a:solidFill>
              </a:rPr>
              <a:t>Open and linked cases checked</a:t>
            </a:r>
            <a:endParaRPr lang="en-US" sz="1300" dirty="0"/>
          </a:p>
        </p:txBody>
      </p:sp>
      <p:sp>
        <p:nvSpPr>
          <p:cNvPr id="9" name="Stat card 3"/>
          <p:cNvSpPr/>
          <p:nvPr/>
        </p:nvSpPr>
        <p:spPr>
          <a:xfrm>
            <a:off x="4663440" y="1234440"/>
            <a:ext cx="1920240" cy="210312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Text 8"/>
          <p:cNvSpPr txBox="1"/>
          <p:nvPr/>
        </p:nvSpPr>
        <p:spPr>
          <a:xfrm>
            <a:off x="4800600" y="141732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rPr>
              <a:t>100%</a:t>
            </a:r>
            <a:endParaRPr lang="en-US" sz="4000" dirty="0"/>
          </a:p>
        </p:txBody>
      </p:sp>
      <p:sp>
        <p:nvSpPr>
          <p:cNvPr id="11" name="Text 9"/>
          <p:cNvSpPr txBox="1"/>
          <p:nvPr/>
        </p:nvSpPr>
        <p:spPr>
          <a:xfrm>
            <a:off x="4800600" y="2331720"/>
            <a:ext cx="1645920" cy="868680"/>
          </a:xfrm>
          <a:prstGeom prst="rect">
            <a:avLst/>
          </a:prstGeom>
          <a:noFill/>
          <a:ln/>
        </p:spPr>
        <p:txBody>
          <a:bodyPr wrap="square" lIns="0" tIns="0" rIns="0" bIns="0" rtlCol="0" anchor="t"/>
          <a:lstStyle/>
          <a:p>
            <a:pPr algn="ctr" indent="0" marL="0">
              <a:buNone/>
            </a:pPr>
            <a:r>
              <a:rPr lang="en-US" sz="1300" dirty="0">
                <a:solidFill>
                  <a:schemeClr val="tx1"/>
                </a:solidFill>
              </a:rPr>
              <a:t>Decision code matches the narrative</a:t>
            </a:r>
            <a:endParaRPr lang="en-US" sz="1300" dirty="0"/>
          </a:p>
        </p:txBody>
      </p:sp>
      <p:sp>
        <p:nvSpPr>
          <p:cNvPr id="12" name="Stat card 4"/>
          <p:cNvSpPr/>
          <p:nvPr/>
        </p:nvSpPr>
        <p:spPr>
          <a:xfrm>
            <a:off x="6766560" y="1234440"/>
            <a:ext cx="1920240" cy="210312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3" name="Text 11"/>
          <p:cNvSpPr txBox="1"/>
          <p:nvPr/>
        </p:nvSpPr>
        <p:spPr>
          <a:xfrm>
            <a:off x="6903720" y="1417320"/>
            <a:ext cx="1645920" cy="822960"/>
          </a:xfrm>
          <a:prstGeom prst="rect">
            <a:avLst/>
          </a:prstGeom>
          <a:noFill/>
          <a:ln/>
        </p:spPr>
        <p:txBody>
          <a:bodyPr wrap="square" lIns="0" tIns="0" rIns="0" bIns="0" rtlCol="0" anchor="ctr"/>
          <a:lstStyle/>
          <a:p>
            <a:pPr algn="ctr" indent="0" marL="0">
              <a:buNone/>
            </a:pPr>
            <a:r>
              <a:rPr lang="en-US" sz="3200" b="1" dirty="0">
                <a:solidFill>
                  <a:schemeClr val="accent1"/>
                </a:solidFill>
              </a:rPr>
              <a:t>1 in 30</a:t>
            </a:r>
            <a:endParaRPr lang="en-US" sz="3200" dirty="0"/>
          </a:p>
        </p:txBody>
      </p:sp>
      <p:sp>
        <p:nvSpPr>
          <p:cNvPr id="14" name="Text 12"/>
          <p:cNvSpPr txBox="1"/>
          <p:nvPr/>
        </p:nvSpPr>
        <p:spPr>
          <a:xfrm>
            <a:off x="6903720" y="2331720"/>
            <a:ext cx="1645920" cy="868680"/>
          </a:xfrm>
          <a:prstGeom prst="rect">
            <a:avLst/>
          </a:prstGeom>
          <a:noFill/>
          <a:ln/>
        </p:spPr>
        <p:txBody>
          <a:bodyPr wrap="square" lIns="0" tIns="0" rIns="0" bIns="0" rtlCol="0" anchor="t"/>
          <a:lstStyle/>
          <a:p>
            <a:pPr algn="ctr" indent="0" marL="0">
              <a:buNone/>
            </a:pPr>
            <a:r>
              <a:rPr lang="en-US" sz="1300" dirty="0">
                <a:solidFill>
                  <a:schemeClr val="tx1"/>
                </a:solidFill>
              </a:rPr>
              <a:t>Cases with copy and paste: not a widespread practice</a:t>
            </a:r>
            <a:endParaRPr lang="en-US" sz="1300" dirty="0"/>
          </a:p>
        </p:txBody>
      </p:sp>
      <p:sp>
        <p:nvSpPr>
          <p:cNvPr id="15" name="Build on circle"/>
          <p:cNvSpPr/>
          <p:nvPr/>
        </p:nvSpPr>
        <p:spPr>
          <a:xfrm>
            <a:off x="457200" y="3657600"/>
            <a:ext cx="548640" cy="548640"/>
          </a:xfrm>
          <a:prstGeom prst="ellipse">
            <a:avLst/>
          </a:prstGeom>
          <a:solidFill>
            <a:srgbClr val="F2A541"/>
          </a:solidFill>
          <a:ln w="12700">
            <a:solidFill>
              <a:srgbClr val="F2A541"/>
            </a:solidFill>
            <a:prstDash val="solid"/>
          </a:ln>
        </p:spPr>
      </p:sp>
      <p:pic>
        <p:nvPicPr>
          <p:cNvPr id="16" name="Build on icon" descr="preencoded.png">    </p:cNvPr>
          <p:cNvPicPr>
            <a:picLocks noChangeAspect="1"/>
          </p:cNvPicPr>
          <p:nvPr/>
        </p:nvPicPr>
        <p:blipFill>
          <a:blip r:embed="rId1"/>
          <a:stretch>
            <a:fillRect/>
          </a:stretch>
        </p:blipFill>
        <p:spPr>
          <a:xfrm>
            <a:off x="594360" y="3794760"/>
            <a:ext cx="274320" cy="274320"/>
          </a:xfrm>
          <a:prstGeom prst="rect">
            <a:avLst/>
          </a:prstGeom>
        </p:spPr>
      </p:pic>
      <p:sp>
        <p:nvSpPr>
          <p:cNvPr id="17" name="Text 14"/>
          <p:cNvSpPr txBox="1"/>
          <p:nvPr/>
        </p:nvSpPr>
        <p:spPr>
          <a:xfrm>
            <a:off x="1188720" y="3611880"/>
            <a:ext cx="7498080" cy="640080"/>
          </a:xfrm>
          <a:prstGeom prst="rect">
            <a:avLst/>
          </a:prstGeom>
          <a:noFill/>
          <a:ln/>
        </p:spPr>
        <p:txBody>
          <a:bodyPr wrap="square" lIns="0" tIns="0" rIns="0" bIns="0" rtlCol="0" anchor="ctr"/>
          <a:lstStyle/>
          <a:p>
            <a:pPr indent="0" marL="0">
              <a:buNone/>
            </a:pPr>
            <a:r>
              <a:rPr lang="en-US" sz="1600" i="1" dirty="0">
                <a:solidFill>
                  <a:schemeClr val="tx2"/>
                </a:solidFill>
              </a:rPr>
              <a:t>The foundations are there. Today is about making the analysis we already do visible on the page.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a reviewer needs to see</a:t>
            </a:r>
            <a:endParaRPr lang="en-US" sz="2800" dirty="0"/>
          </a:p>
        </p:txBody>
      </p:sp>
      <p:sp>
        <p:nvSpPr>
          <p:cNvPr id="3" name="Pillar number 1"/>
          <p:cNvSpPr/>
          <p:nvPr/>
        </p:nvSpPr>
        <p:spPr>
          <a:xfrm>
            <a:off x="548640" y="1234440"/>
            <a:ext cx="731520" cy="731520"/>
          </a:xfrm>
          <a:prstGeom prst="ellipse">
            <a:avLst/>
          </a:prstGeom>
          <a:solidFill>
            <a:schemeClr val="accent2"/>
          </a:solidFill>
          <a:ln w="12700">
            <a:solidFill>
              <a:schemeClr val="accent2"/>
            </a:solidFill>
            <a:prstDash val="solid"/>
          </a:ln>
        </p:spPr>
      </p:sp>
      <p:sp>
        <p:nvSpPr>
          <p:cNvPr id="4" name="Text 2"/>
          <p:cNvSpPr txBox="1"/>
          <p:nvPr/>
        </p:nvSpPr>
        <p:spPr>
          <a:xfrm>
            <a:off x="548640" y="1234440"/>
            <a:ext cx="731520" cy="73152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5" name="Text 3"/>
          <p:cNvSpPr txBox="1"/>
          <p:nvPr/>
        </p:nvSpPr>
        <p:spPr>
          <a:xfrm>
            <a:off x="1508760" y="1234440"/>
            <a:ext cx="2011680" cy="731520"/>
          </a:xfrm>
          <a:prstGeom prst="rect">
            <a:avLst/>
          </a:prstGeom>
          <a:noFill/>
          <a:ln/>
        </p:spPr>
        <p:txBody>
          <a:bodyPr wrap="square" lIns="0" tIns="0" rIns="0" bIns="0" rtlCol="0" anchor="ctr"/>
          <a:lstStyle/>
          <a:p>
            <a:pPr indent="0" marL="0">
              <a:buNone/>
            </a:pPr>
            <a:r>
              <a:rPr lang="en-US" sz="2000" b="1" dirty="0">
                <a:solidFill>
                  <a:schemeClr val="tx2"/>
                </a:solidFill>
              </a:rPr>
              <a:t>Complete</a:t>
            </a:r>
            <a:endParaRPr lang="en-US" sz="2000" dirty="0"/>
          </a:p>
        </p:txBody>
      </p:sp>
      <p:sp>
        <p:nvSpPr>
          <p:cNvPr id="6" name="Text 4"/>
          <p:cNvSpPr txBox="1"/>
          <p:nvPr/>
        </p:nvSpPr>
        <p:spPr>
          <a:xfrm>
            <a:off x="3566160" y="1234440"/>
            <a:ext cx="5120640" cy="731520"/>
          </a:xfrm>
          <a:prstGeom prst="rect">
            <a:avLst/>
          </a:prstGeom>
          <a:noFill/>
          <a:ln/>
        </p:spPr>
        <p:txBody>
          <a:bodyPr wrap="square" lIns="0" tIns="0" rIns="0" bIns="0" rtlCol="0" anchor="ctr"/>
          <a:lstStyle/>
          <a:p>
            <a:pPr indent="0" marL="0">
              <a:buNone/>
            </a:pPr>
            <a:r>
              <a:rPr lang="en-US" sz="1500" dirty="0">
                <a:solidFill>
                  <a:schemeClr val="tx1"/>
                </a:solidFill>
              </a:rPr>
              <a:t>Every SOP assessment is visibly documented, including where nothing was found.</a:t>
            </a:r>
            <a:endParaRPr lang="en-US" sz="1500" dirty="0"/>
          </a:p>
        </p:txBody>
      </p:sp>
      <p:sp>
        <p:nvSpPr>
          <p:cNvPr id="7" name="Pillar number 2"/>
          <p:cNvSpPr/>
          <p:nvPr/>
        </p:nvSpPr>
        <p:spPr>
          <a:xfrm>
            <a:off x="548640" y="2377440"/>
            <a:ext cx="731520" cy="731520"/>
          </a:xfrm>
          <a:prstGeom prst="ellipse">
            <a:avLst/>
          </a:prstGeom>
          <a:solidFill>
            <a:schemeClr val="accent2"/>
          </a:solidFill>
          <a:ln w="12700">
            <a:solidFill>
              <a:schemeClr val="accent2"/>
            </a:solidFill>
            <a:prstDash val="solid"/>
          </a:ln>
        </p:spPr>
      </p:sp>
      <p:sp>
        <p:nvSpPr>
          <p:cNvPr id="8" name="Text 6"/>
          <p:cNvSpPr txBox="1"/>
          <p:nvPr/>
        </p:nvSpPr>
        <p:spPr>
          <a:xfrm>
            <a:off x="548640" y="2377440"/>
            <a:ext cx="731520" cy="73152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508760" y="2377440"/>
            <a:ext cx="2011680" cy="731520"/>
          </a:xfrm>
          <a:prstGeom prst="rect">
            <a:avLst/>
          </a:prstGeom>
          <a:noFill/>
          <a:ln/>
        </p:spPr>
        <p:txBody>
          <a:bodyPr wrap="square" lIns="0" tIns="0" rIns="0" bIns="0" rtlCol="0" anchor="ctr"/>
          <a:lstStyle/>
          <a:p>
            <a:pPr indent="0" marL="0">
              <a:buNone/>
            </a:pPr>
            <a:r>
              <a:rPr lang="en-US" sz="2000" b="1" dirty="0">
                <a:solidFill>
                  <a:schemeClr val="tx2"/>
                </a:solidFill>
              </a:rPr>
              <a:t>Reasoned</a:t>
            </a:r>
            <a:endParaRPr lang="en-US" sz="2000" dirty="0"/>
          </a:p>
        </p:txBody>
      </p:sp>
      <p:sp>
        <p:nvSpPr>
          <p:cNvPr id="10" name="Text 8"/>
          <p:cNvSpPr txBox="1"/>
          <p:nvPr/>
        </p:nvSpPr>
        <p:spPr>
          <a:xfrm>
            <a:off x="3566160" y="2377440"/>
            <a:ext cx="5120640" cy="731520"/>
          </a:xfrm>
          <a:prstGeom prst="rect">
            <a:avLst/>
          </a:prstGeom>
          <a:noFill/>
          <a:ln/>
        </p:spPr>
        <p:txBody>
          <a:bodyPr wrap="square" lIns="0" tIns="0" rIns="0" bIns="0" rtlCol="0" anchor="ctr"/>
          <a:lstStyle/>
          <a:p>
            <a:pPr indent="0" marL="0">
              <a:buNone/>
            </a:pPr>
            <a:r>
              <a:rPr lang="en-US" sz="1500" dirty="0">
                <a:solidFill>
                  <a:schemeClr val="tx1"/>
                </a:solidFill>
              </a:rPr>
              <a:t>Each finding is linked to the outcome: why it supports a false positive or an escalation.</a:t>
            </a:r>
            <a:endParaRPr lang="en-US" sz="1500" dirty="0"/>
          </a:p>
        </p:txBody>
      </p:sp>
      <p:sp>
        <p:nvSpPr>
          <p:cNvPr id="11" name="Pillar number 3"/>
          <p:cNvSpPr/>
          <p:nvPr/>
        </p:nvSpPr>
        <p:spPr>
          <a:xfrm>
            <a:off x="548640" y="3520440"/>
            <a:ext cx="731520" cy="731520"/>
          </a:xfrm>
          <a:prstGeom prst="ellipse">
            <a:avLst/>
          </a:prstGeom>
          <a:solidFill>
            <a:schemeClr val="accent2"/>
          </a:solidFill>
          <a:ln w="12700">
            <a:solidFill>
              <a:schemeClr val="accent2"/>
            </a:solidFill>
            <a:prstDash val="solid"/>
          </a:ln>
        </p:spPr>
      </p:sp>
      <p:sp>
        <p:nvSpPr>
          <p:cNvPr id="12" name="Text 10"/>
          <p:cNvSpPr txBox="1"/>
          <p:nvPr/>
        </p:nvSpPr>
        <p:spPr>
          <a:xfrm>
            <a:off x="548640" y="3520440"/>
            <a:ext cx="731520" cy="73152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3" name="Text 11"/>
          <p:cNvSpPr txBox="1"/>
          <p:nvPr/>
        </p:nvSpPr>
        <p:spPr>
          <a:xfrm>
            <a:off x="1508760" y="3520440"/>
            <a:ext cx="2011680" cy="731520"/>
          </a:xfrm>
          <a:prstGeom prst="rect">
            <a:avLst/>
          </a:prstGeom>
          <a:noFill/>
          <a:ln/>
        </p:spPr>
        <p:txBody>
          <a:bodyPr wrap="square" lIns="0" tIns="0" rIns="0" bIns="0" rtlCol="0" anchor="ctr"/>
          <a:lstStyle/>
          <a:p>
            <a:pPr indent="0" marL="0">
              <a:buNone/>
            </a:pPr>
            <a:r>
              <a:rPr lang="en-US" sz="2000" b="1" dirty="0">
                <a:solidFill>
                  <a:schemeClr val="tx2"/>
                </a:solidFill>
              </a:rPr>
              <a:t>Traceable</a:t>
            </a:r>
            <a:endParaRPr lang="en-US" sz="2000" dirty="0"/>
          </a:p>
        </p:txBody>
      </p:sp>
      <p:sp>
        <p:nvSpPr>
          <p:cNvPr id="14" name="Text 12"/>
          <p:cNvSpPr txBox="1"/>
          <p:nvPr/>
        </p:nvSpPr>
        <p:spPr>
          <a:xfrm>
            <a:off x="3566160" y="3520440"/>
            <a:ext cx="5120640" cy="731520"/>
          </a:xfrm>
          <a:prstGeom prst="rect">
            <a:avLst/>
          </a:prstGeom>
          <a:noFill/>
          <a:ln/>
        </p:spPr>
        <p:txBody>
          <a:bodyPr wrap="square" lIns="0" tIns="0" rIns="0" bIns="0" rtlCol="0" anchor="ctr"/>
          <a:lstStyle/>
          <a:p>
            <a:pPr indent="0" marL="0">
              <a:buNone/>
            </a:pPr>
            <a:r>
              <a:rPr lang="en-US" sz="1500" dirty="0">
                <a:solidFill>
                  <a:schemeClr val="tx1"/>
                </a:solidFill>
              </a:rPr>
              <a:t>Someone with no other context can rebuild the case from the file and reach the same conclusion.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2103120" y="1554480"/>
            <a:ext cx="6583680" cy="1097280"/>
          </a:xfrm>
          <a:prstGeom prst="rect">
            <a:avLst/>
          </a:prstGeom>
          <a:noFill/>
          <a:ln/>
        </p:spPr>
        <p:txBody>
          <a:bodyPr wrap="square" lIns="0" tIns="0" rIns="0" bIns="0" rtlCol="0" anchor="b"/>
          <a:lstStyle/>
          <a:p>
            <a:pPr algn="l" indent="0" marL="0">
              <a:buNone/>
            </a:pPr>
            <a:r>
              <a:rPr lang="en-US" sz="3600" b="1" dirty="0">
                <a:solidFill>
                  <a:schemeClr val="bg1"/>
                </a:solidFill>
              </a:rPr>
              <a:t>Structural consistency</a:t>
            </a:r>
            <a:endParaRPr lang="en-US" sz="3600" dirty="0"/>
          </a:p>
        </p:txBody>
      </p:sp>
      <p:sp>
        <p:nvSpPr>
          <p:cNvPr id="3" name="Text 0"/>
          <p:cNvSpPr/>
          <p:nvPr>
            <p:ph idx="101" type="body" hasCustomPrompt="1"/>
          </p:nvPr>
        </p:nvSpPr>
        <p:spPr>
          <a:xfrm>
            <a:off x="2103120" y="2743200"/>
            <a:ext cx="6583680" cy="1097280"/>
          </a:xfrm>
          <a:prstGeom prst="rect">
            <a:avLst/>
          </a:prstGeom>
          <a:noFill/>
          <a:ln/>
        </p:spPr>
        <p:txBody>
          <a:bodyPr wrap="square" lIns="0" tIns="0" rIns="0" bIns="0" rtlCol="0" anchor="t"/>
          <a:lstStyle/>
          <a:p>
            <a:pPr indent="0" marL="0">
              <a:buNone/>
            </a:pPr>
            <a:r>
              <a:rPr lang="en-US" sz="1600" dirty="0">
                <a:solidFill>
                  <a:schemeClr val="accent6"/>
                </a:solidFill>
              </a:rPr>
              <a:t>If an assessment is not in the note, a reviewer has to assume it was not done</a:t>
            </a:r>
            <a:endParaRPr lang="en-US" sz="1600" dirty="0"/>
          </a:p>
        </p:txBody>
      </p:sp>
      <p:sp>
        <p:nvSpPr>
          <p:cNvPr id="4" name="Section 1 circle"/>
          <p:cNvSpPr/>
          <p:nvPr/>
        </p:nvSpPr>
        <p:spPr>
          <a:xfrm>
            <a:off x="548640" y="1737360"/>
            <a:ext cx="1188720" cy="1188720"/>
          </a:xfrm>
          <a:prstGeom prst="ellipse">
            <a:avLst/>
          </a:prstGeom>
          <a:solidFill>
            <a:srgbClr val="F2A541"/>
          </a:solidFill>
          <a:ln w="12700">
            <a:solidFill>
              <a:srgbClr val="F2A541"/>
            </a:solidFill>
            <a:prstDash val="solid"/>
          </a:ln>
        </p:spPr>
      </p:sp>
      <p:pic>
        <p:nvPicPr>
          <p:cNvPr id="5" name="Section 1 icon" descr="preencoded.png">    </p:cNvPr>
          <p:cNvPicPr>
            <a:picLocks noChangeAspect="1"/>
          </p:cNvPicPr>
          <p:nvPr/>
        </p:nvPicPr>
        <p:blipFill>
          <a:blip r:embed="rId1"/>
          <a:stretch>
            <a:fillRect/>
          </a:stretch>
        </p:blipFill>
        <p:spPr>
          <a:xfrm>
            <a:off x="845820" y="2034540"/>
            <a:ext cx="594360" cy="594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we are seeing</a:t>
            </a:r>
            <a:endParaRPr lang="en-US" sz="2800" dirty="0"/>
          </a:p>
        </p:txBody>
      </p:sp>
      <p:sp>
        <p:nvSpPr>
          <p:cNvPr id="3" name="Seeing card"/>
          <p:cNvSpPr/>
          <p:nvPr/>
        </p:nvSpPr>
        <p:spPr>
          <a:xfrm>
            <a:off x="457200" y="1188720"/>
            <a:ext cx="3931920" cy="3291840"/>
          </a:xfrm>
          <a:prstGeom prst="roundRect">
            <a:avLst>
              <a:gd name="adj" fmla="val 222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731520" y="1371600"/>
            <a:ext cx="3474720" cy="365760"/>
          </a:xfrm>
          <a:prstGeom prst="rect">
            <a:avLst/>
          </a:prstGeom>
          <a:noFill/>
          <a:ln/>
        </p:spPr>
        <p:txBody>
          <a:bodyPr wrap="square" lIns="0" tIns="0" rIns="0" bIns="0" rtlCol="0" anchor="t"/>
          <a:lstStyle/>
          <a:p>
            <a:pPr indent="0" marL="0">
              <a:buNone/>
            </a:pPr>
            <a:r>
              <a:rPr lang="en-US" sz="1800" b="1" dirty="0">
                <a:solidFill>
                  <a:schemeClr val="tx2"/>
                </a:solidFill>
              </a:rPr>
              <a:t>Recent observations</a:t>
            </a:r>
            <a:endParaRPr lang="en-US" sz="1800" dirty="0"/>
          </a:p>
        </p:txBody>
      </p:sp>
      <p:sp>
        <p:nvSpPr>
          <p:cNvPr id="5" name="Text 3"/>
          <p:cNvSpPr txBox="1"/>
          <p:nvPr/>
        </p:nvSpPr>
        <p:spPr>
          <a:xfrm>
            <a:off x="731520" y="1874520"/>
            <a:ext cx="347472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Some notes are comprehensive; others leave out whole assessments</a:t>
            </a:r>
            <a:endParaRPr lang="en-US" sz="1400" dirty="0"/>
          </a:p>
          <a:p>
            <a:pPr marL="342900" indent="-342900">
              <a:spcAft>
                <a:spcPts val="600"/>
              </a:spcAft>
              <a:buSzPct val="100000"/>
              <a:buChar char="•"/>
            </a:pPr>
            <a:r>
              <a:rPr lang="en-US" sz="1400" dirty="0">
                <a:solidFill>
                  <a:schemeClr val="tx1"/>
                </a:solidFill>
              </a:rPr>
              <a:t>Checks that were completed are not always mentioned</a:t>
            </a:r>
            <a:endParaRPr lang="en-US" sz="1400" dirty="0"/>
          </a:p>
          <a:p>
            <a:pPr marL="342900" indent="-342900">
              <a:spcAft>
                <a:spcPts val="600"/>
              </a:spcAft>
              <a:buSzPct val="100000"/>
              <a:buChar char="•"/>
            </a:pPr>
            <a:r>
              <a:rPr lang="en-US" sz="1400" dirty="0">
                <a:solidFill>
                  <a:schemeClr val="tx1"/>
                </a:solidFill>
              </a:rPr>
              <a:t>The order and depth of notes vary between analysts and cases</a:t>
            </a:r>
            <a:endParaRPr lang="en-US" sz="1400" dirty="0"/>
          </a:p>
        </p:txBody>
      </p:sp>
      <p:sp>
        <p:nvSpPr>
          <p:cNvPr id="6" name="Key point panel"/>
          <p:cNvSpPr/>
          <p:nvPr/>
        </p:nvSpPr>
        <p:spPr>
          <a:xfrm>
            <a:off x="4754880" y="1188720"/>
            <a:ext cx="3931920" cy="3291840"/>
          </a:xfrm>
          <a:prstGeom prst="roundRect">
            <a:avLst>
              <a:gd name="adj" fmla="val 2222"/>
            </a:avLst>
          </a:prstGeom>
          <a:solidFill>
            <a:schemeClr val="tx2"/>
          </a:solidFill>
          <a:ln w="12700">
            <a:solidFill>
              <a:schemeClr val="tx2"/>
            </a:solidFill>
            <a:prstDash val="solid"/>
          </a:ln>
        </p:spPr>
      </p:sp>
      <p:sp>
        <p:nvSpPr>
          <p:cNvPr id="7" name="Key point circle"/>
          <p:cNvSpPr/>
          <p:nvPr/>
        </p:nvSpPr>
        <p:spPr>
          <a:xfrm>
            <a:off x="5029200" y="1417320"/>
            <a:ext cx="640080" cy="640080"/>
          </a:xfrm>
          <a:prstGeom prst="ellipse">
            <a:avLst/>
          </a:prstGeom>
          <a:solidFill>
            <a:srgbClr val="F2A541"/>
          </a:solidFill>
          <a:ln w="12700">
            <a:solidFill>
              <a:srgbClr val="F2A541"/>
            </a:solidFill>
            <a:prstDash val="solid"/>
          </a:ln>
        </p:spPr>
      </p:sp>
      <p:pic>
        <p:nvPicPr>
          <p:cNvPr id="8" name="Key point icon" descr="preencoded.png">    </p:cNvPr>
          <p:cNvPicPr>
            <a:picLocks noChangeAspect="1"/>
          </p:cNvPicPr>
          <p:nvPr/>
        </p:nvPicPr>
        <p:blipFill>
          <a:blip r:embed="rId1"/>
          <a:stretch>
            <a:fillRect/>
          </a:stretch>
        </p:blipFill>
        <p:spPr>
          <a:xfrm>
            <a:off x="5189220" y="1577340"/>
            <a:ext cx="320040" cy="320040"/>
          </a:xfrm>
          <a:prstGeom prst="rect">
            <a:avLst/>
          </a:prstGeom>
        </p:spPr>
      </p:pic>
      <p:sp>
        <p:nvSpPr>
          <p:cNvPr id="9" name="Text 6"/>
          <p:cNvSpPr txBox="1"/>
          <p:nvPr/>
        </p:nvSpPr>
        <p:spPr>
          <a:xfrm>
            <a:off x="5029200" y="2240280"/>
            <a:ext cx="3383280" cy="822960"/>
          </a:xfrm>
          <a:prstGeom prst="rect">
            <a:avLst/>
          </a:prstGeom>
          <a:noFill/>
          <a:ln/>
        </p:spPr>
        <p:txBody>
          <a:bodyPr wrap="square" lIns="0" tIns="0" rIns="0" bIns="0" rtlCol="0" anchor="t"/>
          <a:lstStyle/>
          <a:p>
            <a:pPr indent="0" marL="0">
              <a:buNone/>
            </a:pPr>
            <a:r>
              <a:rPr lang="en-US" sz="1800" b="1" dirty="0">
                <a:solidFill>
                  <a:schemeClr val="bg1"/>
                </a:solidFill>
              </a:rPr>
              <a:t>"The SOP says it, so it was done" is not evidence</a:t>
            </a:r>
            <a:endParaRPr lang="en-US" sz="1800" dirty="0"/>
          </a:p>
        </p:txBody>
      </p:sp>
      <p:sp>
        <p:nvSpPr>
          <p:cNvPr id="10" name="Text 7"/>
          <p:cNvSpPr txBox="1"/>
          <p:nvPr/>
        </p:nvSpPr>
        <p:spPr>
          <a:xfrm>
            <a:off x="5029200" y="3108960"/>
            <a:ext cx="3383280" cy="1188720"/>
          </a:xfrm>
          <a:prstGeom prst="rect">
            <a:avLst/>
          </a:prstGeom>
          <a:noFill/>
          <a:ln/>
        </p:spPr>
        <p:txBody>
          <a:bodyPr wrap="square" lIns="0" tIns="0" rIns="0" bIns="0" rtlCol="0" anchor="t"/>
          <a:lstStyle/>
          <a:p>
            <a:pPr indent="0" marL="0">
              <a:buNone/>
            </a:pPr>
            <a:r>
              <a:rPr lang="en-US" sz="1400" dirty="0">
                <a:solidFill>
                  <a:schemeClr val="bg1"/>
                </a:solidFill>
              </a:rPr>
              <a:t>Neither we nor a regulator can take it at face value. The note has to show each assessment was performed and what it found.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Start with the alerted activity</a:t>
            </a:r>
            <a:endParaRPr lang="en-US" sz="2800" dirty="0"/>
          </a:p>
        </p:txBody>
      </p:sp>
      <p:sp>
        <p:nvSpPr>
          <p:cNvPr id="3" name="Text 1"/>
          <p:cNvSpPr txBox="1"/>
          <p:nvPr/>
        </p:nvSpPr>
        <p:spPr>
          <a:xfrm>
            <a:off x="457200" y="1051560"/>
            <a:ext cx="8229600" cy="548640"/>
          </a:xfrm>
          <a:prstGeom prst="rect">
            <a:avLst/>
          </a:prstGeom>
          <a:noFill/>
          <a:ln/>
        </p:spPr>
        <p:txBody>
          <a:bodyPr wrap="square" lIns="0" tIns="0" rIns="0" bIns="0" rtlCol="0" anchor="t"/>
          <a:lstStyle/>
          <a:p>
            <a:pPr indent="0" marL="0">
              <a:buNone/>
            </a:pPr>
            <a:r>
              <a:rPr lang="en-US" sz="1500" i="1" dirty="0">
                <a:solidFill>
                  <a:schemeClr val="accent5"/>
                </a:solidFill>
              </a:rPr>
              <a:t>State the rule and the transaction that caused the flag first. Wider history comes after, as supporting context, not as a replacement.</a:t>
            </a:r>
            <a:endParaRPr lang="en-US" sz="1500" dirty="0"/>
          </a:p>
        </p:txBody>
      </p:sp>
      <p:sp>
        <p:nvSpPr>
          <p:cNvPr id="4" name="Alert card 1"/>
          <p:cNvSpPr/>
          <p:nvPr/>
        </p:nvSpPr>
        <p:spPr>
          <a:xfrm>
            <a:off x="457200" y="1783080"/>
            <a:ext cx="1920240" cy="201168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5" name="Alert 1 circle"/>
          <p:cNvSpPr/>
          <p:nvPr/>
        </p:nvSpPr>
        <p:spPr>
          <a:xfrm>
            <a:off x="640080" y="1965960"/>
            <a:ext cx="502920" cy="502920"/>
          </a:xfrm>
          <a:prstGeom prst="ellipse">
            <a:avLst/>
          </a:prstGeom>
          <a:solidFill>
            <a:srgbClr val="0F7173"/>
          </a:solidFill>
          <a:ln w="12700">
            <a:solidFill>
              <a:srgbClr val="0F7173"/>
            </a:solidFill>
            <a:prstDash val="solid"/>
          </a:ln>
        </p:spPr>
      </p:sp>
      <p:pic>
        <p:nvPicPr>
          <p:cNvPr id="6" name="Alert 1 icon" descr="preencoded.png">    </p:cNvPr>
          <p:cNvPicPr>
            <a:picLocks noChangeAspect="1"/>
          </p:cNvPicPr>
          <p:nvPr/>
        </p:nvPicPr>
        <p:blipFill>
          <a:blip r:embed="rId1"/>
          <a:stretch>
            <a:fillRect/>
          </a:stretch>
        </p:blipFill>
        <p:spPr>
          <a:xfrm>
            <a:off x="765810" y="2091690"/>
            <a:ext cx="251460" cy="251460"/>
          </a:xfrm>
          <a:prstGeom prst="rect">
            <a:avLst/>
          </a:prstGeom>
        </p:spPr>
      </p:pic>
      <p:sp>
        <p:nvSpPr>
          <p:cNvPr id="7" name="Text 4"/>
          <p:cNvSpPr txBox="1"/>
          <p:nvPr/>
        </p:nvSpPr>
        <p:spPr>
          <a:xfrm>
            <a:off x="640080" y="2606040"/>
            <a:ext cx="1600200" cy="365760"/>
          </a:xfrm>
          <a:prstGeom prst="rect">
            <a:avLst/>
          </a:prstGeom>
          <a:noFill/>
          <a:ln/>
        </p:spPr>
        <p:txBody>
          <a:bodyPr wrap="square" lIns="0" tIns="0" rIns="0" bIns="0" rtlCol="0" anchor="t"/>
          <a:lstStyle/>
          <a:p>
            <a:pPr indent="0" marL="0">
              <a:buNone/>
            </a:pPr>
            <a:r>
              <a:rPr lang="en-US" sz="1500" b="1" dirty="0">
                <a:solidFill>
                  <a:schemeClr val="tx2"/>
                </a:solidFill>
              </a:rPr>
              <a:t>Which rule?</a:t>
            </a:r>
            <a:endParaRPr lang="en-US" sz="1500" dirty="0"/>
          </a:p>
        </p:txBody>
      </p:sp>
      <p:sp>
        <p:nvSpPr>
          <p:cNvPr id="8" name="Text 5"/>
          <p:cNvSpPr txBox="1"/>
          <p:nvPr/>
        </p:nvSpPr>
        <p:spPr>
          <a:xfrm>
            <a:off x="640080" y="3017520"/>
            <a:ext cx="1600200" cy="731520"/>
          </a:xfrm>
          <a:prstGeom prst="rect">
            <a:avLst/>
          </a:prstGeom>
          <a:noFill/>
          <a:ln/>
        </p:spPr>
        <p:txBody>
          <a:bodyPr wrap="square" lIns="0" tIns="0" rIns="0" bIns="0" rtlCol="0" anchor="t"/>
          <a:lstStyle/>
          <a:p>
            <a:pPr indent="0" marL="0">
              <a:buNone/>
            </a:pPr>
            <a:r>
              <a:rPr lang="en-US" sz="1200" dirty="0">
                <a:solidFill>
                  <a:schemeClr val="tx1"/>
                </a:solidFill>
              </a:rPr>
              <a:t>Name the rule and explain in plain terms what it detects</a:t>
            </a:r>
            <a:endParaRPr lang="en-US" sz="1200" dirty="0"/>
          </a:p>
        </p:txBody>
      </p:sp>
      <p:sp>
        <p:nvSpPr>
          <p:cNvPr id="9" name="Alert card 2"/>
          <p:cNvSpPr/>
          <p:nvPr/>
        </p:nvSpPr>
        <p:spPr>
          <a:xfrm>
            <a:off x="2560320" y="1783080"/>
            <a:ext cx="1920240" cy="201168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Alert 2 circle"/>
          <p:cNvSpPr/>
          <p:nvPr/>
        </p:nvSpPr>
        <p:spPr>
          <a:xfrm>
            <a:off x="2743200" y="1965960"/>
            <a:ext cx="502920" cy="502920"/>
          </a:xfrm>
          <a:prstGeom prst="ellipse">
            <a:avLst/>
          </a:prstGeom>
          <a:solidFill>
            <a:srgbClr val="0F7173"/>
          </a:solidFill>
          <a:ln w="12700">
            <a:solidFill>
              <a:srgbClr val="0F7173"/>
            </a:solidFill>
            <a:prstDash val="solid"/>
          </a:ln>
        </p:spPr>
      </p:sp>
      <p:pic>
        <p:nvPicPr>
          <p:cNvPr id="11" name="Alert 2 icon" descr="preencoded.png">    </p:cNvPr>
          <p:cNvPicPr>
            <a:picLocks noChangeAspect="1"/>
          </p:cNvPicPr>
          <p:nvPr/>
        </p:nvPicPr>
        <p:blipFill>
          <a:blip r:embed="rId2"/>
          <a:stretch>
            <a:fillRect/>
          </a:stretch>
        </p:blipFill>
        <p:spPr>
          <a:xfrm>
            <a:off x="2868930" y="2091690"/>
            <a:ext cx="251460" cy="251460"/>
          </a:xfrm>
          <a:prstGeom prst="rect">
            <a:avLst/>
          </a:prstGeom>
        </p:spPr>
      </p:pic>
      <p:sp>
        <p:nvSpPr>
          <p:cNvPr id="12" name="Text 8"/>
          <p:cNvSpPr txBox="1"/>
          <p:nvPr/>
        </p:nvSpPr>
        <p:spPr>
          <a:xfrm>
            <a:off x="2743200" y="2606040"/>
            <a:ext cx="1600200" cy="365760"/>
          </a:xfrm>
          <a:prstGeom prst="rect">
            <a:avLst/>
          </a:prstGeom>
          <a:noFill/>
          <a:ln/>
        </p:spPr>
        <p:txBody>
          <a:bodyPr wrap="square" lIns="0" tIns="0" rIns="0" bIns="0" rtlCol="0" anchor="t"/>
          <a:lstStyle/>
          <a:p>
            <a:pPr indent="0" marL="0">
              <a:buNone/>
            </a:pPr>
            <a:r>
              <a:rPr lang="en-US" sz="1500" b="1" dirty="0">
                <a:solidFill>
                  <a:schemeClr val="tx2"/>
                </a:solidFill>
              </a:rPr>
              <a:t>What alerted?</a:t>
            </a:r>
            <a:endParaRPr lang="en-US" sz="1500" dirty="0"/>
          </a:p>
        </p:txBody>
      </p:sp>
      <p:sp>
        <p:nvSpPr>
          <p:cNvPr id="13" name="Text 9"/>
          <p:cNvSpPr txBox="1"/>
          <p:nvPr/>
        </p:nvSpPr>
        <p:spPr>
          <a:xfrm>
            <a:off x="2743200" y="3017520"/>
            <a:ext cx="1600200" cy="731520"/>
          </a:xfrm>
          <a:prstGeom prst="rect">
            <a:avLst/>
          </a:prstGeom>
          <a:noFill/>
          <a:ln/>
        </p:spPr>
        <p:txBody>
          <a:bodyPr wrap="square" lIns="0" tIns="0" rIns="0" bIns="0" rtlCol="0" anchor="t"/>
          <a:lstStyle/>
          <a:p>
            <a:pPr indent="0" marL="0">
              <a:buNone/>
            </a:pPr>
            <a:r>
              <a:rPr lang="en-US" sz="1200" dirty="0">
                <a:solidFill>
                  <a:schemeClr val="tx1"/>
                </a:solidFill>
              </a:rPr>
              <a:t>Itemise the transactions: value, volume, countries, fingerprint</a:t>
            </a:r>
            <a:endParaRPr lang="en-US" sz="1200" dirty="0"/>
          </a:p>
        </p:txBody>
      </p:sp>
      <p:sp>
        <p:nvSpPr>
          <p:cNvPr id="14" name="Alert card 3"/>
          <p:cNvSpPr/>
          <p:nvPr/>
        </p:nvSpPr>
        <p:spPr>
          <a:xfrm>
            <a:off x="4663440" y="1783080"/>
            <a:ext cx="1920240" cy="201168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5" name="Alert 3 circle"/>
          <p:cNvSpPr/>
          <p:nvPr/>
        </p:nvSpPr>
        <p:spPr>
          <a:xfrm>
            <a:off x="4846320" y="1965960"/>
            <a:ext cx="502920" cy="502920"/>
          </a:xfrm>
          <a:prstGeom prst="ellipse">
            <a:avLst/>
          </a:prstGeom>
          <a:solidFill>
            <a:srgbClr val="0F7173"/>
          </a:solidFill>
          <a:ln w="12700">
            <a:solidFill>
              <a:srgbClr val="0F7173"/>
            </a:solidFill>
            <a:prstDash val="solid"/>
          </a:ln>
        </p:spPr>
      </p:sp>
      <p:pic>
        <p:nvPicPr>
          <p:cNvPr id="16" name="Alert 3 icon" descr="preencoded.png">    </p:cNvPr>
          <p:cNvPicPr>
            <a:picLocks noChangeAspect="1"/>
          </p:cNvPicPr>
          <p:nvPr/>
        </p:nvPicPr>
        <p:blipFill>
          <a:blip r:embed="rId3"/>
          <a:stretch>
            <a:fillRect/>
          </a:stretch>
        </p:blipFill>
        <p:spPr>
          <a:xfrm>
            <a:off x="4972050" y="2091690"/>
            <a:ext cx="251460" cy="251460"/>
          </a:xfrm>
          <a:prstGeom prst="rect">
            <a:avLst/>
          </a:prstGeom>
        </p:spPr>
      </p:pic>
      <p:sp>
        <p:nvSpPr>
          <p:cNvPr id="17" name="Text 12"/>
          <p:cNvSpPr txBox="1"/>
          <p:nvPr/>
        </p:nvSpPr>
        <p:spPr>
          <a:xfrm>
            <a:off x="4846320" y="2606040"/>
            <a:ext cx="1600200" cy="365760"/>
          </a:xfrm>
          <a:prstGeom prst="rect">
            <a:avLst/>
          </a:prstGeom>
          <a:noFill/>
          <a:ln/>
        </p:spPr>
        <p:txBody>
          <a:bodyPr wrap="square" lIns="0" tIns="0" rIns="0" bIns="0" rtlCol="0" anchor="t"/>
          <a:lstStyle/>
          <a:p>
            <a:pPr indent="0" marL="0">
              <a:buNone/>
            </a:pPr>
            <a:r>
              <a:rPr lang="en-US" sz="1500" b="1" dirty="0">
                <a:solidFill>
                  <a:schemeClr val="tx2"/>
                </a:solidFill>
              </a:rPr>
              <a:t>Which period?</a:t>
            </a:r>
            <a:endParaRPr lang="en-US" sz="1500" dirty="0"/>
          </a:p>
        </p:txBody>
      </p:sp>
      <p:sp>
        <p:nvSpPr>
          <p:cNvPr id="18" name="Text 13"/>
          <p:cNvSpPr txBox="1"/>
          <p:nvPr/>
        </p:nvSpPr>
        <p:spPr>
          <a:xfrm>
            <a:off x="4846320" y="3017520"/>
            <a:ext cx="1600200" cy="731520"/>
          </a:xfrm>
          <a:prstGeom prst="rect">
            <a:avLst/>
          </a:prstGeom>
          <a:noFill/>
          <a:ln/>
        </p:spPr>
        <p:txBody>
          <a:bodyPr wrap="square" lIns="0" tIns="0" rIns="0" bIns="0" rtlCol="0" anchor="t"/>
          <a:lstStyle/>
          <a:p>
            <a:pPr indent="0" marL="0">
              <a:buNone/>
            </a:pPr>
            <a:r>
              <a:rPr lang="en-US" sz="1200" dirty="0">
                <a:solidFill>
                  <a:schemeClr val="tx1"/>
                </a:solidFill>
              </a:rPr>
              <a:t>Use a review window that matches the rule's look-back period</a:t>
            </a:r>
            <a:endParaRPr lang="en-US" sz="1200" dirty="0"/>
          </a:p>
        </p:txBody>
      </p:sp>
      <p:sp>
        <p:nvSpPr>
          <p:cNvPr id="19" name="Alert card 4"/>
          <p:cNvSpPr/>
          <p:nvPr/>
        </p:nvSpPr>
        <p:spPr>
          <a:xfrm>
            <a:off x="6766560" y="1783080"/>
            <a:ext cx="1920240" cy="2011680"/>
          </a:xfrm>
          <a:prstGeom prst="roundRect">
            <a:avLst>
              <a:gd name="adj" fmla="val 381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0" name="Alert 4 circle"/>
          <p:cNvSpPr/>
          <p:nvPr/>
        </p:nvSpPr>
        <p:spPr>
          <a:xfrm>
            <a:off x="6949440" y="1965960"/>
            <a:ext cx="502920" cy="502920"/>
          </a:xfrm>
          <a:prstGeom prst="ellipse">
            <a:avLst/>
          </a:prstGeom>
          <a:solidFill>
            <a:srgbClr val="0F7173"/>
          </a:solidFill>
          <a:ln w="12700">
            <a:solidFill>
              <a:srgbClr val="0F7173"/>
            </a:solidFill>
            <a:prstDash val="solid"/>
          </a:ln>
        </p:spPr>
      </p:sp>
      <p:pic>
        <p:nvPicPr>
          <p:cNvPr id="21" name="Alert 4 icon" descr="preencoded.png">    </p:cNvPr>
          <p:cNvPicPr>
            <a:picLocks noChangeAspect="1"/>
          </p:cNvPicPr>
          <p:nvPr/>
        </p:nvPicPr>
        <p:blipFill>
          <a:blip r:embed="rId4"/>
          <a:stretch>
            <a:fillRect/>
          </a:stretch>
        </p:blipFill>
        <p:spPr>
          <a:xfrm>
            <a:off x="7075170" y="2091690"/>
            <a:ext cx="251460" cy="251460"/>
          </a:xfrm>
          <a:prstGeom prst="rect">
            <a:avLst/>
          </a:prstGeom>
        </p:spPr>
      </p:pic>
      <p:sp>
        <p:nvSpPr>
          <p:cNvPr id="22" name="Text 16"/>
          <p:cNvSpPr txBox="1"/>
          <p:nvPr/>
        </p:nvSpPr>
        <p:spPr>
          <a:xfrm>
            <a:off x="6949440" y="2606040"/>
            <a:ext cx="1600200" cy="365760"/>
          </a:xfrm>
          <a:prstGeom prst="rect">
            <a:avLst/>
          </a:prstGeom>
          <a:noFill/>
          <a:ln/>
        </p:spPr>
        <p:txBody>
          <a:bodyPr wrap="square" lIns="0" tIns="0" rIns="0" bIns="0" rtlCol="0" anchor="t"/>
          <a:lstStyle/>
          <a:p>
            <a:pPr indent="0" marL="0">
              <a:buNone/>
            </a:pPr>
            <a:r>
              <a:rPr lang="en-US" sz="1500" b="1" dirty="0">
                <a:solidFill>
                  <a:schemeClr val="tx2"/>
                </a:solidFill>
              </a:rPr>
              <a:t>So what?</a:t>
            </a:r>
            <a:endParaRPr lang="en-US" sz="1500" dirty="0"/>
          </a:p>
        </p:txBody>
      </p:sp>
      <p:sp>
        <p:nvSpPr>
          <p:cNvPr id="23" name="Text 17"/>
          <p:cNvSpPr txBox="1"/>
          <p:nvPr/>
        </p:nvSpPr>
        <p:spPr>
          <a:xfrm>
            <a:off x="6949440" y="3017520"/>
            <a:ext cx="1600200" cy="731520"/>
          </a:xfrm>
          <a:prstGeom prst="rect">
            <a:avLst/>
          </a:prstGeom>
          <a:noFill/>
          <a:ln/>
        </p:spPr>
        <p:txBody>
          <a:bodyPr wrap="square" lIns="0" tIns="0" rIns="0" bIns="0" rtlCol="0" anchor="t"/>
          <a:lstStyle/>
          <a:p>
            <a:pPr indent="0" marL="0">
              <a:buNone/>
            </a:pPr>
            <a:r>
              <a:rPr lang="en-US" sz="1200" dirty="0">
                <a:solidFill>
                  <a:schemeClr val="tx1"/>
                </a:solidFill>
              </a:rPr>
              <a:t>Explain why this specific activity is or is not of concern</a:t>
            </a:r>
            <a:endParaRPr lang="en-US" sz="1200" dirty="0"/>
          </a:p>
        </p:txBody>
      </p:sp>
      <p:sp>
        <p:nvSpPr>
          <p:cNvPr id="24" name="Text 18"/>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300" b="1" dirty="0">
                <a:solidFill>
                  <a:schemeClr val="accent1"/>
                </a:solidFill>
              </a:rPr>
              <a:t>Example: </a:t>
            </a:r>
            <a:pPr indent="0" marL="0">
              <a:buNone/>
            </a:pPr>
            <a:r>
              <a:rPr lang="en-US" sz="1300" dirty="0">
                <a:solidFill>
                  <a:schemeClr val="tx1"/>
                </a:solidFill>
              </a:rPr>
              <a:t>"Alerted on a single high-value withdrawal of £10,478.96. The value is in line with this cardholder's previous withdrawals, and their wider history shows genuine activity."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building blocks of every case note</a:t>
            </a:r>
            <a:endParaRPr lang="en-US" sz="2800" dirty="0"/>
          </a:p>
        </p:txBody>
      </p:sp>
      <p:sp>
        <p:nvSpPr>
          <p:cNvPr id="3" name="Block 1"/>
          <p:cNvSpPr/>
          <p:nvPr/>
        </p:nvSpPr>
        <p:spPr>
          <a:xfrm>
            <a:off x="457200" y="1188720"/>
            <a:ext cx="260604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Block 1 circle"/>
          <p:cNvSpPr/>
          <p:nvPr/>
        </p:nvSpPr>
        <p:spPr>
          <a:xfrm>
            <a:off x="640080" y="1371600"/>
            <a:ext cx="502920" cy="502920"/>
          </a:xfrm>
          <a:prstGeom prst="ellipse">
            <a:avLst/>
          </a:prstGeom>
          <a:solidFill>
            <a:srgbClr val="0F7173"/>
          </a:solidFill>
          <a:ln w="12700">
            <a:solidFill>
              <a:srgbClr val="0F7173"/>
            </a:solidFill>
            <a:prstDash val="solid"/>
          </a:ln>
        </p:spPr>
      </p:sp>
      <p:pic>
        <p:nvPicPr>
          <p:cNvPr id="5" name="Block 1 icon"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6" name="Text 3"/>
          <p:cNvSpPr txBox="1"/>
          <p:nvPr/>
        </p:nvSpPr>
        <p:spPr>
          <a:xfrm>
            <a:off x="1280160" y="1371600"/>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Alerted activity</a:t>
            </a:r>
            <a:endParaRPr lang="en-US" sz="1500" dirty="0"/>
          </a:p>
        </p:txBody>
      </p:sp>
      <p:sp>
        <p:nvSpPr>
          <p:cNvPr id="7" name="Text 4"/>
          <p:cNvSpPr txBox="1"/>
          <p:nvPr/>
        </p:nvSpPr>
        <p:spPr>
          <a:xfrm>
            <a:off x="640080" y="1965960"/>
            <a:ext cx="2286000" cy="594360"/>
          </a:xfrm>
          <a:prstGeom prst="rect">
            <a:avLst/>
          </a:prstGeom>
          <a:noFill/>
          <a:ln/>
        </p:spPr>
        <p:txBody>
          <a:bodyPr wrap="square" lIns="0" tIns="0" rIns="0" bIns="0" rtlCol="0" anchor="t"/>
          <a:lstStyle/>
          <a:p>
            <a:pPr indent="0" marL="0">
              <a:buNone/>
            </a:pPr>
            <a:r>
              <a:rPr lang="en-US" sz="1150" dirty="0">
                <a:solidFill>
                  <a:schemeClr val="tx1"/>
                </a:solidFill>
              </a:rPr>
              <a:t>Rule, trigger date, the specific transactions and why the rule fired</a:t>
            </a:r>
            <a:endParaRPr lang="en-US" sz="1150" dirty="0"/>
          </a:p>
        </p:txBody>
      </p:sp>
      <p:sp>
        <p:nvSpPr>
          <p:cNvPr id="8" name="Block 2"/>
          <p:cNvSpPr/>
          <p:nvPr/>
        </p:nvSpPr>
        <p:spPr>
          <a:xfrm>
            <a:off x="3246120" y="1188720"/>
            <a:ext cx="260604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Block 2 circle"/>
          <p:cNvSpPr/>
          <p:nvPr/>
        </p:nvSpPr>
        <p:spPr>
          <a:xfrm>
            <a:off x="3429000" y="1371600"/>
            <a:ext cx="502920" cy="502920"/>
          </a:xfrm>
          <a:prstGeom prst="ellipse">
            <a:avLst/>
          </a:prstGeom>
          <a:solidFill>
            <a:srgbClr val="0F7173"/>
          </a:solidFill>
          <a:ln w="12700">
            <a:solidFill>
              <a:srgbClr val="0F7173"/>
            </a:solidFill>
            <a:prstDash val="solid"/>
          </a:ln>
        </p:spPr>
      </p:sp>
      <p:pic>
        <p:nvPicPr>
          <p:cNvPr id="10" name="Block 2 icon" descr="preencoded.png">    </p:cNvPr>
          <p:cNvPicPr>
            <a:picLocks noChangeAspect="1"/>
          </p:cNvPicPr>
          <p:nvPr/>
        </p:nvPicPr>
        <p:blipFill>
          <a:blip r:embed="rId2"/>
          <a:stretch>
            <a:fillRect/>
          </a:stretch>
        </p:blipFill>
        <p:spPr>
          <a:xfrm>
            <a:off x="3554730" y="1497330"/>
            <a:ext cx="251460" cy="251460"/>
          </a:xfrm>
          <a:prstGeom prst="rect">
            <a:avLst/>
          </a:prstGeom>
        </p:spPr>
      </p:pic>
      <p:sp>
        <p:nvSpPr>
          <p:cNvPr id="11" name="Text 7"/>
          <p:cNvSpPr txBox="1"/>
          <p:nvPr/>
        </p:nvSpPr>
        <p:spPr>
          <a:xfrm>
            <a:off x="4069080" y="1371600"/>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Merchant profile</a:t>
            </a:r>
            <a:endParaRPr lang="en-US" sz="1500" dirty="0"/>
          </a:p>
        </p:txBody>
      </p:sp>
      <p:sp>
        <p:nvSpPr>
          <p:cNvPr id="12" name="Text 8"/>
          <p:cNvSpPr txBox="1"/>
          <p:nvPr/>
        </p:nvSpPr>
        <p:spPr>
          <a:xfrm>
            <a:off x="3429000" y="1965960"/>
            <a:ext cx="2286000" cy="594360"/>
          </a:xfrm>
          <a:prstGeom prst="rect">
            <a:avLst/>
          </a:prstGeom>
          <a:noFill/>
          <a:ln/>
        </p:spPr>
        <p:txBody>
          <a:bodyPr wrap="square" lIns="0" tIns="0" rIns="0" bIns="0" rtlCol="0" anchor="t"/>
          <a:lstStyle/>
          <a:p>
            <a:pPr indent="0" marL="0">
              <a:buNone/>
            </a:pPr>
            <a:r>
              <a:rPr lang="en-US" sz="1150" dirty="0">
                <a:solidFill>
                  <a:schemeClr val="tx1"/>
                </a:solidFill>
              </a:rPr>
              <a:t>Legal name, entity ID, stated business model, onboarding expectations</a:t>
            </a:r>
            <a:endParaRPr lang="en-US" sz="1150" dirty="0"/>
          </a:p>
        </p:txBody>
      </p:sp>
      <p:sp>
        <p:nvSpPr>
          <p:cNvPr id="13" name="Block 3"/>
          <p:cNvSpPr/>
          <p:nvPr/>
        </p:nvSpPr>
        <p:spPr>
          <a:xfrm>
            <a:off x="6035040" y="1188720"/>
            <a:ext cx="260604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Block 3 circle"/>
          <p:cNvSpPr/>
          <p:nvPr/>
        </p:nvSpPr>
        <p:spPr>
          <a:xfrm>
            <a:off x="6217920" y="1371600"/>
            <a:ext cx="502920" cy="502920"/>
          </a:xfrm>
          <a:prstGeom prst="ellipse">
            <a:avLst/>
          </a:prstGeom>
          <a:solidFill>
            <a:srgbClr val="0F7173"/>
          </a:solidFill>
          <a:ln w="12700">
            <a:solidFill>
              <a:srgbClr val="0F7173"/>
            </a:solidFill>
            <a:prstDash val="solid"/>
          </a:ln>
        </p:spPr>
      </p:sp>
      <p:pic>
        <p:nvPicPr>
          <p:cNvPr id="15" name="Block 3 icon" descr="preencoded.png">    </p:cNvPr>
          <p:cNvPicPr>
            <a:picLocks noChangeAspect="1"/>
          </p:cNvPicPr>
          <p:nvPr/>
        </p:nvPicPr>
        <p:blipFill>
          <a:blip r:embed="rId3"/>
          <a:stretch>
            <a:fillRect/>
          </a:stretch>
        </p:blipFill>
        <p:spPr>
          <a:xfrm>
            <a:off x="6343650" y="1497330"/>
            <a:ext cx="251460" cy="251460"/>
          </a:xfrm>
          <a:prstGeom prst="rect">
            <a:avLst/>
          </a:prstGeom>
        </p:spPr>
      </p:pic>
      <p:sp>
        <p:nvSpPr>
          <p:cNvPr id="16" name="Text 11"/>
          <p:cNvSpPr txBox="1"/>
          <p:nvPr/>
        </p:nvSpPr>
        <p:spPr>
          <a:xfrm>
            <a:off x="6858000" y="1371600"/>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Customer profile</a:t>
            </a:r>
            <a:endParaRPr lang="en-US" sz="1500" dirty="0"/>
          </a:p>
        </p:txBody>
      </p:sp>
      <p:sp>
        <p:nvSpPr>
          <p:cNvPr id="17" name="Text 12"/>
          <p:cNvSpPr txBox="1"/>
          <p:nvPr/>
        </p:nvSpPr>
        <p:spPr>
          <a:xfrm>
            <a:off x="6217920" y="1965960"/>
            <a:ext cx="2286000" cy="594360"/>
          </a:xfrm>
          <a:prstGeom prst="rect">
            <a:avLst/>
          </a:prstGeom>
          <a:noFill/>
          <a:ln/>
        </p:spPr>
        <p:txBody>
          <a:bodyPr wrap="square" lIns="0" tIns="0" rIns="0" bIns="0" rtlCol="0" anchor="t"/>
          <a:lstStyle/>
          <a:p>
            <a:pPr indent="0" marL="0">
              <a:buNone/>
            </a:pPr>
            <a:r>
              <a:rPr lang="en-US" sz="1150" dirty="0">
                <a:solidFill>
                  <a:schemeClr val="tx1"/>
                </a:solidFill>
              </a:rPr>
              <a:t>Who is transacting: card types, issuing countries, concentration</a:t>
            </a:r>
            <a:endParaRPr lang="en-US" sz="1150" dirty="0"/>
          </a:p>
        </p:txBody>
      </p:sp>
      <p:sp>
        <p:nvSpPr>
          <p:cNvPr id="18" name="Block 4"/>
          <p:cNvSpPr/>
          <p:nvPr/>
        </p:nvSpPr>
        <p:spPr>
          <a:xfrm>
            <a:off x="457200" y="2788920"/>
            <a:ext cx="260604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9" name="Block 4 circle"/>
          <p:cNvSpPr/>
          <p:nvPr/>
        </p:nvSpPr>
        <p:spPr>
          <a:xfrm>
            <a:off x="640080" y="2971800"/>
            <a:ext cx="502920" cy="502920"/>
          </a:xfrm>
          <a:prstGeom prst="ellipse">
            <a:avLst/>
          </a:prstGeom>
          <a:solidFill>
            <a:srgbClr val="0F7173"/>
          </a:solidFill>
          <a:ln w="12700">
            <a:solidFill>
              <a:srgbClr val="0F7173"/>
            </a:solidFill>
            <a:prstDash val="solid"/>
          </a:ln>
        </p:spPr>
      </p:sp>
      <p:pic>
        <p:nvPicPr>
          <p:cNvPr id="20" name="Block 4 icon" descr="preencoded.png">    </p:cNvPr>
          <p:cNvPicPr>
            <a:picLocks noChangeAspect="1"/>
          </p:cNvPicPr>
          <p:nvPr/>
        </p:nvPicPr>
        <p:blipFill>
          <a:blip r:embed="rId4"/>
          <a:stretch>
            <a:fillRect/>
          </a:stretch>
        </p:blipFill>
        <p:spPr>
          <a:xfrm>
            <a:off x="765810" y="3097530"/>
            <a:ext cx="251460" cy="251460"/>
          </a:xfrm>
          <a:prstGeom prst="rect">
            <a:avLst/>
          </a:prstGeom>
        </p:spPr>
      </p:pic>
      <p:sp>
        <p:nvSpPr>
          <p:cNvPr id="21" name="Text 15"/>
          <p:cNvSpPr txBox="1"/>
          <p:nvPr/>
        </p:nvSpPr>
        <p:spPr>
          <a:xfrm>
            <a:off x="1280160" y="2971800"/>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Historical behaviour</a:t>
            </a:r>
            <a:endParaRPr lang="en-US" sz="1500" dirty="0"/>
          </a:p>
        </p:txBody>
      </p:sp>
      <p:sp>
        <p:nvSpPr>
          <p:cNvPr id="22" name="Text 16"/>
          <p:cNvSpPr txBox="1"/>
          <p:nvPr/>
        </p:nvSpPr>
        <p:spPr>
          <a:xfrm>
            <a:off x="640080" y="3566160"/>
            <a:ext cx="2286000" cy="594360"/>
          </a:xfrm>
          <a:prstGeom prst="rect">
            <a:avLst/>
          </a:prstGeom>
          <a:noFill/>
          <a:ln/>
        </p:spPr>
        <p:txBody>
          <a:bodyPr wrap="square" lIns="0" tIns="0" rIns="0" bIns="0" rtlCol="0" anchor="t"/>
          <a:lstStyle/>
          <a:p>
            <a:pPr indent="0" marL="0">
              <a:buNone/>
            </a:pPr>
            <a:r>
              <a:rPr lang="en-US" sz="1150" dirty="0">
                <a:solidFill>
                  <a:schemeClr val="tx1"/>
                </a:solidFill>
              </a:rPr>
              <a:t>Prior alerts, cases and outcomes, and trends over time</a:t>
            </a:r>
            <a:endParaRPr lang="en-US" sz="1150" dirty="0"/>
          </a:p>
        </p:txBody>
      </p:sp>
      <p:sp>
        <p:nvSpPr>
          <p:cNvPr id="23" name="Block 5"/>
          <p:cNvSpPr/>
          <p:nvPr/>
        </p:nvSpPr>
        <p:spPr>
          <a:xfrm>
            <a:off x="3246120" y="2788920"/>
            <a:ext cx="260604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4" name="Block 5 circle"/>
          <p:cNvSpPr/>
          <p:nvPr/>
        </p:nvSpPr>
        <p:spPr>
          <a:xfrm>
            <a:off x="3429000" y="2971800"/>
            <a:ext cx="502920" cy="502920"/>
          </a:xfrm>
          <a:prstGeom prst="ellipse">
            <a:avLst/>
          </a:prstGeom>
          <a:solidFill>
            <a:srgbClr val="0F7173"/>
          </a:solidFill>
          <a:ln w="12700">
            <a:solidFill>
              <a:srgbClr val="0F7173"/>
            </a:solidFill>
            <a:prstDash val="solid"/>
          </a:ln>
        </p:spPr>
      </p:sp>
      <p:pic>
        <p:nvPicPr>
          <p:cNvPr id="25" name="Block 5 icon" descr="preencoded.png">    </p:cNvPr>
          <p:cNvPicPr>
            <a:picLocks noChangeAspect="1"/>
          </p:cNvPicPr>
          <p:nvPr/>
        </p:nvPicPr>
        <p:blipFill>
          <a:blip r:embed="rId5"/>
          <a:stretch>
            <a:fillRect/>
          </a:stretch>
        </p:blipFill>
        <p:spPr>
          <a:xfrm>
            <a:off x="3554730" y="3097530"/>
            <a:ext cx="251460" cy="251460"/>
          </a:xfrm>
          <a:prstGeom prst="rect">
            <a:avLst/>
          </a:prstGeom>
        </p:spPr>
      </p:pic>
      <p:sp>
        <p:nvSpPr>
          <p:cNvPr id="26" name="Text 19"/>
          <p:cNvSpPr txBox="1"/>
          <p:nvPr/>
        </p:nvSpPr>
        <p:spPr>
          <a:xfrm>
            <a:off x="4069080" y="2971800"/>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Expected vs actual</a:t>
            </a:r>
            <a:endParaRPr lang="en-US" sz="1500" dirty="0"/>
          </a:p>
        </p:txBody>
      </p:sp>
      <p:sp>
        <p:nvSpPr>
          <p:cNvPr id="27" name="Text 20"/>
          <p:cNvSpPr txBox="1"/>
          <p:nvPr/>
        </p:nvSpPr>
        <p:spPr>
          <a:xfrm>
            <a:off x="3429000" y="3566160"/>
            <a:ext cx="2286000" cy="594360"/>
          </a:xfrm>
          <a:prstGeom prst="rect">
            <a:avLst/>
          </a:prstGeom>
          <a:noFill/>
          <a:ln/>
        </p:spPr>
        <p:txBody>
          <a:bodyPr wrap="square" lIns="0" tIns="0" rIns="0" bIns="0" rtlCol="0" anchor="t"/>
          <a:lstStyle/>
          <a:p>
            <a:pPr indent="0" marL="0">
              <a:buNone/>
            </a:pPr>
            <a:r>
              <a:rPr lang="en-US" sz="1150" dirty="0">
                <a:solidFill>
                  <a:schemeClr val="tx1"/>
                </a:solidFill>
              </a:rPr>
              <a:t>Frequency, velocity, value and activity patterns against expected activity</a:t>
            </a:r>
            <a:endParaRPr lang="en-US" sz="1150" dirty="0"/>
          </a:p>
        </p:txBody>
      </p:sp>
      <p:sp>
        <p:nvSpPr>
          <p:cNvPr id="28" name="Block 6"/>
          <p:cNvSpPr/>
          <p:nvPr/>
        </p:nvSpPr>
        <p:spPr>
          <a:xfrm>
            <a:off x="6035040" y="2788920"/>
            <a:ext cx="260604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9" name="Block 6 circle"/>
          <p:cNvSpPr/>
          <p:nvPr/>
        </p:nvSpPr>
        <p:spPr>
          <a:xfrm>
            <a:off x="6217920" y="2971800"/>
            <a:ext cx="502920" cy="502920"/>
          </a:xfrm>
          <a:prstGeom prst="ellipse">
            <a:avLst/>
          </a:prstGeom>
          <a:solidFill>
            <a:srgbClr val="0F7173"/>
          </a:solidFill>
          <a:ln w="12700">
            <a:solidFill>
              <a:srgbClr val="0F7173"/>
            </a:solidFill>
            <a:prstDash val="solid"/>
          </a:ln>
        </p:spPr>
      </p:sp>
      <p:pic>
        <p:nvPicPr>
          <p:cNvPr id="30" name="Block 6 icon" descr="preencoded.png">    </p:cNvPr>
          <p:cNvPicPr>
            <a:picLocks noChangeAspect="1"/>
          </p:cNvPicPr>
          <p:nvPr/>
        </p:nvPicPr>
        <p:blipFill>
          <a:blip r:embed="rId6"/>
          <a:stretch>
            <a:fillRect/>
          </a:stretch>
        </p:blipFill>
        <p:spPr>
          <a:xfrm>
            <a:off x="6343650" y="3097530"/>
            <a:ext cx="251460" cy="251460"/>
          </a:xfrm>
          <a:prstGeom prst="rect">
            <a:avLst/>
          </a:prstGeom>
        </p:spPr>
      </p:pic>
      <p:sp>
        <p:nvSpPr>
          <p:cNvPr id="31" name="Text 23"/>
          <p:cNvSpPr txBox="1"/>
          <p:nvPr/>
        </p:nvSpPr>
        <p:spPr>
          <a:xfrm>
            <a:off x="6858000" y="2971800"/>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Other SOP checks</a:t>
            </a:r>
            <a:endParaRPr lang="en-US" sz="1500" dirty="0"/>
          </a:p>
        </p:txBody>
      </p:sp>
      <p:sp>
        <p:nvSpPr>
          <p:cNvPr id="32" name="Text 24"/>
          <p:cNvSpPr txBox="1"/>
          <p:nvPr/>
        </p:nvSpPr>
        <p:spPr>
          <a:xfrm>
            <a:off x="6217920" y="3566160"/>
            <a:ext cx="2286000" cy="594360"/>
          </a:xfrm>
          <a:prstGeom prst="rect">
            <a:avLst/>
          </a:prstGeom>
          <a:noFill/>
          <a:ln/>
        </p:spPr>
        <p:txBody>
          <a:bodyPr wrap="square" lIns="0" tIns="0" rIns="0" bIns="0" rtlCol="0" anchor="t"/>
          <a:lstStyle/>
          <a:p>
            <a:pPr indent="0" marL="0">
              <a:buNone/>
            </a:pPr>
            <a:r>
              <a:rPr lang="en-US" sz="1150" dirty="0">
                <a:solidFill>
                  <a:schemeClr val="tx1"/>
                </a:solidFill>
              </a:rPr>
              <a:t>Geographic risk (current list), adverse media, linked cases, RFI, evidence attached</a:t>
            </a:r>
            <a:endParaRPr lang="en-US" sz="1150" dirty="0"/>
          </a:p>
        </p:txBody>
      </p:sp>
      <p:sp>
        <p:nvSpPr>
          <p:cNvPr id="33" name="Text 25"/>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400" b="1" dirty="0">
                <a:solidFill>
                  <a:schemeClr val="accent1"/>
                </a:solidFill>
              </a:rPr>
              <a:t>Always finish with: </a:t>
            </a:r>
            <a:pPr indent="0" marL="0">
              <a:buNone/>
            </a:pPr>
            <a:r>
              <a:rPr lang="en-US" sz="1400" dirty="0">
                <a:solidFill>
                  <a:schemeClr val="tx1"/>
                </a:solidFill>
              </a:rPr>
              <a:t>conclusion and rationale, linking these findings to the outcome.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Consistent, not copy and paste</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t"/>
          <a:lstStyle/>
          <a:p>
            <a:pPr indent="0" marL="0">
              <a:buNone/>
            </a:pPr>
            <a:r>
              <a:rPr lang="en-US" sz="1500" i="1" dirty="0">
                <a:solidFill>
                  <a:schemeClr val="accent5"/>
                </a:solidFill>
              </a:rPr>
              <a:t>Like the MAS exercise last week: a common structure, written in your own words about this specific case.</a:t>
            </a:r>
            <a:endParaRPr lang="en-US" sz="1500" dirty="0"/>
          </a:p>
        </p:txBody>
      </p:sp>
      <p:sp>
        <p:nvSpPr>
          <p:cNvPr id="4" name="Do card"/>
          <p:cNvSpPr/>
          <p:nvPr/>
        </p:nvSpPr>
        <p:spPr>
          <a:xfrm>
            <a:off x="457200" y="1645920"/>
            <a:ext cx="397764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5" name="Do circle"/>
          <p:cNvSpPr/>
          <p:nvPr/>
        </p:nvSpPr>
        <p:spPr>
          <a:xfrm>
            <a:off x="685800" y="1828800"/>
            <a:ext cx="502920" cy="502920"/>
          </a:xfrm>
          <a:prstGeom prst="ellipse">
            <a:avLst/>
          </a:prstGeom>
          <a:solidFill>
            <a:srgbClr val="3A7D44"/>
          </a:solidFill>
          <a:ln w="12700">
            <a:solidFill>
              <a:srgbClr val="3A7D44"/>
            </a:solidFill>
            <a:prstDash val="solid"/>
          </a:ln>
        </p:spPr>
      </p:sp>
      <p:pic>
        <p:nvPicPr>
          <p:cNvPr id="6" name="Do icon" descr="preencoded.png">    </p:cNvPr>
          <p:cNvPicPr>
            <a:picLocks noChangeAspect="1"/>
          </p:cNvPicPr>
          <p:nvPr/>
        </p:nvPicPr>
        <p:blipFill>
          <a:blip r:embed="rId1"/>
          <a:stretch>
            <a:fillRect/>
          </a:stretch>
        </p:blipFill>
        <p:spPr>
          <a:xfrm>
            <a:off x="811530" y="1954530"/>
            <a:ext cx="251460" cy="251460"/>
          </a:xfrm>
          <a:prstGeom prst="rect">
            <a:avLst/>
          </a:prstGeom>
        </p:spPr>
      </p:pic>
      <p:sp>
        <p:nvSpPr>
          <p:cNvPr id="7" name="Text 4"/>
          <p:cNvSpPr txBox="1"/>
          <p:nvPr/>
        </p:nvSpPr>
        <p:spPr>
          <a:xfrm>
            <a:off x="1325880" y="1828800"/>
            <a:ext cx="1828800" cy="502920"/>
          </a:xfrm>
          <a:prstGeom prst="rect">
            <a:avLst/>
          </a:prstGeom>
          <a:noFill/>
          <a:ln/>
        </p:spPr>
        <p:txBody>
          <a:bodyPr wrap="square" lIns="0" tIns="0" rIns="0" bIns="0" rtlCol="0" anchor="ctr"/>
          <a:lstStyle/>
          <a:p>
            <a:pPr indent="0" marL="0">
              <a:buNone/>
            </a:pPr>
            <a:r>
              <a:rPr lang="en-US" sz="2000" b="1" dirty="0">
                <a:solidFill>
                  <a:schemeClr val="accent4"/>
                </a:solidFill>
              </a:rPr>
              <a:t>Do</a:t>
            </a:r>
            <a:endParaRPr lang="en-US" sz="2000" dirty="0"/>
          </a:p>
        </p:txBody>
      </p:sp>
      <p:sp>
        <p:nvSpPr>
          <p:cNvPr id="8" name="Text 5"/>
          <p:cNvSpPr txBox="1"/>
          <p:nvPr/>
        </p:nvSpPr>
        <p:spPr>
          <a:xfrm>
            <a:off x="685800" y="2514600"/>
            <a:ext cx="35661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Use the same headings in the same order</a:t>
            </a:r>
            <a:endParaRPr lang="en-US" sz="1400" dirty="0"/>
          </a:p>
          <a:p>
            <a:pPr marL="342900" indent="-342900">
              <a:spcAft>
                <a:spcPts val="600"/>
              </a:spcAft>
              <a:buSzPct val="100000"/>
              <a:buChar char="•"/>
            </a:pPr>
            <a:r>
              <a:rPr lang="en-US" sz="1400" dirty="0">
                <a:solidFill>
                  <a:schemeClr val="tx1"/>
                </a:solidFill>
              </a:rPr>
              <a:t>Write case-specific facts, figures and dates</a:t>
            </a:r>
            <a:endParaRPr lang="en-US" sz="1400" dirty="0"/>
          </a:p>
          <a:p>
            <a:pPr marL="342900" indent="-342900">
              <a:spcAft>
                <a:spcPts val="600"/>
              </a:spcAft>
              <a:buSzPct val="100000"/>
              <a:buChar char="•"/>
            </a:pPr>
            <a:r>
              <a:rPr lang="en-US" sz="1400" dirty="0">
                <a:solidFill>
                  <a:schemeClr val="tx1"/>
                </a:solidFill>
              </a:rPr>
              <a:t>Explain your reasoning in your own words</a:t>
            </a:r>
            <a:endParaRPr lang="en-US" sz="1400" dirty="0"/>
          </a:p>
        </p:txBody>
      </p:sp>
      <p:sp>
        <p:nvSpPr>
          <p:cNvPr id="9" name="Avoid card"/>
          <p:cNvSpPr/>
          <p:nvPr/>
        </p:nvSpPr>
        <p:spPr>
          <a:xfrm>
            <a:off x="4709160" y="1645920"/>
            <a:ext cx="397764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Avoid circle"/>
          <p:cNvSpPr/>
          <p:nvPr/>
        </p:nvSpPr>
        <p:spPr>
          <a:xfrm>
            <a:off x="4937760" y="1828800"/>
            <a:ext cx="502920" cy="502920"/>
          </a:xfrm>
          <a:prstGeom prst="ellipse">
            <a:avLst/>
          </a:prstGeom>
          <a:solidFill>
            <a:srgbClr val="C8553D"/>
          </a:solidFill>
          <a:ln w="12700">
            <a:solidFill>
              <a:srgbClr val="C8553D"/>
            </a:solidFill>
            <a:prstDash val="solid"/>
          </a:ln>
        </p:spPr>
      </p:sp>
      <p:pic>
        <p:nvPicPr>
          <p:cNvPr id="11" name="Avoid icon" descr="preencoded.png">    </p:cNvPr>
          <p:cNvPicPr>
            <a:picLocks noChangeAspect="1"/>
          </p:cNvPicPr>
          <p:nvPr/>
        </p:nvPicPr>
        <p:blipFill>
          <a:blip r:embed="rId2"/>
          <a:stretch>
            <a:fillRect/>
          </a:stretch>
        </p:blipFill>
        <p:spPr>
          <a:xfrm>
            <a:off x="5063490" y="1954530"/>
            <a:ext cx="251460" cy="251460"/>
          </a:xfrm>
          <a:prstGeom prst="rect">
            <a:avLst/>
          </a:prstGeom>
        </p:spPr>
      </p:pic>
      <p:sp>
        <p:nvSpPr>
          <p:cNvPr id="12" name="Text 8"/>
          <p:cNvSpPr txBox="1"/>
          <p:nvPr/>
        </p:nvSpPr>
        <p:spPr>
          <a:xfrm>
            <a:off x="5577840" y="1828800"/>
            <a:ext cx="1828800" cy="502920"/>
          </a:xfrm>
          <a:prstGeom prst="rect">
            <a:avLst/>
          </a:prstGeom>
          <a:noFill/>
          <a:ln/>
        </p:spPr>
        <p:txBody>
          <a:bodyPr wrap="square" lIns="0" tIns="0" rIns="0" bIns="0" rtlCol="0" anchor="ctr"/>
          <a:lstStyle/>
          <a:p>
            <a:pPr indent="0" marL="0">
              <a:buNone/>
            </a:pPr>
            <a:r>
              <a:rPr lang="en-US" sz="2000" b="1" dirty="0">
                <a:solidFill>
                  <a:schemeClr val="accent3"/>
                </a:solidFill>
              </a:rPr>
              <a:t>Avoid</a:t>
            </a:r>
            <a:endParaRPr lang="en-US" sz="2000" dirty="0"/>
          </a:p>
        </p:txBody>
      </p:sp>
      <p:sp>
        <p:nvSpPr>
          <p:cNvPr id="13" name="Text 9"/>
          <p:cNvSpPr txBox="1"/>
          <p:nvPr/>
        </p:nvSpPr>
        <p:spPr>
          <a:xfrm>
            <a:off x="4937760" y="2514600"/>
            <a:ext cx="35661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AI-generated or templated text pasted in unchanged</a:t>
            </a:r>
            <a:endParaRPr lang="en-US" sz="1400" dirty="0"/>
          </a:p>
          <a:p>
            <a:pPr marL="342900" indent="-342900">
              <a:spcAft>
                <a:spcPts val="600"/>
              </a:spcAft>
              <a:buSzPct val="100000"/>
              <a:buChar char="•"/>
            </a:pPr>
            <a:r>
              <a:rPr lang="en-US" sz="1400" dirty="0">
                <a:solidFill>
                  <a:schemeClr val="tx1"/>
                </a:solidFill>
              </a:rPr>
              <a:t>Generic phrases such as "in line with expected activity" with no evidence</a:t>
            </a:r>
            <a:endParaRPr lang="en-US" sz="1400" dirty="0"/>
          </a:p>
          <a:p>
            <a:pPr marL="342900" indent="-342900">
              <a:spcAft>
                <a:spcPts val="600"/>
              </a:spcAft>
              <a:buSzPct val="100000"/>
              <a:buChar char="•"/>
            </a:pPr>
            <a:r>
              <a:rPr lang="en-US" sz="1400" dirty="0">
                <a:solidFill>
                  <a:schemeClr val="tx1"/>
                </a:solidFill>
              </a:rPr>
              <a:t>Identical wording across different cases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Record the check, even if clear</a:t>
            </a:r>
            <a:endParaRPr lang="en-US" sz="2800" dirty="0"/>
          </a:p>
        </p:txBody>
      </p:sp>
      <p:sp>
        <p:nvSpPr>
          <p:cNvPr id="3" name="Weak example"/>
          <p:cNvSpPr/>
          <p:nvPr/>
        </p:nvSpPr>
        <p:spPr>
          <a:xfrm>
            <a:off x="457200" y="1188720"/>
            <a:ext cx="39319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685800" y="1325880"/>
            <a:ext cx="1828800" cy="274320"/>
          </a:xfrm>
          <a:prstGeom prst="rect">
            <a:avLst/>
          </a:prstGeom>
          <a:noFill/>
          <a:ln/>
        </p:spPr>
        <p:txBody>
          <a:bodyPr wrap="square" lIns="0" tIns="0" rIns="0" bIns="0" rtlCol="0" anchor="t"/>
          <a:lstStyle/>
          <a:p>
            <a:pPr indent="0" marL="0">
              <a:buNone/>
            </a:pPr>
            <a:r>
              <a:rPr lang="en-US" sz="1200" b="1" dirty="0">
                <a:solidFill>
                  <a:schemeClr val="accent3"/>
                </a:solidFill>
              </a:rPr>
              <a:t>WEAK</a:t>
            </a:r>
            <a:endParaRPr lang="en-US" sz="1200" dirty="0"/>
          </a:p>
        </p:txBody>
      </p:sp>
      <p:sp>
        <p:nvSpPr>
          <p:cNvPr id="5" name="Text 3"/>
          <p:cNvSpPr txBox="1"/>
          <p:nvPr/>
        </p:nvSpPr>
        <p:spPr>
          <a:xfrm>
            <a:off x="685800" y="1645920"/>
            <a:ext cx="3474720" cy="731520"/>
          </a:xfrm>
          <a:prstGeom prst="rect">
            <a:avLst/>
          </a:prstGeom>
          <a:noFill/>
          <a:ln/>
        </p:spPr>
        <p:txBody>
          <a:bodyPr wrap="square" lIns="0" tIns="0" rIns="0" bIns="0" rtlCol="0" anchor="t"/>
          <a:lstStyle/>
          <a:p>
            <a:pPr indent="0" marL="0">
              <a:buNone/>
            </a:pPr>
            <a:r>
              <a:rPr lang="en-US" sz="1500" i="1" dirty="0">
                <a:solidFill>
                  <a:schemeClr val="tx1"/>
                </a:solidFill>
              </a:rPr>
              <a:t>(Adverse media not mentioned at all)</a:t>
            </a:r>
            <a:endParaRPr lang="en-US" sz="1500" dirty="0"/>
          </a:p>
        </p:txBody>
      </p:sp>
      <p:sp>
        <p:nvSpPr>
          <p:cNvPr id="6" name="Strong example"/>
          <p:cNvSpPr/>
          <p:nvPr/>
        </p:nvSpPr>
        <p:spPr>
          <a:xfrm>
            <a:off x="4754880" y="1188720"/>
            <a:ext cx="393192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7" name="Text 5"/>
          <p:cNvSpPr txBox="1"/>
          <p:nvPr/>
        </p:nvSpPr>
        <p:spPr>
          <a:xfrm>
            <a:off x="4983480" y="1325880"/>
            <a:ext cx="1828800" cy="274320"/>
          </a:xfrm>
          <a:prstGeom prst="rect">
            <a:avLst/>
          </a:prstGeom>
          <a:noFill/>
          <a:ln/>
        </p:spPr>
        <p:txBody>
          <a:bodyPr wrap="square" lIns="0" tIns="0" rIns="0" bIns="0" rtlCol="0" anchor="t"/>
          <a:lstStyle/>
          <a:p>
            <a:pPr indent="0" marL="0">
              <a:buNone/>
            </a:pPr>
            <a:r>
              <a:rPr lang="en-US" sz="1200" b="1" dirty="0">
                <a:solidFill>
                  <a:schemeClr val="accent4"/>
                </a:solidFill>
              </a:rPr>
              <a:t>STRONGER</a:t>
            </a:r>
            <a:endParaRPr lang="en-US" sz="1200" dirty="0"/>
          </a:p>
        </p:txBody>
      </p:sp>
      <p:sp>
        <p:nvSpPr>
          <p:cNvPr id="8" name="Text 6"/>
          <p:cNvSpPr txBox="1"/>
          <p:nvPr/>
        </p:nvSpPr>
        <p:spPr>
          <a:xfrm>
            <a:off x="4983480" y="1645920"/>
            <a:ext cx="3474720" cy="822960"/>
          </a:xfrm>
          <a:prstGeom prst="rect">
            <a:avLst/>
          </a:prstGeom>
          <a:noFill/>
          <a:ln/>
        </p:spPr>
        <p:txBody>
          <a:bodyPr wrap="square" lIns="0" tIns="0" rIns="0" bIns="0" rtlCol="0" anchor="t"/>
          <a:lstStyle/>
          <a:p>
            <a:pPr indent="0" marL="0">
              <a:buNone/>
            </a:pPr>
            <a:r>
              <a:rPr lang="en-US" sz="1500" dirty="0">
                <a:solidFill>
                  <a:schemeClr val="tx1"/>
                </a:solidFill>
              </a:rPr>
              <a:t>"Adverse media screening on the merchant and UBO completed; no relevant results."</a:t>
            </a:r>
            <a:endParaRPr lang="en-US" sz="1500" dirty="0"/>
          </a:p>
        </p:txBody>
      </p:sp>
      <p:sp>
        <p:nvSpPr>
          <p:cNvPr id="9" name="Arrow"/>
          <p:cNvSpPr/>
          <p:nvPr/>
        </p:nvSpPr>
        <p:spPr>
          <a:xfrm>
            <a:off x="4407408" y="1691640"/>
            <a:ext cx="329184" cy="365760"/>
          </a:xfrm>
          <a:prstGeom prst="rightArrow">
            <a:avLst/>
          </a:prstGeom>
          <a:solidFill>
            <a:schemeClr val="accent2"/>
          </a:solidFill>
          <a:ln w="12700">
            <a:solidFill>
              <a:schemeClr val="accent2"/>
            </a:solidFill>
            <a:prstDash val="solid"/>
          </a:ln>
        </p:spPr>
      </p:sp>
      <p:sp>
        <p:nvSpPr>
          <p:cNvPr id="10" name="Tip circle"/>
          <p:cNvSpPr/>
          <p:nvPr/>
        </p:nvSpPr>
        <p:spPr>
          <a:xfrm>
            <a:off x="457200" y="2971800"/>
            <a:ext cx="640080" cy="640080"/>
          </a:xfrm>
          <a:prstGeom prst="ellipse">
            <a:avLst/>
          </a:prstGeom>
          <a:solidFill>
            <a:srgbClr val="F2A541"/>
          </a:solidFill>
          <a:ln w="12700">
            <a:solidFill>
              <a:srgbClr val="F2A541"/>
            </a:solidFill>
            <a:prstDash val="solid"/>
          </a:ln>
        </p:spPr>
      </p:sp>
      <p:pic>
        <p:nvPicPr>
          <p:cNvPr id="11" name="Tip icon" descr="preencoded.png">    </p:cNvPr>
          <p:cNvPicPr>
            <a:picLocks noChangeAspect="1"/>
          </p:cNvPicPr>
          <p:nvPr/>
        </p:nvPicPr>
        <p:blipFill>
          <a:blip r:embed="rId1"/>
          <a:stretch>
            <a:fillRect/>
          </a:stretch>
        </p:blipFill>
        <p:spPr>
          <a:xfrm>
            <a:off x="617220" y="3131820"/>
            <a:ext cx="320040" cy="320040"/>
          </a:xfrm>
          <a:prstGeom prst="rect">
            <a:avLst/>
          </a:prstGeom>
        </p:spPr>
      </p:pic>
      <p:sp>
        <p:nvSpPr>
          <p:cNvPr id="12" name="Text 9"/>
          <p:cNvSpPr txBox="1"/>
          <p:nvPr/>
        </p:nvSpPr>
        <p:spPr>
          <a:xfrm>
            <a:off x="1325880" y="2926080"/>
            <a:ext cx="7315200" cy="365760"/>
          </a:xfrm>
          <a:prstGeom prst="rect">
            <a:avLst/>
          </a:prstGeom>
          <a:noFill/>
          <a:ln/>
        </p:spPr>
        <p:txBody>
          <a:bodyPr wrap="square" lIns="0" tIns="0" rIns="0" bIns="0" rtlCol="0" anchor="t"/>
          <a:lstStyle/>
          <a:p>
            <a:pPr indent="0" marL="0">
              <a:buNone/>
            </a:pPr>
            <a:r>
              <a:rPr lang="en-US" sz="1800" b="1" dirty="0">
                <a:solidFill>
                  <a:schemeClr val="tx2"/>
                </a:solidFill>
              </a:rPr>
              <a:t>One line is enough</a:t>
            </a:r>
            <a:endParaRPr lang="en-US" sz="1800" dirty="0"/>
          </a:p>
        </p:txBody>
      </p:sp>
      <p:sp>
        <p:nvSpPr>
          <p:cNvPr id="13" name="Text 10"/>
          <p:cNvSpPr txBox="1"/>
          <p:nvPr/>
        </p:nvSpPr>
        <p:spPr>
          <a:xfrm>
            <a:off x="1325880" y="3337560"/>
            <a:ext cx="7315200" cy="1005840"/>
          </a:xfrm>
          <a:prstGeom prst="rect">
            <a:avLst/>
          </a:prstGeom>
          <a:noFill/>
          <a:ln/>
        </p:spPr>
        <p:txBody>
          <a:bodyPr wrap="square" lIns="0" tIns="0" rIns="0" bIns="0" rtlCol="0" anchor="t"/>
          <a:lstStyle/>
          <a:p>
            <a:pPr indent="0" marL="0">
              <a:buNone/>
            </a:pPr>
            <a:r>
              <a:rPr lang="en-US" sz="1500" dirty="0">
                <a:solidFill>
                  <a:schemeClr val="tx1"/>
                </a:solidFill>
              </a:rPr>
              <a:t>A short confirmation tells the reader the assessment was performed and what it found. Without it, a reviewer cannot tell the difference between "checked and clear" and "not checked".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2103120" y="1554480"/>
            <a:ext cx="6583680" cy="1097280"/>
          </a:xfrm>
          <a:prstGeom prst="rect">
            <a:avLst/>
          </a:prstGeom>
          <a:noFill/>
          <a:ln/>
        </p:spPr>
        <p:txBody>
          <a:bodyPr wrap="square" lIns="0" tIns="0" rIns="0" bIns="0" rtlCol="0" anchor="b"/>
          <a:lstStyle/>
          <a:p>
            <a:pPr algn="l" indent="0" marL="0">
              <a:buNone/>
            </a:pPr>
            <a:r>
              <a:rPr lang="en-US" sz="3600" b="1" dirty="0">
                <a:solidFill>
                  <a:schemeClr val="bg1"/>
                </a:solidFill>
              </a:rPr>
              <a:t>Answering the "so what?"</a:t>
            </a:r>
            <a:endParaRPr lang="en-US" sz="3600" dirty="0"/>
          </a:p>
        </p:txBody>
      </p:sp>
      <p:sp>
        <p:nvSpPr>
          <p:cNvPr id="3" name="Text 0"/>
          <p:cNvSpPr/>
          <p:nvPr>
            <p:ph idx="101" type="body" hasCustomPrompt="1"/>
          </p:nvPr>
        </p:nvSpPr>
        <p:spPr>
          <a:xfrm>
            <a:off x="2103120" y="2743200"/>
            <a:ext cx="6583680" cy="1097280"/>
          </a:xfrm>
          <a:prstGeom prst="rect">
            <a:avLst/>
          </a:prstGeom>
          <a:noFill/>
          <a:ln/>
        </p:spPr>
        <p:txBody>
          <a:bodyPr wrap="square" lIns="0" tIns="0" rIns="0" bIns="0" rtlCol="0" anchor="t"/>
          <a:lstStyle/>
          <a:p>
            <a:pPr indent="0" marL="0">
              <a:buNone/>
            </a:pPr>
            <a:r>
              <a:rPr lang="en-US" sz="1600" dirty="0">
                <a:solidFill>
                  <a:schemeClr val="accent6"/>
                </a:solidFill>
              </a:rPr>
              <a:t>Treat every alert as an investigation, not a checklist</a:t>
            </a:r>
            <a:endParaRPr lang="en-US" sz="1600" dirty="0"/>
          </a:p>
        </p:txBody>
      </p:sp>
      <p:sp>
        <p:nvSpPr>
          <p:cNvPr id="4" name="Section 2 circle"/>
          <p:cNvSpPr/>
          <p:nvPr/>
        </p:nvSpPr>
        <p:spPr>
          <a:xfrm>
            <a:off x="548640" y="1737360"/>
            <a:ext cx="1188720" cy="1188720"/>
          </a:xfrm>
          <a:prstGeom prst="ellipse">
            <a:avLst/>
          </a:prstGeom>
          <a:solidFill>
            <a:srgbClr val="F2A541"/>
          </a:solidFill>
          <a:ln w="12700">
            <a:solidFill>
              <a:srgbClr val="F2A541"/>
            </a:solidFill>
            <a:prstDash val="solid"/>
          </a:ln>
        </p:spPr>
      </p:sp>
      <p:pic>
        <p:nvPicPr>
          <p:cNvPr id="5" name="Section 2 icon" descr="preencoded.png">    </p:cNvPr>
          <p:cNvPicPr>
            <a:picLocks noChangeAspect="1"/>
          </p:cNvPicPr>
          <p:nvPr/>
        </p:nvPicPr>
        <p:blipFill>
          <a:blip r:embed="rId1"/>
          <a:stretch>
            <a:fillRect/>
          </a:stretch>
        </p:blipFill>
        <p:spPr>
          <a:xfrm>
            <a:off x="845820" y="2034540"/>
            <a:ext cx="594360" cy="594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Connecting the dots</a:t>
            </a:r>
            <a:endParaRPr lang="en-US" sz="2800" dirty="0"/>
          </a:p>
        </p:txBody>
      </p:sp>
      <p:sp>
        <p:nvSpPr>
          <p:cNvPr id="3" name="Step 1"/>
          <p:cNvSpPr/>
          <p:nvPr/>
        </p:nvSpPr>
        <p:spPr>
          <a:xfrm>
            <a:off x="457200" y="1234440"/>
            <a:ext cx="25146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Step 1 circle"/>
          <p:cNvSpPr/>
          <p:nvPr/>
        </p:nvSpPr>
        <p:spPr>
          <a:xfrm>
            <a:off x="685800" y="1417320"/>
            <a:ext cx="594360" cy="594360"/>
          </a:xfrm>
          <a:prstGeom prst="ellipse">
            <a:avLst/>
          </a:prstGeom>
          <a:solidFill>
            <a:srgbClr val="0F7173"/>
          </a:solidFill>
          <a:ln w="12700">
            <a:solidFill>
              <a:srgbClr val="0F7173"/>
            </a:solidFill>
            <a:prstDash val="solid"/>
          </a:ln>
        </p:spPr>
      </p:sp>
      <p:pic>
        <p:nvPicPr>
          <p:cNvPr id="5" name="Step 1 icon" descr="preencoded.png">    </p:cNvPr>
          <p:cNvPicPr>
            <a:picLocks noChangeAspect="1"/>
          </p:cNvPicPr>
          <p:nvPr/>
        </p:nvPicPr>
        <p:blipFill>
          <a:blip r:embed="rId1"/>
          <a:stretch>
            <a:fillRect/>
          </a:stretch>
        </p:blipFill>
        <p:spPr>
          <a:xfrm>
            <a:off x="834390" y="1565910"/>
            <a:ext cx="297180" cy="297180"/>
          </a:xfrm>
          <a:prstGeom prst="rect">
            <a:avLst/>
          </a:prstGeom>
        </p:spPr>
      </p:pic>
      <p:sp>
        <p:nvSpPr>
          <p:cNvPr id="6" name="Text 3"/>
          <p:cNvSpPr txBox="1"/>
          <p:nvPr/>
        </p:nvSpPr>
        <p:spPr>
          <a:xfrm>
            <a:off x="685800" y="2148840"/>
            <a:ext cx="2103120" cy="411480"/>
          </a:xfrm>
          <a:prstGeom prst="rect">
            <a:avLst/>
          </a:prstGeom>
          <a:noFill/>
          <a:ln/>
        </p:spPr>
        <p:txBody>
          <a:bodyPr wrap="square" lIns="0" tIns="0" rIns="0" bIns="0" rtlCol="0" anchor="t"/>
          <a:lstStyle/>
          <a:p>
            <a:pPr indent="0" marL="0">
              <a:buNone/>
            </a:pPr>
            <a:r>
              <a:rPr lang="en-US" sz="1900" b="1" dirty="0">
                <a:solidFill>
                  <a:schemeClr val="tx2"/>
                </a:solidFill>
              </a:rPr>
              <a:t>Fact</a:t>
            </a:r>
            <a:endParaRPr lang="en-US" sz="1900" dirty="0"/>
          </a:p>
        </p:txBody>
      </p:sp>
      <p:sp>
        <p:nvSpPr>
          <p:cNvPr id="7" name="Text 4"/>
          <p:cNvSpPr txBox="1"/>
          <p:nvPr/>
        </p:nvSpPr>
        <p:spPr>
          <a:xfrm>
            <a:off x="685800" y="2606040"/>
            <a:ext cx="2103120" cy="685800"/>
          </a:xfrm>
          <a:prstGeom prst="rect">
            <a:avLst/>
          </a:prstGeom>
          <a:noFill/>
          <a:ln/>
        </p:spPr>
        <p:txBody>
          <a:bodyPr wrap="square" lIns="0" tIns="0" rIns="0" bIns="0" rtlCol="0" anchor="t"/>
          <a:lstStyle/>
          <a:p>
            <a:pPr indent="0" marL="0">
              <a:buNone/>
            </a:pPr>
            <a:r>
              <a:rPr lang="en-US" sz="1400" dirty="0">
                <a:solidFill>
                  <a:schemeClr val="tx1"/>
                </a:solidFill>
              </a:rPr>
              <a:t>What did I find?</a:t>
            </a:r>
            <a:endParaRPr lang="en-US" sz="1400" dirty="0"/>
          </a:p>
        </p:txBody>
      </p:sp>
      <p:sp>
        <p:nvSpPr>
          <p:cNvPr id="8" name="Flow arrow 1"/>
          <p:cNvSpPr/>
          <p:nvPr/>
        </p:nvSpPr>
        <p:spPr>
          <a:xfrm>
            <a:off x="3017520" y="2103120"/>
            <a:ext cx="274320" cy="365760"/>
          </a:xfrm>
          <a:prstGeom prst="rightArrow">
            <a:avLst/>
          </a:prstGeom>
          <a:solidFill>
            <a:schemeClr val="accent2"/>
          </a:solidFill>
          <a:ln w="12700">
            <a:solidFill>
              <a:schemeClr val="accent2"/>
            </a:solidFill>
            <a:prstDash val="solid"/>
          </a:ln>
        </p:spPr>
      </p:sp>
      <p:sp>
        <p:nvSpPr>
          <p:cNvPr id="9" name="Step 2"/>
          <p:cNvSpPr/>
          <p:nvPr/>
        </p:nvSpPr>
        <p:spPr>
          <a:xfrm>
            <a:off x="3337560" y="1234440"/>
            <a:ext cx="2514600" cy="2103120"/>
          </a:xfrm>
          <a:prstGeom prst="roundRect">
            <a:avLst>
              <a:gd name="adj" fmla="val 3478"/>
            </a:avLst>
          </a:prstGeom>
          <a:solidFill>
            <a:schemeClr val="tx2"/>
          </a:solidFill>
          <a:ln w="12700">
            <a:solidFill>
              <a:schemeClr val="tx2"/>
            </a:solidFill>
            <a:prstDash val="solid"/>
          </a:ln>
          <a:effectLst>
            <a:outerShdw sx="100000" sy="100000" kx="0" ky="0" algn="bl" rotWithShape="0" blurRad="50800" dist="19050" dir="5400000">
              <a:srgbClr val="000000">
                <a:alpha val="12000"/>
              </a:srgbClr>
            </a:outerShdw>
          </a:effectLst>
        </p:spPr>
      </p:sp>
      <p:sp>
        <p:nvSpPr>
          <p:cNvPr id="10" name="Step 2 circle"/>
          <p:cNvSpPr/>
          <p:nvPr/>
        </p:nvSpPr>
        <p:spPr>
          <a:xfrm>
            <a:off x="3566160" y="1417320"/>
            <a:ext cx="594360" cy="594360"/>
          </a:xfrm>
          <a:prstGeom prst="ellipse">
            <a:avLst/>
          </a:prstGeom>
          <a:solidFill>
            <a:srgbClr val="F2A541"/>
          </a:solidFill>
          <a:ln w="12700">
            <a:solidFill>
              <a:srgbClr val="F2A541"/>
            </a:solidFill>
            <a:prstDash val="solid"/>
          </a:ln>
        </p:spPr>
      </p:sp>
      <p:pic>
        <p:nvPicPr>
          <p:cNvPr id="11" name="Step 2 icon" descr="preencoded.png">    </p:cNvPr>
          <p:cNvPicPr>
            <a:picLocks noChangeAspect="1"/>
          </p:cNvPicPr>
          <p:nvPr/>
        </p:nvPicPr>
        <p:blipFill>
          <a:blip r:embed="rId2"/>
          <a:stretch>
            <a:fillRect/>
          </a:stretch>
        </p:blipFill>
        <p:spPr>
          <a:xfrm>
            <a:off x="3714750" y="1565910"/>
            <a:ext cx="297180" cy="297180"/>
          </a:xfrm>
          <a:prstGeom prst="rect">
            <a:avLst/>
          </a:prstGeom>
        </p:spPr>
      </p:pic>
      <p:sp>
        <p:nvSpPr>
          <p:cNvPr id="12" name="Text 8"/>
          <p:cNvSpPr txBox="1"/>
          <p:nvPr/>
        </p:nvSpPr>
        <p:spPr>
          <a:xfrm>
            <a:off x="3566160" y="2148840"/>
            <a:ext cx="2103120" cy="411480"/>
          </a:xfrm>
          <a:prstGeom prst="rect">
            <a:avLst/>
          </a:prstGeom>
          <a:noFill/>
          <a:ln/>
        </p:spPr>
        <p:txBody>
          <a:bodyPr wrap="square" lIns="0" tIns="0" rIns="0" bIns="0" rtlCol="0" anchor="t"/>
          <a:lstStyle/>
          <a:p>
            <a:pPr indent="0" marL="0">
              <a:buNone/>
            </a:pPr>
            <a:r>
              <a:rPr lang="en-US" sz="1900" b="1" dirty="0">
                <a:solidFill>
                  <a:schemeClr val="bg1"/>
                </a:solidFill>
              </a:rPr>
              <a:t>Significance</a:t>
            </a:r>
            <a:endParaRPr lang="en-US" sz="1900" dirty="0"/>
          </a:p>
        </p:txBody>
      </p:sp>
      <p:sp>
        <p:nvSpPr>
          <p:cNvPr id="13" name="Text 9"/>
          <p:cNvSpPr txBox="1"/>
          <p:nvPr/>
        </p:nvSpPr>
        <p:spPr>
          <a:xfrm>
            <a:off x="3566160" y="2606040"/>
            <a:ext cx="2103120" cy="685800"/>
          </a:xfrm>
          <a:prstGeom prst="rect">
            <a:avLst/>
          </a:prstGeom>
          <a:noFill/>
          <a:ln/>
        </p:spPr>
        <p:txBody>
          <a:bodyPr wrap="square" lIns="0" tIns="0" rIns="0" bIns="0" rtlCol="0" anchor="t"/>
          <a:lstStyle/>
          <a:p>
            <a:pPr indent="0" marL="0">
              <a:buNone/>
            </a:pPr>
            <a:r>
              <a:rPr lang="en-US" sz="1400" dirty="0">
                <a:solidFill>
                  <a:schemeClr val="bg1"/>
                </a:solidFill>
              </a:rPr>
              <a:t>What risk does it raise or reduce?</a:t>
            </a:r>
            <a:endParaRPr lang="en-US" sz="1400" dirty="0"/>
          </a:p>
        </p:txBody>
      </p:sp>
      <p:sp>
        <p:nvSpPr>
          <p:cNvPr id="14" name="Flow arrow 2"/>
          <p:cNvSpPr/>
          <p:nvPr/>
        </p:nvSpPr>
        <p:spPr>
          <a:xfrm>
            <a:off x="5897880" y="2103120"/>
            <a:ext cx="274320" cy="365760"/>
          </a:xfrm>
          <a:prstGeom prst="rightArrow">
            <a:avLst/>
          </a:prstGeom>
          <a:solidFill>
            <a:schemeClr val="accent2"/>
          </a:solidFill>
          <a:ln w="12700">
            <a:solidFill>
              <a:schemeClr val="accent2"/>
            </a:solidFill>
            <a:prstDash val="solid"/>
          </a:ln>
        </p:spPr>
      </p:sp>
      <p:sp>
        <p:nvSpPr>
          <p:cNvPr id="15" name="Step 3"/>
          <p:cNvSpPr/>
          <p:nvPr/>
        </p:nvSpPr>
        <p:spPr>
          <a:xfrm>
            <a:off x="6217920" y="1234440"/>
            <a:ext cx="251460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6" name="Step 3 circle"/>
          <p:cNvSpPr/>
          <p:nvPr/>
        </p:nvSpPr>
        <p:spPr>
          <a:xfrm>
            <a:off x="6446520" y="1417320"/>
            <a:ext cx="594360" cy="594360"/>
          </a:xfrm>
          <a:prstGeom prst="ellipse">
            <a:avLst/>
          </a:prstGeom>
          <a:solidFill>
            <a:srgbClr val="0F7173"/>
          </a:solidFill>
          <a:ln w="12700">
            <a:solidFill>
              <a:srgbClr val="0F7173"/>
            </a:solidFill>
            <a:prstDash val="solid"/>
          </a:ln>
        </p:spPr>
      </p:sp>
      <p:pic>
        <p:nvPicPr>
          <p:cNvPr id="17" name="Step 3 icon" descr="preencoded.png">    </p:cNvPr>
          <p:cNvPicPr>
            <a:picLocks noChangeAspect="1"/>
          </p:cNvPicPr>
          <p:nvPr/>
        </p:nvPicPr>
        <p:blipFill>
          <a:blip r:embed="rId3"/>
          <a:stretch>
            <a:fillRect/>
          </a:stretch>
        </p:blipFill>
        <p:spPr>
          <a:xfrm>
            <a:off x="6595110" y="1565910"/>
            <a:ext cx="297180" cy="297180"/>
          </a:xfrm>
          <a:prstGeom prst="rect">
            <a:avLst/>
          </a:prstGeom>
        </p:spPr>
      </p:pic>
      <p:sp>
        <p:nvSpPr>
          <p:cNvPr id="18" name="Text 13"/>
          <p:cNvSpPr txBox="1"/>
          <p:nvPr/>
        </p:nvSpPr>
        <p:spPr>
          <a:xfrm>
            <a:off x="6446520" y="2148840"/>
            <a:ext cx="2103120" cy="411480"/>
          </a:xfrm>
          <a:prstGeom prst="rect">
            <a:avLst/>
          </a:prstGeom>
          <a:noFill/>
          <a:ln/>
        </p:spPr>
        <p:txBody>
          <a:bodyPr wrap="square" lIns="0" tIns="0" rIns="0" bIns="0" rtlCol="0" anchor="t"/>
          <a:lstStyle/>
          <a:p>
            <a:pPr indent="0" marL="0">
              <a:buNone/>
            </a:pPr>
            <a:r>
              <a:rPr lang="en-US" sz="1900" b="1" dirty="0">
                <a:solidFill>
                  <a:schemeClr val="tx2"/>
                </a:solidFill>
              </a:rPr>
              <a:t>Conclusion</a:t>
            </a:r>
            <a:endParaRPr lang="en-US" sz="1900" dirty="0"/>
          </a:p>
        </p:txBody>
      </p:sp>
      <p:sp>
        <p:nvSpPr>
          <p:cNvPr id="19" name="Text 14"/>
          <p:cNvSpPr txBox="1"/>
          <p:nvPr/>
        </p:nvSpPr>
        <p:spPr>
          <a:xfrm>
            <a:off x="6446520" y="2606040"/>
            <a:ext cx="2103120" cy="685800"/>
          </a:xfrm>
          <a:prstGeom prst="rect">
            <a:avLst/>
          </a:prstGeom>
          <a:noFill/>
          <a:ln/>
        </p:spPr>
        <p:txBody>
          <a:bodyPr wrap="square" lIns="0" tIns="0" rIns="0" bIns="0" rtlCol="0" anchor="t"/>
          <a:lstStyle/>
          <a:p>
            <a:pPr indent="0" marL="0">
              <a:buNone/>
            </a:pPr>
            <a:r>
              <a:rPr lang="en-US" sz="1400" dirty="0">
                <a:solidFill>
                  <a:schemeClr val="tx1"/>
                </a:solidFill>
              </a:rPr>
              <a:t>How does it affect the outcome: false positive or escalate?</a:t>
            </a:r>
            <a:endParaRPr lang="en-US" sz="1400" dirty="0"/>
          </a:p>
        </p:txBody>
      </p:sp>
      <p:sp>
        <p:nvSpPr>
          <p:cNvPr id="20" name="Text 15"/>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1600" i="1" dirty="0">
                <a:solidFill>
                  <a:schemeClr val="accent1"/>
                </a:solidFill>
              </a:rPr>
              <a:t>Most notes stop at the fact. The significance step is where the investigation happens, and it is what a regulator is looking for.</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From statement to assessment</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194560"/>
                <a:gridCol w="2377440"/>
                <a:gridCol w="3657600"/>
              </a:tblGrid>
              <a:tr h="365760">
                <a:tc>
                  <a:txBody>
                    <a:bodyPr/>
                    <a:lstStyle/>
                    <a:p>
                      <a:pPr indent="0" marL="0">
                        <a:buNone/>
                      </a:pPr>
                      <a:r>
                        <a:rPr lang="en-US" sz="1300" b="1" dirty="0">
                          <a:solidFill>
                            <a:schemeClr val="bg1"/>
                          </a:solidFill>
                        </a:rPr>
                        <a:t>What the note says</a:t>
                      </a:r>
                      <a:endParaRPr lang="en-US" sz="13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The "so what" question</a:t>
                      </a:r>
                      <a:endParaRPr lang="en-US" sz="13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A stronger note adds…</a:t>
                      </a:r>
                      <a:endParaRPr lang="en-US" sz="13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960120">
                <a:tc>
                  <a:txBody>
                    <a:bodyPr/>
                    <a:lstStyle/>
                    <a:p>
                      <a:pPr indent="0" marL="0">
                        <a:buNone/>
                      </a:pPr>
                      <a:r>
                        <a:rPr lang="en-US" sz="1200" i="1" dirty="0">
                          <a:solidFill>
                            <a:schemeClr val="tx1"/>
                          </a:solidFill>
                        </a:rPr>
                        <a:t>"Merchant is in the gaming industry."</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What risk factors come with gaming, and how did we consider them?</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Higher-risk sector (e.g. chargebacks, mule or bonus abuse, licensing). Licence checked; activity reviewed against these risks and none identified.</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60120">
                <a:tc>
                  <a:txBody>
                    <a:bodyPr/>
                    <a:lstStyle/>
                    <a:p>
                      <a:pPr indent="0" marL="0">
                        <a:buNone/>
                      </a:pPr>
                      <a:r>
                        <a:rPr lang="en-US" sz="1200" i="1" dirty="0">
                          <a:solidFill>
                            <a:schemeClr val="tx1"/>
                          </a:solidFill>
                        </a:rPr>
                        <a:t>"This merchant has been flagged before."</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Does that history change our current assessment?</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Previous alert, outcome and reason. Whether the current pattern is the same, new or escalating, and the impact on today's decision.</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60120">
                <a:tc>
                  <a:txBody>
                    <a:bodyPr/>
                    <a:lstStyle/>
                    <a:p>
                      <a:pPr indent="0" marL="0">
                        <a:buNone/>
                      </a:pPr>
                      <a:r>
                        <a:rPr lang="en-US" sz="1200" i="1" dirty="0">
                          <a:solidFill>
                            <a:schemeClr val="tx1"/>
                          </a:solidFill>
                        </a:rPr>
                        <a:t>"The majority of transactions are debit/credit."</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Why does this detail matter to the case?</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What it tells us (e.g. card-present vs CNP, issuing countries, prepaid exposure) and whether it is consistent with the stated business model.</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Phrases that regularly need tightening</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572000"/>
                <a:gridCol w="3657600"/>
              </a:tblGrid>
              <a:tr h="347472">
                <a:tc>
                  <a:txBody>
                    <a:bodyPr/>
                    <a:lstStyle/>
                    <a:p>
                      <a:pPr indent="0" marL="0">
                        <a:buNone/>
                      </a:pPr>
                      <a:r>
                        <a:rPr lang="en-US" sz="1300" b="1" dirty="0">
                          <a:solidFill>
                            <a:schemeClr val="bg1"/>
                          </a:solidFill>
                        </a:rPr>
                        <a:t>We often see…</a:t>
                      </a:r>
                      <a:endParaRPr lang="en-US" sz="13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bg1"/>
                          </a:solidFill>
                        </a:rPr>
                        <a:t>Instead…</a:t>
                      </a:r>
                      <a:endParaRPr lang="en-US" sz="13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731520">
                <a:tc>
                  <a:txBody>
                    <a:bodyPr/>
                    <a:lstStyle/>
                    <a:p>
                      <a:pPr indent="0" marL="0">
                        <a:buNone/>
                      </a:pPr>
                      <a:r>
                        <a:rPr lang="en-US" sz="1200" i="1" dirty="0">
                          <a:solidFill>
                            <a:schemeClr val="tx1"/>
                          </a:solidFill>
                        </a:rPr>
                        <a:t>"The recipient might have invested in cryptocurrencies… and withdrawn his accumulated profits."</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Speculative. Corroborate it with the cardholder's pay-in activity.</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731520">
                <a:tc>
                  <a:txBody>
                    <a:bodyPr/>
                    <a:lstStyle/>
                    <a:p>
                      <a:pPr indent="0" marL="0">
                        <a:buNone/>
                      </a:pPr>
                      <a:r>
                        <a:rPr lang="en-US" sz="1200" i="1" dirty="0">
                          <a:solidFill>
                            <a:schemeClr val="tx1"/>
                          </a:solidFill>
                        </a:rPr>
                        <a:t>"Might have invested in sports, live casino, racing… and obtained profits."</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Use "plausible" or "reasonable" and tie it to what the merchant does and the account activity.</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731520">
                <a:tc>
                  <a:txBody>
                    <a:bodyPr/>
                    <a:lstStyle/>
                    <a:p>
                      <a:pPr indent="0" marL="0">
                        <a:buNone/>
                      </a:pPr>
                      <a:r>
                        <a:rPr lang="en-US" sz="1200" i="1" dirty="0">
                          <a:solidFill>
                            <a:schemeClr val="tx1"/>
                          </a:solidFill>
                        </a:rPr>
                        <a:t>"The velocity of transactions is spread out between Months, Days, Minutes."</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Says nothing about the risk. Remove it, or say what the pattern shows.</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731520">
                <a:tc>
                  <a:txBody>
                    <a:bodyPr/>
                    <a:lstStyle/>
                    <a:p>
                      <a:pPr indent="0" marL="0">
                        <a:buNone/>
                      </a:pPr>
                      <a:r>
                        <a:rPr lang="en-US" sz="1200" i="1" dirty="0">
                          <a:solidFill>
                            <a:schemeClr val="tx1"/>
                          </a:solidFill>
                        </a:rPr>
                        <a:t>"No evidence of structuring or smurfing patterns was identified."</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Use it only where structuring is a relevant typology for the alert.</a:t>
                      </a:r>
                      <a:endParaRPr lang="en-US" sz="1200" dirty="0"/>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Factual observations, neutral opinions</a:t>
            </a:r>
            <a:endParaRPr lang="en-US" sz="2800" dirty="0"/>
          </a:p>
        </p:txBody>
      </p:sp>
      <p:sp>
        <p:nvSpPr>
          <p:cNvPr id="3" name="Principle panel"/>
          <p:cNvSpPr/>
          <p:nvPr/>
        </p:nvSpPr>
        <p:spPr>
          <a:xfrm>
            <a:off x="457200" y="1097280"/>
            <a:ext cx="8229600" cy="777240"/>
          </a:xfrm>
          <a:prstGeom prst="roundRect">
            <a:avLst>
              <a:gd name="adj" fmla="val 9412"/>
            </a:avLst>
          </a:prstGeom>
          <a:solidFill>
            <a:schemeClr val="tx2"/>
          </a:solidFill>
          <a:ln w="12700">
            <a:solidFill>
              <a:schemeClr val="tx2"/>
            </a:solidFill>
            <a:prstDash val="solid"/>
          </a:ln>
        </p:spPr>
      </p:sp>
      <p:sp>
        <p:nvSpPr>
          <p:cNvPr id="4" name="Principle circle"/>
          <p:cNvSpPr/>
          <p:nvPr/>
        </p:nvSpPr>
        <p:spPr>
          <a:xfrm>
            <a:off x="685800" y="1207008"/>
            <a:ext cx="548640" cy="548640"/>
          </a:xfrm>
          <a:prstGeom prst="ellipse">
            <a:avLst/>
          </a:prstGeom>
          <a:solidFill>
            <a:srgbClr val="F2A541"/>
          </a:solidFill>
          <a:ln w="12700">
            <a:solidFill>
              <a:srgbClr val="F2A541"/>
            </a:solidFill>
            <a:prstDash val="solid"/>
          </a:ln>
        </p:spPr>
      </p:sp>
      <p:pic>
        <p:nvPicPr>
          <p:cNvPr id="5" name="Principle icon" descr="preencoded.png">    </p:cNvPr>
          <p:cNvPicPr>
            <a:picLocks noChangeAspect="1"/>
          </p:cNvPicPr>
          <p:nvPr/>
        </p:nvPicPr>
        <p:blipFill>
          <a:blip r:embed="rId1"/>
          <a:stretch>
            <a:fillRect/>
          </a:stretch>
        </p:blipFill>
        <p:spPr>
          <a:xfrm>
            <a:off x="822960" y="1344168"/>
            <a:ext cx="274320" cy="274320"/>
          </a:xfrm>
          <a:prstGeom prst="rect">
            <a:avLst/>
          </a:prstGeom>
        </p:spPr>
      </p:pic>
      <p:sp>
        <p:nvSpPr>
          <p:cNvPr id="6" name="Text 3"/>
          <p:cNvSpPr txBox="1"/>
          <p:nvPr/>
        </p:nvSpPr>
        <p:spPr>
          <a:xfrm>
            <a:off x="1463040" y="1143000"/>
            <a:ext cx="7040880" cy="685800"/>
          </a:xfrm>
          <a:prstGeom prst="rect">
            <a:avLst/>
          </a:prstGeom>
          <a:noFill/>
          <a:ln/>
        </p:spPr>
        <p:txBody>
          <a:bodyPr wrap="square" lIns="0" tIns="0" rIns="0" bIns="0" rtlCol="0" anchor="ctr"/>
          <a:lstStyle/>
          <a:p>
            <a:pPr indent="0" marL="0">
              <a:buNone/>
            </a:pPr>
            <a:r>
              <a:rPr lang="en-US" sz="1600" b="1" dirty="0">
                <a:solidFill>
                  <a:schemeClr val="bg1"/>
                </a:solidFill>
              </a:rPr>
              <a:t>Remove superlatives from all write-ups. Be factual in observations and use a neutral tone in opinion.</a:t>
            </a:r>
            <a:endParaRPr lang="en-US" sz="1600" dirty="0"/>
          </a:p>
        </p:txBody>
      </p:sp>
      <p:sp>
        <p:nvSpPr>
          <p:cNvPr id="7" name="Text 4"/>
          <p:cNvSpPr txBox="1"/>
          <p:nvPr/>
        </p:nvSpPr>
        <p:spPr>
          <a:xfrm>
            <a:off x="457200" y="2057400"/>
            <a:ext cx="3931920" cy="320040"/>
          </a:xfrm>
          <a:prstGeom prst="rect">
            <a:avLst/>
          </a:prstGeom>
          <a:noFill/>
          <a:ln/>
        </p:spPr>
        <p:txBody>
          <a:bodyPr wrap="square" lIns="0" tIns="0" rIns="0" bIns="0" rtlCol="0" anchor="t"/>
          <a:lstStyle/>
          <a:p>
            <a:pPr indent="0" marL="0">
              <a:buNone/>
            </a:pPr>
            <a:r>
              <a:rPr lang="en-US" sz="1500" b="1" dirty="0">
                <a:solidFill>
                  <a:schemeClr val="accent3"/>
                </a:solidFill>
              </a:rPr>
              <a:t>Avoid</a:t>
            </a:r>
            <a:endParaRPr lang="en-US" sz="1500" dirty="0"/>
          </a:p>
        </p:txBody>
      </p:sp>
      <p:sp>
        <p:nvSpPr>
          <p:cNvPr id="8" name="Text 5"/>
          <p:cNvSpPr txBox="1"/>
          <p:nvPr/>
        </p:nvSpPr>
        <p:spPr>
          <a:xfrm>
            <a:off x="4754880" y="2057400"/>
            <a:ext cx="3931920" cy="320040"/>
          </a:xfrm>
          <a:prstGeom prst="rect">
            <a:avLst/>
          </a:prstGeom>
          <a:noFill/>
          <a:ln/>
        </p:spPr>
        <p:txBody>
          <a:bodyPr wrap="square" lIns="0" tIns="0" rIns="0" bIns="0" rtlCol="0" anchor="t"/>
          <a:lstStyle/>
          <a:p>
            <a:pPr indent="0" marL="0">
              <a:buNone/>
            </a:pPr>
            <a:r>
              <a:rPr lang="en-US" sz="1500" b="1" dirty="0">
                <a:solidFill>
                  <a:schemeClr val="accent4"/>
                </a:solidFill>
              </a:rPr>
              <a:t>Prefer</a:t>
            </a:r>
            <a:endParaRPr lang="en-US" sz="1500" dirty="0"/>
          </a:p>
        </p:txBody>
      </p:sp>
      <p:sp>
        <p:nvSpPr>
          <p:cNvPr id="9" name="Avoid 1"/>
          <p:cNvSpPr/>
          <p:nvPr/>
        </p:nvSpPr>
        <p:spPr>
          <a:xfrm>
            <a:off x="457200" y="242316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Text 7"/>
          <p:cNvSpPr txBox="1"/>
          <p:nvPr/>
        </p:nvSpPr>
        <p:spPr>
          <a:xfrm>
            <a:off x="594360" y="2423160"/>
            <a:ext cx="3703320" cy="457200"/>
          </a:xfrm>
          <a:prstGeom prst="rect">
            <a:avLst/>
          </a:prstGeom>
          <a:noFill/>
          <a:ln/>
        </p:spPr>
        <p:txBody>
          <a:bodyPr wrap="square" lIns="0" tIns="0" rIns="0" bIns="0" rtlCol="0" anchor="ctr"/>
          <a:lstStyle/>
          <a:p>
            <a:pPr indent="0" marL="0">
              <a:buNone/>
            </a:pPr>
            <a:r>
              <a:rPr lang="en-US" sz="1200" i="1" dirty="0">
                <a:solidFill>
                  <a:schemeClr val="tx1"/>
                </a:solidFill>
              </a:rPr>
              <a:t>"Following a detailed analysis…"</a:t>
            </a:r>
            <a:endParaRPr lang="en-US" sz="1200" dirty="0"/>
          </a:p>
        </p:txBody>
      </p:sp>
      <p:sp>
        <p:nvSpPr>
          <p:cNvPr id="11" name="Lang arrow 1"/>
          <p:cNvSpPr/>
          <p:nvPr/>
        </p:nvSpPr>
        <p:spPr>
          <a:xfrm>
            <a:off x="4434840" y="2514600"/>
            <a:ext cx="274320" cy="274320"/>
          </a:xfrm>
          <a:prstGeom prst="rightArrow">
            <a:avLst/>
          </a:prstGeom>
          <a:solidFill>
            <a:schemeClr val="accent2"/>
          </a:solidFill>
          <a:ln w="12700">
            <a:solidFill>
              <a:schemeClr val="accent2"/>
            </a:solidFill>
            <a:prstDash val="solid"/>
          </a:ln>
        </p:spPr>
      </p:sp>
      <p:sp>
        <p:nvSpPr>
          <p:cNvPr id="12" name="Prefer 1"/>
          <p:cNvSpPr/>
          <p:nvPr/>
        </p:nvSpPr>
        <p:spPr>
          <a:xfrm>
            <a:off x="4754880" y="242316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3" name="Text 10"/>
          <p:cNvSpPr txBox="1"/>
          <p:nvPr/>
        </p:nvSpPr>
        <p:spPr>
          <a:xfrm>
            <a:off x="4892040" y="2423160"/>
            <a:ext cx="3703320" cy="457200"/>
          </a:xfrm>
          <a:prstGeom prst="rect">
            <a:avLst/>
          </a:prstGeom>
          <a:noFill/>
          <a:ln/>
        </p:spPr>
        <p:txBody>
          <a:bodyPr wrap="square" lIns="0" tIns="0" rIns="0" bIns="0" rtlCol="0" anchor="ctr"/>
          <a:lstStyle/>
          <a:p>
            <a:pPr indent="0" marL="0">
              <a:buNone/>
            </a:pPr>
            <a:r>
              <a:rPr lang="en-US" sz="1200" dirty="0">
                <a:solidFill>
                  <a:schemeClr val="tx1"/>
                </a:solidFill>
              </a:rPr>
              <a:t>"Analysis of the [n] card fingerprints in the alerted month…"</a:t>
            </a:r>
            <a:endParaRPr lang="en-US" sz="1200" dirty="0"/>
          </a:p>
        </p:txBody>
      </p:sp>
      <p:sp>
        <p:nvSpPr>
          <p:cNvPr id="14" name="Avoid 2"/>
          <p:cNvSpPr/>
          <p:nvPr/>
        </p:nvSpPr>
        <p:spPr>
          <a:xfrm>
            <a:off x="457200" y="297180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5" name="Text 12"/>
          <p:cNvSpPr txBox="1"/>
          <p:nvPr/>
        </p:nvSpPr>
        <p:spPr>
          <a:xfrm>
            <a:off x="594360" y="2971800"/>
            <a:ext cx="3703320" cy="457200"/>
          </a:xfrm>
          <a:prstGeom prst="rect">
            <a:avLst/>
          </a:prstGeom>
          <a:noFill/>
          <a:ln/>
        </p:spPr>
        <p:txBody>
          <a:bodyPr wrap="square" lIns="0" tIns="0" rIns="0" bIns="0" rtlCol="0" anchor="ctr"/>
          <a:lstStyle/>
          <a:p>
            <a:pPr indent="0" marL="0">
              <a:buNone/>
            </a:pPr>
            <a:r>
              <a:rPr lang="en-US" sz="1200" i="1" dirty="0">
                <a:solidFill>
                  <a:schemeClr val="tx1"/>
                </a:solidFill>
              </a:rPr>
              <a:t>"…providing high-quality all-day food…"</a:t>
            </a:r>
            <a:endParaRPr lang="en-US" sz="1200" dirty="0"/>
          </a:p>
        </p:txBody>
      </p:sp>
      <p:sp>
        <p:nvSpPr>
          <p:cNvPr id="16" name="Lang arrow 2"/>
          <p:cNvSpPr/>
          <p:nvPr/>
        </p:nvSpPr>
        <p:spPr>
          <a:xfrm>
            <a:off x="4434840" y="3063240"/>
            <a:ext cx="274320" cy="274320"/>
          </a:xfrm>
          <a:prstGeom prst="rightArrow">
            <a:avLst/>
          </a:prstGeom>
          <a:solidFill>
            <a:schemeClr val="accent2"/>
          </a:solidFill>
          <a:ln w="12700">
            <a:solidFill>
              <a:schemeClr val="accent2"/>
            </a:solidFill>
            <a:prstDash val="solid"/>
          </a:ln>
        </p:spPr>
      </p:sp>
      <p:sp>
        <p:nvSpPr>
          <p:cNvPr id="17" name="Prefer 2"/>
          <p:cNvSpPr/>
          <p:nvPr/>
        </p:nvSpPr>
        <p:spPr>
          <a:xfrm>
            <a:off x="4754880" y="297180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8" name="Text 15"/>
          <p:cNvSpPr txBox="1"/>
          <p:nvPr/>
        </p:nvSpPr>
        <p:spPr>
          <a:xfrm>
            <a:off x="4892040" y="2971800"/>
            <a:ext cx="3703320" cy="457200"/>
          </a:xfrm>
          <a:prstGeom prst="rect">
            <a:avLst/>
          </a:prstGeom>
          <a:noFill/>
          <a:ln/>
        </p:spPr>
        <p:txBody>
          <a:bodyPr wrap="square" lIns="0" tIns="0" rIns="0" bIns="0" rtlCol="0" anchor="ctr"/>
          <a:lstStyle/>
          <a:p>
            <a:pPr indent="0" marL="0">
              <a:buNone/>
            </a:pPr>
            <a:r>
              <a:rPr lang="en-US" sz="1200" dirty="0">
                <a:solidFill>
                  <a:schemeClr val="tx1"/>
                </a:solidFill>
              </a:rPr>
              <a:t>"…a bar and restaurant group with venues in London and Manchester…"</a:t>
            </a:r>
            <a:endParaRPr lang="en-US" sz="1200" dirty="0"/>
          </a:p>
        </p:txBody>
      </p:sp>
      <p:sp>
        <p:nvSpPr>
          <p:cNvPr id="19" name="Avoid 3"/>
          <p:cNvSpPr/>
          <p:nvPr/>
        </p:nvSpPr>
        <p:spPr>
          <a:xfrm>
            <a:off x="457200" y="352044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0" name="Text 17"/>
          <p:cNvSpPr txBox="1"/>
          <p:nvPr/>
        </p:nvSpPr>
        <p:spPr>
          <a:xfrm>
            <a:off x="594360" y="3520440"/>
            <a:ext cx="3703320" cy="457200"/>
          </a:xfrm>
          <a:prstGeom prst="rect">
            <a:avLst/>
          </a:prstGeom>
          <a:noFill/>
          <a:ln/>
        </p:spPr>
        <p:txBody>
          <a:bodyPr wrap="square" lIns="0" tIns="0" rIns="0" bIns="0" rtlCol="0" anchor="ctr"/>
          <a:lstStyle/>
          <a:p>
            <a:pPr indent="0" marL="0">
              <a:buNone/>
            </a:pPr>
            <a:r>
              <a:rPr lang="en-US" sz="1200" i="1" dirty="0">
                <a:solidFill>
                  <a:schemeClr val="tx1"/>
                </a:solidFill>
              </a:rPr>
              <a:t>"The top 10 senders have been appropriately vetted."</a:t>
            </a:r>
            <a:endParaRPr lang="en-US" sz="1200" dirty="0"/>
          </a:p>
        </p:txBody>
      </p:sp>
      <p:sp>
        <p:nvSpPr>
          <p:cNvPr id="21" name="Lang arrow 3"/>
          <p:cNvSpPr/>
          <p:nvPr/>
        </p:nvSpPr>
        <p:spPr>
          <a:xfrm>
            <a:off x="4434840" y="3611880"/>
            <a:ext cx="274320" cy="274320"/>
          </a:xfrm>
          <a:prstGeom prst="rightArrow">
            <a:avLst/>
          </a:prstGeom>
          <a:solidFill>
            <a:schemeClr val="accent2"/>
          </a:solidFill>
          <a:ln w="12700">
            <a:solidFill>
              <a:schemeClr val="accent2"/>
            </a:solidFill>
            <a:prstDash val="solid"/>
          </a:ln>
        </p:spPr>
      </p:sp>
      <p:sp>
        <p:nvSpPr>
          <p:cNvPr id="22" name="Prefer 3"/>
          <p:cNvSpPr/>
          <p:nvPr/>
        </p:nvSpPr>
        <p:spPr>
          <a:xfrm>
            <a:off x="4754880" y="352044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3" name="Text 20"/>
          <p:cNvSpPr txBox="1"/>
          <p:nvPr/>
        </p:nvSpPr>
        <p:spPr>
          <a:xfrm>
            <a:off x="4892040" y="3520440"/>
            <a:ext cx="3703320" cy="457200"/>
          </a:xfrm>
          <a:prstGeom prst="rect">
            <a:avLst/>
          </a:prstGeom>
          <a:noFill/>
          <a:ln/>
        </p:spPr>
        <p:txBody>
          <a:bodyPr wrap="square" lIns="0" tIns="0" rIns="0" bIns="0" rtlCol="0" anchor="ctr"/>
          <a:lstStyle/>
          <a:p>
            <a:pPr indent="0" marL="0">
              <a:buNone/>
            </a:pPr>
            <a:r>
              <a:rPr lang="en-US" sz="1200" dirty="0">
                <a:solidFill>
                  <a:schemeClr val="tx1"/>
                </a:solidFill>
              </a:rPr>
              <a:t>"The top 10 senders have no prior alerts or adverse media."</a:t>
            </a:r>
            <a:endParaRPr lang="en-US" sz="1200" dirty="0"/>
          </a:p>
        </p:txBody>
      </p:sp>
      <p:sp>
        <p:nvSpPr>
          <p:cNvPr id="24" name="Avoid 4"/>
          <p:cNvSpPr/>
          <p:nvPr/>
        </p:nvSpPr>
        <p:spPr>
          <a:xfrm>
            <a:off x="457200" y="406908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5" name="Text 22"/>
          <p:cNvSpPr txBox="1"/>
          <p:nvPr/>
        </p:nvSpPr>
        <p:spPr>
          <a:xfrm>
            <a:off x="594360" y="4069080"/>
            <a:ext cx="3703320" cy="457200"/>
          </a:xfrm>
          <a:prstGeom prst="rect">
            <a:avLst/>
          </a:prstGeom>
          <a:noFill/>
          <a:ln/>
        </p:spPr>
        <p:txBody>
          <a:bodyPr wrap="square" lIns="0" tIns="0" rIns="0" bIns="0" rtlCol="0" anchor="ctr"/>
          <a:lstStyle/>
          <a:p>
            <a:pPr indent="0" marL="0">
              <a:buNone/>
            </a:pPr>
            <a:r>
              <a:rPr lang="en-US" sz="1200" i="1" dirty="0">
                <a:solidFill>
                  <a:schemeClr val="tx1"/>
                </a:solidFill>
              </a:rPr>
              <a:t>"Volume is significantly lower than projected."</a:t>
            </a:r>
            <a:endParaRPr lang="en-US" sz="1200" dirty="0"/>
          </a:p>
        </p:txBody>
      </p:sp>
      <p:sp>
        <p:nvSpPr>
          <p:cNvPr id="26" name="Lang arrow 4"/>
          <p:cNvSpPr/>
          <p:nvPr/>
        </p:nvSpPr>
        <p:spPr>
          <a:xfrm>
            <a:off x="4434840" y="4160520"/>
            <a:ext cx="274320" cy="274320"/>
          </a:xfrm>
          <a:prstGeom prst="rightArrow">
            <a:avLst/>
          </a:prstGeom>
          <a:solidFill>
            <a:schemeClr val="accent2"/>
          </a:solidFill>
          <a:ln w="12700">
            <a:solidFill>
              <a:schemeClr val="accent2"/>
            </a:solidFill>
            <a:prstDash val="solid"/>
          </a:ln>
        </p:spPr>
      </p:sp>
      <p:sp>
        <p:nvSpPr>
          <p:cNvPr id="27" name="Prefer 4"/>
          <p:cNvSpPr/>
          <p:nvPr/>
        </p:nvSpPr>
        <p:spPr>
          <a:xfrm>
            <a:off x="4754880" y="4069080"/>
            <a:ext cx="3931920" cy="457200"/>
          </a:xfrm>
          <a:prstGeom prst="roundRect">
            <a:avLst>
              <a:gd name="adj" fmla="val 16000"/>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8" name="Text 25"/>
          <p:cNvSpPr txBox="1"/>
          <p:nvPr/>
        </p:nvSpPr>
        <p:spPr>
          <a:xfrm>
            <a:off x="4892040" y="4069080"/>
            <a:ext cx="3703320" cy="457200"/>
          </a:xfrm>
          <a:prstGeom prst="rect">
            <a:avLst/>
          </a:prstGeom>
          <a:noFill/>
          <a:ln/>
        </p:spPr>
        <p:txBody>
          <a:bodyPr wrap="square" lIns="0" tIns="0" rIns="0" bIns="0" rtlCol="0" anchor="ctr"/>
          <a:lstStyle/>
          <a:p>
            <a:pPr indent="0" marL="0">
              <a:buNone/>
            </a:pPr>
            <a:r>
              <a:rPr lang="en-US" sz="1200" dirty="0">
                <a:solidFill>
                  <a:schemeClr val="tx1"/>
                </a:solidFill>
              </a:rPr>
              <a:t>"Volume is £[X] against a projected £[Y] ([Z]%)."</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Evidence your explanation</a:t>
            </a:r>
            <a:endParaRPr lang="en-US" sz="2800" dirty="0"/>
          </a:p>
        </p:txBody>
      </p:sp>
      <p:sp>
        <p:nvSpPr>
          <p:cNvPr id="3" name="Evidence card 1"/>
          <p:cNvSpPr/>
          <p:nvPr/>
        </p:nvSpPr>
        <p:spPr>
          <a:xfrm>
            <a:off x="457200" y="1188720"/>
            <a:ext cx="2560320" cy="3291840"/>
          </a:xfrm>
          <a:prstGeom prst="roundRect">
            <a:avLst>
              <a:gd name="adj" fmla="val 285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Evidence 1 circle"/>
          <p:cNvSpPr/>
          <p:nvPr/>
        </p:nvSpPr>
        <p:spPr>
          <a:xfrm>
            <a:off x="731520" y="1417320"/>
            <a:ext cx="640080" cy="640080"/>
          </a:xfrm>
          <a:prstGeom prst="ellipse">
            <a:avLst/>
          </a:prstGeom>
          <a:solidFill>
            <a:srgbClr val="0F7173"/>
          </a:solidFill>
          <a:ln w="12700">
            <a:solidFill>
              <a:srgbClr val="0F7173"/>
            </a:solidFill>
            <a:prstDash val="solid"/>
          </a:ln>
        </p:spPr>
      </p:sp>
      <p:pic>
        <p:nvPicPr>
          <p:cNvPr id="5" name="Evidence 1 icon" descr="preencoded.png">    </p:cNvPr>
          <p:cNvPicPr>
            <a:picLocks noChangeAspect="1"/>
          </p:cNvPicPr>
          <p:nvPr/>
        </p:nvPicPr>
        <p:blipFill>
          <a:blip r:embed="rId1"/>
          <a:stretch>
            <a:fillRect/>
          </a:stretch>
        </p:blipFill>
        <p:spPr>
          <a:xfrm>
            <a:off x="891540" y="1577340"/>
            <a:ext cx="320040" cy="320040"/>
          </a:xfrm>
          <a:prstGeom prst="rect">
            <a:avLst/>
          </a:prstGeom>
        </p:spPr>
      </p:pic>
      <p:sp>
        <p:nvSpPr>
          <p:cNvPr id="6" name="Text 3"/>
          <p:cNvSpPr txBox="1"/>
          <p:nvPr/>
        </p:nvSpPr>
        <p:spPr>
          <a:xfrm>
            <a:off x="731520" y="2240280"/>
            <a:ext cx="2011680" cy="594360"/>
          </a:xfrm>
          <a:prstGeom prst="rect">
            <a:avLst/>
          </a:prstGeom>
          <a:noFill/>
          <a:ln/>
        </p:spPr>
        <p:txBody>
          <a:bodyPr wrap="square" lIns="0" tIns="0" rIns="0" bIns="0" rtlCol="0" anchor="t"/>
          <a:lstStyle/>
          <a:p>
            <a:pPr indent="0" marL="0">
              <a:buNone/>
            </a:pPr>
            <a:r>
              <a:rPr lang="en-US" sz="1700" b="1" dirty="0">
                <a:solidFill>
                  <a:schemeClr val="tx2"/>
                </a:solidFill>
              </a:rPr>
              <a:t>Check pay-ins</a:t>
            </a:r>
            <a:endParaRPr lang="en-US" sz="1700" dirty="0"/>
          </a:p>
        </p:txBody>
      </p:sp>
      <p:sp>
        <p:nvSpPr>
          <p:cNvPr id="7" name="Text 4"/>
          <p:cNvSpPr txBox="1"/>
          <p:nvPr/>
        </p:nvSpPr>
        <p:spPr>
          <a:xfrm>
            <a:off x="731520" y="2880360"/>
            <a:ext cx="2011680" cy="1508760"/>
          </a:xfrm>
          <a:prstGeom prst="rect">
            <a:avLst/>
          </a:prstGeom>
          <a:noFill/>
          <a:ln/>
        </p:spPr>
        <p:txBody>
          <a:bodyPr wrap="square" lIns="0" tIns="0" rIns="0" bIns="0" rtlCol="0" anchor="t"/>
          <a:lstStyle/>
          <a:p>
            <a:pPr indent="0" marL="0">
              <a:buNone/>
            </a:pPr>
            <a:r>
              <a:rPr lang="en-US" sz="1300" dirty="0">
                <a:solidFill>
                  <a:schemeClr val="tx1"/>
                </a:solidFill>
              </a:rPr>
              <a:t>Do pay-ins explain the withdrawals? Thousands in and thousands out is very different from £5 in and £10k out.</a:t>
            </a:r>
            <a:endParaRPr lang="en-US" sz="1300" dirty="0"/>
          </a:p>
        </p:txBody>
      </p:sp>
      <p:sp>
        <p:nvSpPr>
          <p:cNvPr id="8" name="Evidence card 2"/>
          <p:cNvSpPr/>
          <p:nvPr/>
        </p:nvSpPr>
        <p:spPr>
          <a:xfrm>
            <a:off x="3291840" y="1188720"/>
            <a:ext cx="2560320" cy="3291840"/>
          </a:xfrm>
          <a:prstGeom prst="roundRect">
            <a:avLst>
              <a:gd name="adj" fmla="val 285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Evidence 2 circle"/>
          <p:cNvSpPr/>
          <p:nvPr/>
        </p:nvSpPr>
        <p:spPr>
          <a:xfrm>
            <a:off x="3566160" y="1417320"/>
            <a:ext cx="640080" cy="640080"/>
          </a:xfrm>
          <a:prstGeom prst="ellipse">
            <a:avLst/>
          </a:prstGeom>
          <a:solidFill>
            <a:srgbClr val="0F7173"/>
          </a:solidFill>
          <a:ln w="12700">
            <a:solidFill>
              <a:srgbClr val="0F7173"/>
            </a:solidFill>
            <a:prstDash val="solid"/>
          </a:ln>
        </p:spPr>
      </p:sp>
      <p:pic>
        <p:nvPicPr>
          <p:cNvPr id="10" name="Evidence 2 icon" descr="preencoded.png">    </p:cNvPr>
          <p:cNvPicPr>
            <a:picLocks noChangeAspect="1"/>
          </p:cNvPicPr>
          <p:nvPr/>
        </p:nvPicPr>
        <p:blipFill>
          <a:blip r:embed="rId2"/>
          <a:stretch>
            <a:fillRect/>
          </a:stretch>
        </p:blipFill>
        <p:spPr>
          <a:xfrm>
            <a:off x="3726180" y="1577340"/>
            <a:ext cx="320040" cy="320040"/>
          </a:xfrm>
          <a:prstGeom prst="rect">
            <a:avLst/>
          </a:prstGeom>
        </p:spPr>
      </p:pic>
      <p:sp>
        <p:nvSpPr>
          <p:cNvPr id="11" name="Text 7"/>
          <p:cNvSpPr txBox="1"/>
          <p:nvPr/>
        </p:nvSpPr>
        <p:spPr>
          <a:xfrm>
            <a:off x="3566160" y="2240280"/>
            <a:ext cx="2011680" cy="594360"/>
          </a:xfrm>
          <a:prstGeom prst="rect">
            <a:avLst/>
          </a:prstGeom>
          <a:noFill/>
          <a:ln/>
        </p:spPr>
        <p:txBody>
          <a:bodyPr wrap="square" lIns="0" tIns="0" rIns="0" bIns="0" rtlCol="0" anchor="t"/>
          <a:lstStyle/>
          <a:p>
            <a:pPr indent="0" marL="0">
              <a:buNone/>
            </a:pPr>
            <a:r>
              <a:rPr lang="en-US" sz="1700" b="1" dirty="0">
                <a:solidFill>
                  <a:schemeClr val="tx2"/>
                </a:solidFill>
              </a:rPr>
              <a:t>Look beyond the merchant</a:t>
            </a:r>
            <a:endParaRPr lang="en-US" sz="1700" dirty="0"/>
          </a:p>
        </p:txBody>
      </p:sp>
      <p:sp>
        <p:nvSpPr>
          <p:cNvPr id="12" name="Text 8"/>
          <p:cNvSpPr txBox="1"/>
          <p:nvPr/>
        </p:nvSpPr>
        <p:spPr>
          <a:xfrm>
            <a:off x="3566160" y="2880360"/>
            <a:ext cx="2011680" cy="1508760"/>
          </a:xfrm>
          <a:prstGeom prst="rect">
            <a:avLst/>
          </a:prstGeom>
          <a:noFill/>
          <a:ln/>
        </p:spPr>
        <p:txBody>
          <a:bodyPr wrap="square" lIns="0" tIns="0" rIns="0" bIns="0" rtlCol="0" anchor="t"/>
          <a:lstStyle/>
          <a:p>
            <a:pPr indent="0" marL="0">
              <a:buNone/>
            </a:pPr>
            <a:r>
              <a:rPr lang="en-US" sz="1300" dirty="0">
                <a:solidFill>
                  <a:schemeClr val="tx1"/>
                </a:solidFill>
              </a:rPr>
              <a:t>Use OSINT on wider events that could explain the activity, such as a World Cup or a global fuel crisis.</a:t>
            </a:r>
            <a:endParaRPr lang="en-US" sz="1300" dirty="0"/>
          </a:p>
        </p:txBody>
      </p:sp>
      <p:sp>
        <p:nvSpPr>
          <p:cNvPr id="13" name="Evidence card 3"/>
          <p:cNvSpPr/>
          <p:nvPr/>
        </p:nvSpPr>
        <p:spPr>
          <a:xfrm>
            <a:off x="6126480" y="1188720"/>
            <a:ext cx="2560320" cy="3291840"/>
          </a:xfrm>
          <a:prstGeom prst="roundRect">
            <a:avLst>
              <a:gd name="adj" fmla="val 285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Evidence 3 circle"/>
          <p:cNvSpPr/>
          <p:nvPr/>
        </p:nvSpPr>
        <p:spPr>
          <a:xfrm>
            <a:off x="6400800" y="1417320"/>
            <a:ext cx="640080" cy="640080"/>
          </a:xfrm>
          <a:prstGeom prst="ellipse">
            <a:avLst/>
          </a:prstGeom>
          <a:solidFill>
            <a:srgbClr val="0F7173"/>
          </a:solidFill>
          <a:ln w="12700">
            <a:solidFill>
              <a:srgbClr val="0F7173"/>
            </a:solidFill>
            <a:prstDash val="solid"/>
          </a:ln>
        </p:spPr>
      </p:sp>
      <p:pic>
        <p:nvPicPr>
          <p:cNvPr id="15" name="Evidence 3 icon" descr="preencoded.png">    </p:cNvPr>
          <p:cNvPicPr>
            <a:picLocks noChangeAspect="1"/>
          </p:cNvPicPr>
          <p:nvPr/>
        </p:nvPicPr>
        <p:blipFill>
          <a:blip r:embed="rId3"/>
          <a:stretch>
            <a:fillRect/>
          </a:stretch>
        </p:blipFill>
        <p:spPr>
          <a:xfrm>
            <a:off x="6560820" y="1577340"/>
            <a:ext cx="320040" cy="320040"/>
          </a:xfrm>
          <a:prstGeom prst="rect">
            <a:avLst/>
          </a:prstGeom>
        </p:spPr>
      </p:pic>
      <p:sp>
        <p:nvSpPr>
          <p:cNvPr id="16" name="Text 11"/>
          <p:cNvSpPr txBox="1"/>
          <p:nvPr/>
        </p:nvSpPr>
        <p:spPr>
          <a:xfrm>
            <a:off x="6400800" y="2240280"/>
            <a:ext cx="2011680" cy="594360"/>
          </a:xfrm>
          <a:prstGeom prst="rect">
            <a:avLst/>
          </a:prstGeom>
          <a:noFill/>
          <a:ln/>
        </p:spPr>
        <p:txBody>
          <a:bodyPr wrap="square" lIns="0" tIns="0" rIns="0" bIns="0" rtlCol="0" anchor="t"/>
          <a:lstStyle/>
          <a:p>
            <a:pPr indent="0" marL="0">
              <a:buNone/>
            </a:pPr>
            <a:r>
              <a:rPr lang="en-US" sz="1700" b="1" dirty="0">
                <a:solidFill>
                  <a:schemeClr val="tx2"/>
                </a:solidFill>
              </a:rPr>
              <a:t>Use relevant typologies</a:t>
            </a:r>
            <a:endParaRPr lang="en-US" sz="1700" dirty="0"/>
          </a:p>
        </p:txBody>
      </p:sp>
      <p:sp>
        <p:nvSpPr>
          <p:cNvPr id="17" name="Text 12"/>
          <p:cNvSpPr txBox="1"/>
          <p:nvPr/>
        </p:nvSpPr>
        <p:spPr>
          <a:xfrm>
            <a:off x="6400800" y="2880360"/>
            <a:ext cx="2011680" cy="1508760"/>
          </a:xfrm>
          <a:prstGeom prst="rect">
            <a:avLst/>
          </a:prstGeom>
          <a:noFill/>
          <a:ln/>
        </p:spPr>
        <p:txBody>
          <a:bodyPr wrap="square" lIns="0" tIns="0" rIns="0" bIns="0" rtlCol="0" anchor="t"/>
          <a:lstStyle/>
          <a:p>
            <a:pPr indent="0" marL="0">
              <a:buNone/>
            </a:pPr>
            <a:r>
              <a:rPr lang="en-US" sz="1300" dirty="0">
                <a:solidFill>
                  <a:schemeClr val="tx1"/>
                </a:solidFill>
              </a:rPr>
              <a:t>Don't reference typologies that don't apply to the alert or review type, such as structuring on an end-user review.</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Questions to ask before you close a case</a:t>
            </a:r>
            <a:endParaRPr lang="en-US" sz="2800" dirty="0"/>
          </a:p>
        </p:txBody>
      </p:sp>
      <p:sp>
        <p:nvSpPr>
          <p:cNvPr id="3" name="Question 1 circle"/>
          <p:cNvSpPr/>
          <p:nvPr/>
        </p:nvSpPr>
        <p:spPr>
          <a:xfrm>
            <a:off x="548640" y="1143000"/>
            <a:ext cx="640080" cy="640080"/>
          </a:xfrm>
          <a:prstGeom prst="ellipse">
            <a:avLst/>
          </a:prstGeom>
          <a:solidFill>
            <a:srgbClr val="0F7173"/>
          </a:solidFill>
          <a:ln w="12700">
            <a:solidFill>
              <a:srgbClr val="0F7173"/>
            </a:solidFill>
            <a:prstDash val="solid"/>
          </a:ln>
        </p:spPr>
      </p:sp>
      <p:pic>
        <p:nvPicPr>
          <p:cNvPr id="4" name="Question 1 icon" descr="preencoded.png">    </p:cNvPr>
          <p:cNvPicPr>
            <a:picLocks noChangeAspect="1"/>
          </p:cNvPicPr>
          <p:nvPr/>
        </p:nvPicPr>
        <p:blipFill>
          <a:blip r:embed="rId1"/>
          <a:stretch>
            <a:fillRect/>
          </a:stretch>
        </p:blipFill>
        <p:spPr>
          <a:xfrm>
            <a:off x="708660" y="1303020"/>
            <a:ext cx="320040" cy="320040"/>
          </a:xfrm>
          <a:prstGeom prst="rect">
            <a:avLst/>
          </a:prstGeom>
        </p:spPr>
      </p:pic>
      <p:sp>
        <p:nvSpPr>
          <p:cNvPr id="5" name="Text 2"/>
          <p:cNvSpPr txBox="1"/>
          <p:nvPr/>
        </p:nvSpPr>
        <p:spPr>
          <a:xfrm>
            <a:off x="1417320" y="1143000"/>
            <a:ext cx="7223760" cy="640080"/>
          </a:xfrm>
          <a:prstGeom prst="rect">
            <a:avLst/>
          </a:prstGeom>
          <a:noFill/>
          <a:ln/>
        </p:spPr>
        <p:txBody>
          <a:bodyPr wrap="square" lIns="0" tIns="0" rIns="0" bIns="0" rtlCol="0" anchor="ctr"/>
          <a:lstStyle/>
          <a:p>
            <a:pPr indent="0" marL="0">
              <a:buNone/>
            </a:pPr>
            <a:r>
              <a:rPr lang="en-US" sz="1600" dirty="0">
                <a:solidFill>
                  <a:schemeClr val="tx1"/>
                </a:solidFill>
              </a:rPr>
              <a:t>What did I expect to see for this merchant, and does the activity match?</a:t>
            </a:r>
            <a:endParaRPr lang="en-US" sz="1600" dirty="0"/>
          </a:p>
        </p:txBody>
      </p:sp>
      <p:sp>
        <p:nvSpPr>
          <p:cNvPr id="6" name="Question 2 circle"/>
          <p:cNvSpPr/>
          <p:nvPr/>
        </p:nvSpPr>
        <p:spPr>
          <a:xfrm>
            <a:off x="548640" y="2011680"/>
            <a:ext cx="640080" cy="640080"/>
          </a:xfrm>
          <a:prstGeom prst="ellipse">
            <a:avLst/>
          </a:prstGeom>
          <a:solidFill>
            <a:srgbClr val="0F7173"/>
          </a:solidFill>
          <a:ln w="12700">
            <a:solidFill>
              <a:srgbClr val="0F7173"/>
            </a:solidFill>
            <a:prstDash val="solid"/>
          </a:ln>
        </p:spPr>
      </p:sp>
      <p:pic>
        <p:nvPicPr>
          <p:cNvPr id="7" name="Question 2 icon" descr="preencoded.png">    </p:cNvPr>
          <p:cNvPicPr>
            <a:picLocks noChangeAspect="1"/>
          </p:cNvPicPr>
          <p:nvPr/>
        </p:nvPicPr>
        <p:blipFill>
          <a:blip r:embed="rId2"/>
          <a:stretch>
            <a:fillRect/>
          </a:stretch>
        </p:blipFill>
        <p:spPr>
          <a:xfrm>
            <a:off x="708660" y="2171700"/>
            <a:ext cx="320040" cy="320040"/>
          </a:xfrm>
          <a:prstGeom prst="rect">
            <a:avLst/>
          </a:prstGeom>
        </p:spPr>
      </p:pic>
      <p:sp>
        <p:nvSpPr>
          <p:cNvPr id="8" name="Text 4"/>
          <p:cNvSpPr txBox="1"/>
          <p:nvPr/>
        </p:nvSpPr>
        <p:spPr>
          <a:xfrm>
            <a:off x="1417320" y="2011680"/>
            <a:ext cx="7223760" cy="640080"/>
          </a:xfrm>
          <a:prstGeom prst="rect">
            <a:avLst/>
          </a:prstGeom>
          <a:noFill/>
          <a:ln/>
        </p:spPr>
        <p:txBody>
          <a:bodyPr wrap="square" lIns="0" tIns="0" rIns="0" bIns="0" rtlCol="0" anchor="ctr"/>
          <a:lstStyle/>
          <a:p>
            <a:pPr indent="0" marL="0">
              <a:buNone/>
            </a:pPr>
            <a:r>
              <a:rPr lang="en-US" sz="1600" dirty="0">
                <a:solidFill>
                  <a:schemeClr val="tx1"/>
                </a:solidFill>
              </a:rPr>
              <a:t>What could explain the difference, and have I evidenced that explanation?</a:t>
            </a:r>
            <a:endParaRPr lang="en-US" sz="1600" dirty="0"/>
          </a:p>
        </p:txBody>
      </p:sp>
      <p:sp>
        <p:nvSpPr>
          <p:cNvPr id="9" name="Question 3 circle"/>
          <p:cNvSpPr/>
          <p:nvPr/>
        </p:nvSpPr>
        <p:spPr>
          <a:xfrm>
            <a:off x="548640" y="2880360"/>
            <a:ext cx="640080" cy="640080"/>
          </a:xfrm>
          <a:prstGeom prst="ellipse">
            <a:avLst/>
          </a:prstGeom>
          <a:solidFill>
            <a:srgbClr val="0F7173"/>
          </a:solidFill>
          <a:ln w="12700">
            <a:solidFill>
              <a:srgbClr val="0F7173"/>
            </a:solidFill>
            <a:prstDash val="solid"/>
          </a:ln>
        </p:spPr>
      </p:sp>
      <p:pic>
        <p:nvPicPr>
          <p:cNvPr id="10" name="Question 3 icon" descr="preencoded.png">    </p:cNvPr>
          <p:cNvPicPr>
            <a:picLocks noChangeAspect="1"/>
          </p:cNvPicPr>
          <p:nvPr/>
        </p:nvPicPr>
        <p:blipFill>
          <a:blip r:embed="rId3"/>
          <a:stretch>
            <a:fillRect/>
          </a:stretch>
        </p:blipFill>
        <p:spPr>
          <a:xfrm>
            <a:off x="708660" y="3040380"/>
            <a:ext cx="320040" cy="320040"/>
          </a:xfrm>
          <a:prstGeom prst="rect">
            <a:avLst/>
          </a:prstGeom>
        </p:spPr>
      </p:pic>
      <p:sp>
        <p:nvSpPr>
          <p:cNvPr id="11" name="Text 6"/>
          <p:cNvSpPr txBox="1"/>
          <p:nvPr/>
        </p:nvSpPr>
        <p:spPr>
          <a:xfrm>
            <a:off x="1417320" y="2880360"/>
            <a:ext cx="7223760" cy="640080"/>
          </a:xfrm>
          <a:prstGeom prst="rect">
            <a:avLst/>
          </a:prstGeom>
          <a:noFill/>
          <a:ln/>
        </p:spPr>
        <p:txBody>
          <a:bodyPr wrap="square" lIns="0" tIns="0" rIns="0" bIns="0" rtlCol="0" anchor="ctr"/>
          <a:lstStyle/>
          <a:p>
            <a:pPr indent="0" marL="0">
              <a:buNone/>
            </a:pPr>
            <a:r>
              <a:rPr lang="en-US" sz="1600" dirty="0">
                <a:solidFill>
                  <a:schemeClr val="tx1"/>
                </a:solidFill>
              </a:rPr>
              <a:t>Which risk factors have I ruled out, and which remain open?</a:t>
            </a:r>
            <a:endParaRPr lang="en-US" sz="1600" dirty="0"/>
          </a:p>
        </p:txBody>
      </p:sp>
      <p:sp>
        <p:nvSpPr>
          <p:cNvPr id="12" name="Question 4 circle"/>
          <p:cNvSpPr/>
          <p:nvPr/>
        </p:nvSpPr>
        <p:spPr>
          <a:xfrm>
            <a:off x="548640" y="3749040"/>
            <a:ext cx="640080" cy="640080"/>
          </a:xfrm>
          <a:prstGeom prst="ellipse">
            <a:avLst/>
          </a:prstGeom>
          <a:solidFill>
            <a:srgbClr val="0F7173"/>
          </a:solidFill>
          <a:ln w="12700">
            <a:solidFill>
              <a:srgbClr val="0F7173"/>
            </a:solidFill>
            <a:prstDash val="solid"/>
          </a:ln>
        </p:spPr>
      </p:sp>
      <p:pic>
        <p:nvPicPr>
          <p:cNvPr id="13" name="Question 4 icon" descr="preencoded.png">    </p:cNvPr>
          <p:cNvPicPr>
            <a:picLocks noChangeAspect="1"/>
          </p:cNvPicPr>
          <p:nvPr/>
        </p:nvPicPr>
        <p:blipFill>
          <a:blip r:embed="rId4"/>
          <a:stretch>
            <a:fillRect/>
          </a:stretch>
        </p:blipFill>
        <p:spPr>
          <a:xfrm>
            <a:off x="708660" y="3909060"/>
            <a:ext cx="320040" cy="320040"/>
          </a:xfrm>
          <a:prstGeom prst="rect">
            <a:avLst/>
          </a:prstGeom>
        </p:spPr>
      </p:pic>
      <p:sp>
        <p:nvSpPr>
          <p:cNvPr id="14" name="Text 8"/>
          <p:cNvSpPr txBox="1"/>
          <p:nvPr/>
        </p:nvSpPr>
        <p:spPr>
          <a:xfrm>
            <a:off x="1417320" y="3749040"/>
            <a:ext cx="7223760" cy="640080"/>
          </a:xfrm>
          <a:prstGeom prst="rect">
            <a:avLst/>
          </a:prstGeom>
          <a:noFill/>
          <a:ln/>
        </p:spPr>
        <p:txBody>
          <a:bodyPr wrap="square" lIns="0" tIns="0" rIns="0" bIns="0" rtlCol="0" anchor="ctr"/>
          <a:lstStyle/>
          <a:p>
            <a:pPr indent="0" marL="0">
              <a:buNone/>
            </a:pPr>
            <a:r>
              <a:rPr lang="en-US" sz="1600" dirty="0">
                <a:solidFill>
                  <a:schemeClr val="tx1"/>
                </a:solidFill>
              </a:rPr>
              <a:t>Could someone else read this note and reach the same conclusion?</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2103120" y="1554480"/>
            <a:ext cx="6583680" cy="1097280"/>
          </a:xfrm>
          <a:prstGeom prst="rect">
            <a:avLst/>
          </a:prstGeom>
          <a:noFill/>
          <a:ln/>
        </p:spPr>
        <p:txBody>
          <a:bodyPr wrap="square" lIns="0" tIns="0" rIns="0" bIns="0" rtlCol="0" anchor="b"/>
          <a:lstStyle/>
          <a:p>
            <a:pPr algn="l" indent="0" marL="0">
              <a:buNone/>
            </a:pPr>
            <a:r>
              <a:rPr lang="en-US" sz="3600" b="1" dirty="0">
                <a:solidFill>
                  <a:schemeClr val="bg1"/>
                </a:solidFill>
              </a:rPr>
              <a:t>Clear RFI documentation</a:t>
            </a:r>
            <a:endParaRPr lang="en-US" sz="3600" dirty="0"/>
          </a:p>
        </p:txBody>
      </p:sp>
      <p:sp>
        <p:nvSpPr>
          <p:cNvPr id="3" name="Text 0"/>
          <p:cNvSpPr/>
          <p:nvPr>
            <p:ph idx="101" type="body" hasCustomPrompt="1"/>
          </p:nvPr>
        </p:nvSpPr>
        <p:spPr>
          <a:xfrm>
            <a:off x="2103120" y="2743200"/>
            <a:ext cx="6583680" cy="1097280"/>
          </a:xfrm>
          <a:prstGeom prst="rect">
            <a:avLst/>
          </a:prstGeom>
          <a:noFill/>
          <a:ln/>
        </p:spPr>
        <p:txBody>
          <a:bodyPr wrap="square" lIns="0" tIns="0" rIns="0" bIns="0" rtlCol="0" anchor="t"/>
          <a:lstStyle/>
          <a:p>
            <a:pPr indent="0" marL="0">
              <a:buNone/>
            </a:pPr>
            <a:r>
              <a:rPr lang="en-US" sz="1600" dirty="0">
                <a:solidFill>
                  <a:schemeClr val="accent6"/>
                </a:solidFill>
              </a:rPr>
              <a:t>Every RFI tells a story: why it was sent, what came back and what it changed</a:t>
            </a:r>
            <a:endParaRPr lang="en-US" sz="1600" dirty="0"/>
          </a:p>
        </p:txBody>
      </p:sp>
      <p:sp>
        <p:nvSpPr>
          <p:cNvPr id="4" name="Section 3 circle"/>
          <p:cNvSpPr/>
          <p:nvPr/>
        </p:nvSpPr>
        <p:spPr>
          <a:xfrm>
            <a:off x="548640" y="1737360"/>
            <a:ext cx="1188720" cy="1188720"/>
          </a:xfrm>
          <a:prstGeom prst="ellipse">
            <a:avLst/>
          </a:prstGeom>
          <a:solidFill>
            <a:srgbClr val="F2A541"/>
          </a:solidFill>
          <a:ln w="12700">
            <a:solidFill>
              <a:srgbClr val="F2A541"/>
            </a:solidFill>
            <a:prstDash val="solid"/>
          </a:ln>
        </p:spPr>
      </p:sp>
      <p:pic>
        <p:nvPicPr>
          <p:cNvPr id="5" name="Section 3 icon" descr="preencoded.png">    </p:cNvPr>
          <p:cNvPicPr>
            <a:picLocks noChangeAspect="1"/>
          </p:cNvPicPr>
          <p:nvPr/>
        </p:nvPicPr>
        <p:blipFill>
          <a:blip r:embed="rId1"/>
          <a:stretch>
            <a:fillRect/>
          </a:stretch>
        </p:blipFill>
        <p:spPr>
          <a:xfrm>
            <a:off x="845820" y="2034540"/>
            <a:ext cx="594360" cy="5943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The RFI logic flow</a:t>
            </a:r>
            <a:endParaRPr lang="en-US" sz="2800" dirty="0"/>
          </a:p>
        </p:txBody>
      </p:sp>
      <p:sp>
        <p:nvSpPr>
          <p:cNvPr id="3" name="RFI step 1"/>
          <p:cNvSpPr/>
          <p:nvPr/>
        </p:nvSpPr>
        <p:spPr>
          <a:xfrm>
            <a:off x="457200" y="1234440"/>
            <a:ext cx="1874520" cy="3108960"/>
          </a:xfrm>
          <a:prstGeom prst="roundRect">
            <a:avLst>
              <a:gd name="adj" fmla="val 390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RFI number 1"/>
          <p:cNvSpPr/>
          <p:nvPr/>
        </p:nvSpPr>
        <p:spPr>
          <a:xfrm>
            <a:off x="640080" y="14173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640080"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640080" y="2103120"/>
            <a:ext cx="1554480" cy="685800"/>
          </a:xfrm>
          <a:prstGeom prst="rect">
            <a:avLst/>
          </a:prstGeom>
          <a:noFill/>
          <a:ln/>
        </p:spPr>
        <p:txBody>
          <a:bodyPr wrap="square" lIns="0" tIns="0" rIns="0" bIns="0" rtlCol="0" anchor="t"/>
          <a:lstStyle/>
          <a:p>
            <a:pPr indent="0" marL="0">
              <a:buNone/>
            </a:pPr>
            <a:r>
              <a:rPr lang="en-US" sz="1400" b="1" dirty="0">
                <a:solidFill>
                  <a:schemeClr val="tx2"/>
                </a:solidFill>
              </a:rPr>
              <a:t>Was an RFI sent?</a:t>
            </a:r>
            <a:endParaRPr lang="en-US" sz="1400" dirty="0"/>
          </a:p>
        </p:txBody>
      </p:sp>
      <p:sp>
        <p:nvSpPr>
          <p:cNvPr id="7" name="Text 5"/>
          <p:cNvSpPr txBox="1"/>
          <p:nvPr/>
        </p:nvSpPr>
        <p:spPr>
          <a:xfrm>
            <a:off x="640080" y="2834640"/>
            <a:ext cx="1554480" cy="1417320"/>
          </a:xfrm>
          <a:prstGeom prst="rect">
            <a:avLst/>
          </a:prstGeom>
          <a:noFill/>
          <a:ln/>
        </p:spPr>
        <p:txBody>
          <a:bodyPr wrap="square" lIns="0" tIns="0" rIns="0" bIns="0" rtlCol="0" anchor="t"/>
          <a:lstStyle/>
          <a:p>
            <a:pPr indent="0" marL="0">
              <a:buNone/>
            </a:pPr>
            <a:r>
              <a:rPr lang="en-US" sz="1250" dirty="0">
                <a:solidFill>
                  <a:schemeClr val="tx1"/>
                </a:solidFill>
              </a:rPr>
              <a:t>Yes: date, what was asked and why.</a:t>
            </a:r>
            <a:endParaRPr lang="en-US" sz="1250" dirty="0"/>
          </a:p>
          <a:p>
            <a:pPr indent="0" marL="0">
              <a:buNone/>
            </a:pPr>
            <a:r>
              <a:rPr lang="en-US" sz="1250" dirty="0">
                <a:solidFill>
                  <a:schemeClr val="tx1"/>
                </a:solidFill>
              </a:rPr>
              <a:t>No: the rationale for not sending one.</a:t>
            </a:r>
            <a:endParaRPr lang="en-US" sz="1250" dirty="0"/>
          </a:p>
        </p:txBody>
      </p:sp>
      <p:sp>
        <p:nvSpPr>
          <p:cNvPr id="8" name="RFI arrow 1"/>
          <p:cNvSpPr/>
          <p:nvPr/>
        </p:nvSpPr>
        <p:spPr>
          <a:xfrm>
            <a:off x="2350008" y="2606040"/>
            <a:ext cx="192024" cy="320040"/>
          </a:xfrm>
          <a:prstGeom prst="rightArrow">
            <a:avLst/>
          </a:prstGeom>
          <a:solidFill>
            <a:schemeClr val="accent2"/>
          </a:solidFill>
          <a:ln w="12700">
            <a:solidFill>
              <a:schemeClr val="accent2"/>
            </a:solidFill>
            <a:prstDash val="solid"/>
          </a:ln>
        </p:spPr>
      </p:sp>
      <p:sp>
        <p:nvSpPr>
          <p:cNvPr id="9" name="RFI step 2"/>
          <p:cNvSpPr/>
          <p:nvPr/>
        </p:nvSpPr>
        <p:spPr>
          <a:xfrm>
            <a:off x="2560320" y="1234440"/>
            <a:ext cx="1874520" cy="3108960"/>
          </a:xfrm>
          <a:prstGeom prst="roundRect">
            <a:avLst>
              <a:gd name="adj" fmla="val 390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RFI number 2"/>
          <p:cNvSpPr/>
          <p:nvPr/>
        </p:nvSpPr>
        <p:spPr>
          <a:xfrm>
            <a:off x="2743200" y="141732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2743200"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10"/>
          <p:cNvSpPr txBox="1"/>
          <p:nvPr/>
        </p:nvSpPr>
        <p:spPr>
          <a:xfrm>
            <a:off x="2743200" y="2103120"/>
            <a:ext cx="1554480" cy="685800"/>
          </a:xfrm>
          <a:prstGeom prst="rect">
            <a:avLst/>
          </a:prstGeom>
          <a:noFill/>
          <a:ln/>
        </p:spPr>
        <p:txBody>
          <a:bodyPr wrap="square" lIns="0" tIns="0" rIns="0" bIns="0" rtlCol="0" anchor="t"/>
          <a:lstStyle/>
          <a:p>
            <a:pPr indent="0" marL="0">
              <a:buNone/>
            </a:pPr>
            <a:r>
              <a:rPr lang="en-US" sz="1400" b="1" dirty="0">
                <a:solidFill>
                  <a:schemeClr val="tx2"/>
                </a:solidFill>
              </a:rPr>
              <a:t>Was a response received?</a:t>
            </a:r>
            <a:endParaRPr lang="en-US" sz="1400" dirty="0"/>
          </a:p>
        </p:txBody>
      </p:sp>
      <p:sp>
        <p:nvSpPr>
          <p:cNvPr id="13" name="Text 11"/>
          <p:cNvSpPr txBox="1"/>
          <p:nvPr/>
        </p:nvSpPr>
        <p:spPr>
          <a:xfrm>
            <a:off x="2743200" y="2834640"/>
            <a:ext cx="1554480" cy="1417320"/>
          </a:xfrm>
          <a:prstGeom prst="rect">
            <a:avLst/>
          </a:prstGeom>
          <a:noFill/>
          <a:ln/>
        </p:spPr>
        <p:txBody>
          <a:bodyPr wrap="square" lIns="0" tIns="0" rIns="0" bIns="0" rtlCol="0" anchor="t"/>
          <a:lstStyle/>
          <a:p>
            <a:pPr indent="0" marL="0">
              <a:buNone/>
            </a:pPr>
            <a:r>
              <a:rPr lang="en-US" sz="1250" dirty="0">
                <a:solidFill>
                  <a:schemeClr val="tx1"/>
                </a:solidFill>
              </a:rPr>
              <a:t>Date received, or the chaser and the impact of no response.</a:t>
            </a:r>
            <a:endParaRPr lang="en-US" sz="1250" dirty="0"/>
          </a:p>
        </p:txBody>
      </p:sp>
      <p:sp>
        <p:nvSpPr>
          <p:cNvPr id="14" name="RFI arrow 2"/>
          <p:cNvSpPr/>
          <p:nvPr/>
        </p:nvSpPr>
        <p:spPr>
          <a:xfrm>
            <a:off x="4453128" y="2606040"/>
            <a:ext cx="192024" cy="320040"/>
          </a:xfrm>
          <a:prstGeom prst="rightArrow">
            <a:avLst/>
          </a:prstGeom>
          <a:solidFill>
            <a:schemeClr val="accent2"/>
          </a:solidFill>
          <a:ln w="12700">
            <a:solidFill>
              <a:schemeClr val="accent2"/>
            </a:solidFill>
            <a:prstDash val="solid"/>
          </a:ln>
        </p:spPr>
      </p:sp>
      <p:sp>
        <p:nvSpPr>
          <p:cNvPr id="15" name="RFI step 3"/>
          <p:cNvSpPr/>
          <p:nvPr/>
        </p:nvSpPr>
        <p:spPr>
          <a:xfrm>
            <a:off x="4663440" y="1234440"/>
            <a:ext cx="1874520" cy="3108960"/>
          </a:xfrm>
          <a:prstGeom prst="roundRect">
            <a:avLst>
              <a:gd name="adj" fmla="val 390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6" name="RFI number 3"/>
          <p:cNvSpPr/>
          <p:nvPr/>
        </p:nvSpPr>
        <p:spPr>
          <a:xfrm>
            <a:off x="4846320" y="1417320"/>
            <a:ext cx="548640" cy="548640"/>
          </a:xfrm>
          <a:prstGeom prst="ellipse">
            <a:avLst/>
          </a:prstGeom>
          <a:solidFill>
            <a:schemeClr val="accent1"/>
          </a:solidFill>
          <a:ln w="12700">
            <a:solidFill>
              <a:schemeClr val="accent1"/>
            </a:solidFill>
            <a:prstDash val="solid"/>
          </a:ln>
        </p:spPr>
      </p:sp>
      <p:sp>
        <p:nvSpPr>
          <p:cNvPr id="17" name="Text 15"/>
          <p:cNvSpPr txBox="1"/>
          <p:nvPr/>
        </p:nvSpPr>
        <p:spPr>
          <a:xfrm>
            <a:off x="4846320"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4846320" y="2103120"/>
            <a:ext cx="1554480" cy="685800"/>
          </a:xfrm>
          <a:prstGeom prst="rect">
            <a:avLst/>
          </a:prstGeom>
          <a:noFill/>
          <a:ln/>
        </p:spPr>
        <p:txBody>
          <a:bodyPr wrap="square" lIns="0" tIns="0" rIns="0" bIns="0" rtlCol="0" anchor="t"/>
          <a:lstStyle/>
          <a:p>
            <a:pPr indent="0" marL="0">
              <a:buNone/>
            </a:pPr>
            <a:r>
              <a:rPr lang="en-US" sz="1400" b="1" dirty="0">
                <a:solidFill>
                  <a:schemeClr val="tx2"/>
                </a:solidFill>
              </a:rPr>
              <a:t>Was it adequate?</a:t>
            </a:r>
            <a:endParaRPr lang="en-US" sz="1400" dirty="0"/>
          </a:p>
        </p:txBody>
      </p:sp>
      <p:sp>
        <p:nvSpPr>
          <p:cNvPr id="19" name="Text 17"/>
          <p:cNvSpPr txBox="1"/>
          <p:nvPr/>
        </p:nvSpPr>
        <p:spPr>
          <a:xfrm>
            <a:off x="4846320" y="2834640"/>
            <a:ext cx="1554480" cy="1417320"/>
          </a:xfrm>
          <a:prstGeom prst="rect">
            <a:avLst/>
          </a:prstGeom>
          <a:noFill/>
          <a:ln/>
        </p:spPr>
        <p:txBody>
          <a:bodyPr wrap="square" lIns="0" tIns="0" rIns="0" bIns="0" rtlCol="0" anchor="t"/>
          <a:lstStyle/>
          <a:p>
            <a:pPr indent="0" marL="0">
              <a:buNone/>
            </a:pPr>
            <a:r>
              <a:rPr lang="en-US" sz="1250" dirty="0">
                <a:solidFill>
                  <a:schemeClr val="tx1"/>
                </a:solidFill>
              </a:rPr>
              <a:t>Did it answer each question? If not, what was missing and why it matters.</a:t>
            </a:r>
            <a:endParaRPr lang="en-US" sz="1250" dirty="0"/>
          </a:p>
        </p:txBody>
      </p:sp>
      <p:sp>
        <p:nvSpPr>
          <p:cNvPr id="20" name="RFI arrow 3"/>
          <p:cNvSpPr/>
          <p:nvPr/>
        </p:nvSpPr>
        <p:spPr>
          <a:xfrm>
            <a:off x="6556248" y="2606040"/>
            <a:ext cx="192024" cy="320040"/>
          </a:xfrm>
          <a:prstGeom prst="rightArrow">
            <a:avLst/>
          </a:prstGeom>
          <a:solidFill>
            <a:schemeClr val="accent2"/>
          </a:solidFill>
          <a:ln w="12700">
            <a:solidFill>
              <a:schemeClr val="accent2"/>
            </a:solidFill>
            <a:prstDash val="solid"/>
          </a:ln>
        </p:spPr>
      </p:sp>
      <p:sp>
        <p:nvSpPr>
          <p:cNvPr id="21" name="RFI step 4"/>
          <p:cNvSpPr/>
          <p:nvPr/>
        </p:nvSpPr>
        <p:spPr>
          <a:xfrm>
            <a:off x="6766560" y="1234440"/>
            <a:ext cx="1874520" cy="3108960"/>
          </a:xfrm>
          <a:prstGeom prst="roundRect">
            <a:avLst>
              <a:gd name="adj" fmla="val 390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2" name="RFI number 4"/>
          <p:cNvSpPr/>
          <p:nvPr/>
        </p:nvSpPr>
        <p:spPr>
          <a:xfrm>
            <a:off x="6949440" y="1417320"/>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6949440"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Text 22"/>
          <p:cNvSpPr txBox="1"/>
          <p:nvPr/>
        </p:nvSpPr>
        <p:spPr>
          <a:xfrm>
            <a:off x="6949440" y="2103120"/>
            <a:ext cx="1554480" cy="685800"/>
          </a:xfrm>
          <a:prstGeom prst="rect">
            <a:avLst/>
          </a:prstGeom>
          <a:noFill/>
          <a:ln/>
        </p:spPr>
        <p:txBody>
          <a:bodyPr wrap="square" lIns="0" tIns="0" rIns="0" bIns="0" rtlCol="0" anchor="t"/>
          <a:lstStyle/>
          <a:p>
            <a:pPr indent="0" marL="0">
              <a:buNone/>
            </a:pPr>
            <a:r>
              <a:rPr lang="en-US" sz="1400" b="1" dirty="0">
                <a:solidFill>
                  <a:schemeClr val="tx2"/>
                </a:solidFill>
              </a:rPr>
              <a:t>How was it used?</a:t>
            </a:r>
            <a:endParaRPr lang="en-US" sz="1400" dirty="0"/>
          </a:p>
        </p:txBody>
      </p:sp>
      <p:sp>
        <p:nvSpPr>
          <p:cNvPr id="25" name="Text 23"/>
          <p:cNvSpPr txBox="1"/>
          <p:nvPr/>
        </p:nvSpPr>
        <p:spPr>
          <a:xfrm>
            <a:off x="6949440" y="2834640"/>
            <a:ext cx="1554480" cy="1417320"/>
          </a:xfrm>
          <a:prstGeom prst="rect">
            <a:avLst/>
          </a:prstGeom>
          <a:noFill/>
          <a:ln/>
        </p:spPr>
        <p:txBody>
          <a:bodyPr wrap="square" lIns="0" tIns="0" rIns="0" bIns="0" rtlCol="0" anchor="t"/>
          <a:lstStyle/>
          <a:p>
            <a:pPr indent="0" marL="0">
              <a:buNone/>
            </a:pPr>
            <a:r>
              <a:rPr lang="en-US" sz="1250" dirty="0">
                <a:solidFill>
                  <a:schemeClr val="tx1"/>
                </a:solidFill>
              </a:rPr>
              <a:t>What risk it ruled in or out, and how it shaped the final outcome.</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RFI notes: before and after</a:t>
            </a:r>
            <a:endParaRPr lang="en-US" sz="2800" dirty="0"/>
          </a:p>
        </p:txBody>
      </p:sp>
      <p:sp>
        <p:nvSpPr>
          <p:cNvPr id="3" name="Before card"/>
          <p:cNvSpPr/>
          <p:nvPr/>
        </p:nvSpPr>
        <p:spPr>
          <a:xfrm>
            <a:off x="457200" y="1143000"/>
            <a:ext cx="393192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Before circle"/>
          <p:cNvSpPr/>
          <p:nvPr/>
        </p:nvSpPr>
        <p:spPr>
          <a:xfrm>
            <a:off x="685800" y="1325880"/>
            <a:ext cx="457200" cy="457200"/>
          </a:xfrm>
          <a:prstGeom prst="ellipse">
            <a:avLst/>
          </a:prstGeom>
          <a:solidFill>
            <a:srgbClr val="C8553D"/>
          </a:solidFill>
          <a:ln w="12700">
            <a:solidFill>
              <a:srgbClr val="C8553D"/>
            </a:solidFill>
            <a:prstDash val="solid"/>
          </a:ln>
        </p:spPr>
      </p:sp>
      <p:pic>
        <p:nvPicPr>
          <p:cNvPr id="5" name="Before icon" descr="preencoded.png">    </p:cNvPr>
          <p:cNvPicPr>
            <a:picLocks noChangeAspect="1"/>
          </p:cNvPicPr>
          <p:nvPr/>
        </p:nvPicPr>
        <p:blipFill>
          <a:blip r:embed="rId1"/>
          <a:stretch>
            <a:fillRect/>
          </a:stretch>
        </p:blipFill>
        <p:spPr>
          <a:xfrm>
            <a:off x="800100" y="1440180"/>
            <a:ext cx="228600" cy="228600"/>
          </a:xfrm>
          <a:prstGeom prst="rect">
            <a:avLst/>
          </a:prstGeom>
        </p:spPr>
      </p:pic>
      <p:sp>
        <p:nvSpPr>
          <p:cNvPr id="6" name="Text 3"/>
          <p:cNvSpPr txBox="1"/>
          <p:nvPr/>
        </p:nvSpPr>
        <p:spPr>
          <a:xfrm>
            <a:off x="1280160" y="1325880"/>
            <a:ext cx="3017520" cy="457200"/>
          </a:xfrm>
          <a:prstGeom prst="rect">
            <a:avLst/>
          </a:prstGeom>
          <a:noFill/>
          <a:ln/>
        </p:spPr>
        <p:txBody>
          <a:bodyPr wrap="square" lIns="0" tIns="0" rIns="0" bIns="0" rtlCol="0" anchor="ctr"/>
          <a:lstStyle/>
          <a:p>
            <a:pPr indent="0" marL="0">
              <a:buNone/>
            </a:pPr>
            <a:r>
              <a:rPr lang="en-US" sz="1600" b="1" dirty="0">
                <a:solidFill>
                  <a:schemeClr val="accent3"/>
                </a:solidFill>
              </a:rPr>
              <a:t>Missing the impact</a:t>
            </a:r>
            <a:endParaRPr lang="en-US" sz="1600" dirty="0"/>
          </a:p>
        </p:txBody>
      </p:sp>
      <p:sp>
        <p:nvSpPr>
          <p:cNvPr id="7" name="Text 4"/>
          <p:cNvSpPr txBox="1"/>
          <p:nvPr/>
        </p:nvSpPr>
        <p:spPr>
          <a:xfrm>
            <a:off x="685800" y="1965960"/>
            <a:ext cx="3520440" cy="1188720"/>
          </a:xfrm>
          <a:prstGeom prst="rect">
            <a:avLst/>
          </a:prstGeom>
          <a:noFill/>
          <a:ln/>
        </p:spPr>
        <p:txBody>
          <a:bodyPr wrap="square" lIns="0" tIns="0" rIns="0" bIns="0" rtlCol="0" anchor="t"/>
          <a:lstStyle/>
          <a:p>
            <a:pPr indent="0" marL="0">
              <a:buNone/>
            </a:pPr>
            <a:r>
              <a:rPr lang="en-US" sz="1500" i="1" dirty="0">
                <a:solidFill>
                  <a:schemeClr val="tx1"/>
                </a:solidFill>
              </a:rPr>
              <a:t>"Performed. An RFI was sent… and the response lacked details whereby the merchant stated that they do not collect PII."</a:t>
            </a:r>
            <a:endParaRPr lang="en-US" sz="1500" dirty="0"/>
          </a:p>
        </p:txBody>
      </p:sp>
      <p:sp>
        <p:nvSpPr>
          <p:cNvPr id="8" name="Text 5"/>
          <p:cNvSpPr txBox="1"/>
          <p:nvPr/>
        </p:nvSpPr>
        <p:spPr>
          <a:xfrm>
            <a:off x="685800" y="3383280"/>
            <a:ext cx="3520440" cy="914400"/>
          </a:xfrm>
          <a:prstGeom prst="rect">
            <a:avLst/>
          </a:prstGeom>
          <a:noFill/>
          <a:ln/>
        </p:spPr>
        <p:txBody>
          <a:bodyPr wrap="square" lIns="0" tIns="0" rIns="0" bIns="0" rtlCol="0" anchor="t"/>
          <a:lstStyle/>
          <a:p>
            <a:pPr indent="0" marL="0">
              <a:buNone/>
            </a:pPr>
            <a:r>
              <a:rPr lang="en-US" sz="1300" dirty="0">
                <a:solidFill>
                  <a:schemeClr val="accent5"/>
                </a:solidFill>
              </a:rPr>
              <a:t>States the facts but not the impact on the case.</a:t>
            </a:r>
            <a:endParaRPr lang="en-US" sz="1300" dirty="0"/>
          </a:p>
        </p:txBody>
      </p:sp>
      <p:sp>
        <p:nvSpPr>
          <p:cNvPr id="9" name="After card"/>
          <p:cNvSpPr/>
          <p:nvPr/>
        </p:nvSpPr>
        <p:spPr>
          <a:xfrm>
            <a:off x="4754880" y="1143000"/>
            <a:ext cx="393192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After circle"/>
          <p:cNvSpPr/>
          <p:nvPr/>
        </p:nvSpPr>
        <p:spPr>
          <a:xfrm>
            <a:off x="4983480" y="1325880"/>
            <a:ext cx="457200" cy="457200"/>
          </a:xfrm>
          <a:prstGeom prst="ellipse">
            <a:avLst/>
          </a:prstGeom>
          <a:solidFill>
            <a:srgbClr val="3A7D44"/>
          </a:solidFill>
          <a:ln w="12700">
            <a:solidFill>
              <a:srgbClr val="3A7D44"/>
            </a:solidFill>
            <a:prstDash val="solid"/>
          </a:ln>
        </p:spPr>
      </p:sp>
      <p:pic>
        <p:nvPicPr>
          <p:cNvPr id="11" name="After icon" descr="preencoded.png">    </p:cNvPr>
          <p:cNvPicPr>
            <a:picLocks noChangeAspect="1"/>
          </p:cNvPicPr>
          <p:nvPr/>
        </p:nvPicPr>
        <p:blipFill>
          <a:blip r:embed="rId2"/>
          <a:stretch>
            <a:fillRect/>
          </a:stretch>
        </p:blipFill>
        <p:spPr>
          <a:xfrm>
            <a:off x="5097780" y="1440180"/>
            <a:ext cx="228600" cy="228600"/>
          </a:xfrm>
          <a:prstGeom prst="rect">
            <a:avLst/>
          </a:prstGeom>
        </p:spPr>
      </p:pic>
      <p:sp>
        <p:nvSpPr>
          <p:cNvPr id="12" name="Text 8"/>
          <p:cNvSpPr txBox="1"/>
          <p:nvPr/>
        </p:nvSpPr>
        <p:spPr>
          <a:xfrm>
            <a:off x="5577840" y="1325880"/>
            <a:ext cx="3017520" cy="457200"/>
          </a:xfrm>
          <a:prstGeom prst="rect">
            <a:avLst/>
          </a:prstGeom>
          <a:noFill/>
          <a:ln/>
        </p:spPr>
        <p:txBody>
          <a:bodyPr wrap="square" lIns="0" tIns="0" rIns="0" bIns="0" rtlCol="0" anchor="ctr"/>
          <a:lstStyle/>
          <a:p>
            <a:pPr indent="0" marL="0">
              <a:buNone/>
            </a:pPr>
            <a:r>
              <a:rPr lang="en-US" sz="1600" b="1" dirty="0">
                <a:solidFill>
                  <a:schemeClr val="accent4"/>
                </a:solidFill>
              </a:rPr>
              <a:t>With the "so what"</a:t>
            </a:r>
            <a:endParaRPr lang="en-US" sz="1600" dirty="0"/>
          </a:p>
        </p:txBody>
      </p:sp>
      <p:sp>
        <p:nvSpPr>
          <p:cNvPr id="13" name="Text 9"/>
          <p:cNvSpPr txBox="1"/>
          <p:nvPr/>
        </p:nvSpPr>
        <p:spPr>
          <a:xfrm>
            <a:off x="4983480" y="1920240"/>
            <a:ext cx="3520440" cy="2468880"/>
          </a:xfrm>
          <a:prstGeom prst="rect">
            <a:avLst/>
          </a:prstGeom>
          <a:noFill/>
          <a:ln/>
        </p:spPr>
        <p:txBody>
          <a:bodyPr wrap="square" lIns="0" tIns="0" rIns="0" bIns="0" rtlCol="0" anchor="t"/>
          <a:lstStyle/>
          <a:p>
            <a:pPr indent="0" marL="0">
              <a:buNone/>
            </a:pPr>
            <a:r>
              <a:rPr lang="en-US" sz="1300" dirty="0">
                <a:solidFill>
                  <a:schemeClr val="tx1"/>
                </a:solidFill>
              </a:rPr>
              <a:t>"An RFI was sent on [date] requesting [customer details and the purpose of the flagged transactions]. The merchant responded on [date] stating they do not collect PII. As a result, we were unable to verify the end customers or rule out [e.g. third-party or mule activity]. This unresolved risk supports escalation."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Test the response, don't just file it</a:t>
            </a:r>
            <a:endParaRPr lang="en-US" sz="2800" dirty="0"/>
          </a:p>
        </p:txBody>
      </p:sp>
      <p:sp>
        <p:nvSpPr>
          <p:cNvPr id="3" name="Text 1"/>
          <p:cNvSpPr txBox="1"/>
          <p:nvPr/>
        </p:nvSpPr>
        <p:spPr>
          <a:xfrm>
            <a:off x="457200" y="1051560"/>
            <a:ext cx="8229600" cy="548640"/>
          </a:xfrm>
          <a:prstGeom prst="rect">
            <a:avLst/>
          </a:prstGeom>
          <a:noFill/>
          <a:ln/>
        </p:spPr>
        <p:txBody>
          <a:bodyPr wrap="square" lIns="0" tIns="0" rIns="0" bIns="0" rtlCol="0" anchor="t"/>
          <a:lstStyle/>
          <a:p>
            <a:pPr indent="0" marL="0">
              <a:buNone/>
            </a:pPr>
            <a:r>
              <a:rPr lang="en-US" sz="1500" i="1" dirty="0">
                <a:solidFill>
                  <a:schemeClr val="accent5"/>
                </a:solidFill>
              </a:rPr>
              <a:t>RFI handling was the clearest UK-specific theme in the QA review. Responses were often accepted with little scrutiny.</a:t>
            </a:r>
            <a:endParaRPr lang="en-US" sz="1500" dirty="0"/>
          </a:p>
        </p:txBody>
      </p:sp>
      <p:sp>
        <p:nvSpPr>
          <p:cNvPr id="4" name="Scrutiny row 1"/>
          <p:cNvSpPr/>
          <p:nvPr/>
        </p:nvSpPr>
        <p:spPr>
          <a:xfrm>
            <a:off x="457200" y="1691640"/>
            <a:ext cx="822960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5" name="Scrutiny 1 circle"/>
          <p:cNvSpPr/>
          <p:nvPr/>
        </p:nvSpPr>
        <p:spPr>
          <a:xfrm>
            <a:off x="640080" y="1828800"/>
            <a:ext cx="548640" cy="548640"/>
          </a:xfrm>
          <a:prstGeom prst="ellipse">
            <a:avLst/>
          </a:prstGeom>
          <a:solidFill>
            <a:srgbClr val="0F7173"/>
          </a:solidFill>
          <a:ln w="12700">
            <a:solidFill>
              <a:srgbClr val="0F7173"/>
            </a:solidFill>
            <a:prstDash val="solid"/>
          </a:ln>
        </p:spPr>
      </p:sp>
      <p:pic>
        <p:nvPicPr>
          <p:cNvPr id="6" name="Scrutiny 1 icon" descr="preencoded.png">    </p:cNvPr>
          <p:cNvPicPr>
            <a:picLocks noChangeAspect="1"/>
          </p:cNvPicPr>
          <p:nvPr/>
        </p:nvPicPr>
        <p:blipFill>
          <a:blip r:embed="rId1"/>
          <a:stretch>
            <a:fillRect/>
          </a:stretch>
        </p:blipFill>
        <p:spPr>
          <a:xfrm>
            <a:off x="777240" y="1965960"/>
            <a:ext cx="274320" cy="274320"/>
          </a:xfrm>
          <a:prstGeom prst="rect">
            <a:avLst/>
          </a:prstGeom>
        </p:spPr>
      </p:pic>
      <p:sp>
        <p:nvSpPr>
          <p:cNvPr id="7" name="Text 4"/>
          <p:cNvSpPr txBox="1"/>
          <p:nvPr/>
        </p:nvSpPr>
        <p:spPr>
          <a:xfrm>
            <a:off x="1371600" y="1691640"/>
            <a:ext cx="2194560" cy="822960"/>
          </a:xfrm>
          <a:prstGeom prst="rect">
            <a:avLst/>
          </a:prstGeom>
          <a:noFill/>
          <a:ln/>
        </p:spPr>
        <p:txBody>
          <a:bodyPr wrap="square" lIns="0" tIns="0" rIns="0" bIns="0" rtlCol="0" anchor="ctr"/>
          <a:lstStyle/>
          <a:p>
            <a:pPr indent="0" marL="0">
              <a:buNone/>
            </a:pPr>
            <a:r>
              <a:rPr lang="en-US" sz="1500" b="1" dirty="0">
                <a:solidFill>
                  <a:schemeClr val="tx2"/>
                </a:solidFill>
              </a:rPr>
              <a:t>Target the gap</a:t>
            </a:r>
            <a:endParaRPr lang="en-US" sz="1500" dirty="0"/>
          </a:p>
        </p:txBody>
      </p:sp>
      <p:sp>
        <p:nvSpPr>
          <p:cNvPr id="8" name="Text 5"/>
          <p:cNvSpPr txBox="1"/>
          <p:nvPr/>
        </p:nvSpPr>
        <p:spPr>
          <a:xfrm>
            <a:off x="3611880" y="1691640"/>
            <a:ext cx="4937760" cy="822960"/>
          </a:xfrm>
          <a:prstGeom prst="rect">
            <a:avLst/>
          </a:prstGeom>
          <a:noFill/>
          <a:ln/>
        </p:spPr>
        <p:txBody>
          <a:bodyPr wrap="square" lIns="0" tIns="0" rIns="0" bIns="0" rtlCol="0" anchor="ctr"/>
          <a:lstStyle/>
          <a:p>
            <a:pPr indent="0" marL="0">
              <a:buNone/>
            </a:pPr>
            <a:r>
              <a:rPr lang="en-US" sz="1300" dirty="0">
                <a:solidFill>
                  <a:schemeClr val="tx1"/>
                </a:solidFill>
              </a:rPr>
              <a:t>Ask for what you need to resolve the specific alerted activity, not a generic questionnaire.</a:t>
            </a:r>
            <a:endParaRPr lang="en-US" sz="1300" dirty="0"/>
          </a:p>
        </p:txBody>
      </p:sp>
      <p:sp>
        <p:nvSpPr>
          <p:cNvPr id="9" name="Scrutiny row 2"/>
          <p:cNvSpPr/>
          <p:nvPr/>
        </p:nvSpPr>
        <p:spPr>
          <a:xfrm>
            <a:off x="457200" y="2651760"/>
            <a:ext cx="822960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0" name="Scrutiny 2 circle"/>
          <p:cNvSpPr/>
          <p:nvPr/>
        </p:nvSpPr>
        <p:spPr>
          <a:xfrm>
            <a:off x="640080" y="2788920"/>
            <a:ext cx="548640" cy="548640"/>
          </a:xfrm>
          <a:prstGeom prst="ellipse">
            <a:avLst/>
          </a:prstGeom>
          <a:solidFill>
            <a:srgbClr val="0F7173"/>
          </a:solidFill>
          <a:ln w="12700">
            <a:solidFill>
              <a:srgbClr val="0F7173"/>
            </a:solidFill>
            <a:prstDash val="solid"/>
          </a:ln>
        </p:spPr>
      </p:sp>
      <p:pic>
        <p:nvPicPr>
          <p:cNvPr id="11" name="Scrutiny 2 icon" descr="preencoded.png">    </p:cNvPr>
          <p:cNvPicPr>
            <a:picLocks noChangeAspect="1"/>
          </p:cNvPicPr>
          <p:nvPr/>
        </p:nvPicPr>
        <p:blipFill>
          <a:blip r:embed="rId2"/>
          <a:stretch>
            <a:fillRect/>
          </a:stretch>
        </p:blipFill>
        <p:spPr>
          <a:xfrm>
            <a:off x="777240" y="2926080"/>
            <a:ext cx="274320" cy="274320"/>
          </a:xfrm>
          <a:prstGeom prst="rect">
            <a:avLst/>
          </a:prstGeom>
        </p:spPr>
      </p:pic>
      <p:sp>
        <p:nvSpPr>
          <p:cNvPr id="12" name="Text 8"/>
          <p:cNvSpPr txBox="1"/>
          <p:nvPr/>
        </p:nvSpPr>
        <p:spPr>
          <a:xfrm>
            <a:off x="1371600" y="2651760"/>
            <a:ext cx="2194560" cy="822960"/>
          </a:xfrm>
          <a:prstGeom prst="rect">
            <a:avLst/>
          </a:prstGeom>
          <a:noFill/>
          <a:ln/>
        </p:spPr>
        <p:txBody>
          <a:bodyPr wrap="square" lIns="0" tIns="0" rIns="0" bIns="0" rtlCol="0" anchor="ctr"/>
          <a:lstStyle/>
          <a:p>
            <a:pPr indent="0" marL="0">
              <a:buNone/>
            </a:pPr>
            <a:r>
              <a:rPr lang="en-US" sz="1500" b="1" dirty="0">
                <a:solidFill>
                  <a:schemeClr val="tx2"/>
                </a:solidFill>
              </a:rPr>
              <a:t>Test it against the data</a:t>
            </a:r>
            <a:endParaRPr lang="en-US" sz="1500" dirty="0"/>
          </a:p>
        </p:txBody>
      </p:sp>
      <p:sp>
        <p:nvSpPr>
          <p:cNvPr id="13" name="Text 9"/>
          <p:cNvSpPr txBox="1"/>
          <p:nvPr/>
        </p:nvSpPr>
        <p:spPr>
          <a:xfrm>
            <a:off x="3611880" y="2651760"/>
            <a:ext cx="4937760" cy="822960"/>
          </a:xfrm>
          <a:prstGeom prst="rect">
            <a:avLst/>
          </a:prstGeom>
          <a:noFill/>
          <a:ln/>
        </p:spPr>
        <p:txBody>
          <a:bodyPr wrap="square" lIns="0" tIns="0" rIns="0" bIns="0" rtlCol="0" anchor="ctr"/>
          <a:lstStyle/>
          <a:p>
            <a:pPr indent="0" marL="0">
              <a:buNone/>
            </a:pPr>
            <a:r>
              <a:rPr lang="en-US" sz="1300" dirty="0">
                <a:solidFill>
                  <a:schemeClr val="tx1"/>
                </a:solidFill>
              </a:rPr>
              <a:t>Does the response match what the transactions show? Check values, dates, customers and countries.</a:t>
            </a:r>
            <a:endParaRPr lang="en-US" sz="1300" dirty="0"/>
          </a:p>
        </p:txBody>
      </p:sp>
      <p:sp>
        <p:nvSpPr>
          <p:cNvPr id="14" name="Scrutiny row 3"/>
          <p:cNvSpPr/>
          <p:nvPr/>
        </p:nvSpPr>
        <p:spPr>
          <a:xfrm>
            <a:off x="457200" y="3611880"/>
            <a:ext cx="822960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5" name="Scrutiny 3 circle"/>
          <p:cNvSpPr/>
          <p:nvPr/>
        </p:nvSpPr>
        <p:spPr>
          <a:xfrm>
            <a:off x="640080" y="3749040"/>
            <a:ext cx="548640" cy="548640"/>
          </a:xfrm>
          <a:prstGeom prst="ellipse">
            <a:avLst/>
          </a:prstGeom>
          <a:solidFill>
            <a:srgbClr val="0F7173"/>
          </a:solidFill>
          <a:ln w="12700">
            <a:solidFill>
              <a:srgbClr val="0F7173"/>
            </a:solidFill>
            <a:prstDash val="solid"/>
          </a:ln>
        </p:spPr>
      </p:sp>
      <p:pic>
        <p:nvPicPr>
          <p:cNvPr id="16" name="Scrutiny 3 icon" descr="preencoded.png">    </p:cNvPr>
          <p:cNvPicPr>
            <a:picLocks noChangeAspect="1"/>
          </p:cNvPicPr>
          <p:nvPr/>
        </p:nvPicPr>
        <p:blipFill>
          <a:blip r:embed="rId3"/>
          <a:stretch>
            <a:fillRect/>
          </a:stretch>
        </p:blipFill>
        <p:spPr>
          <a:xfrm>
            <a:off x="777240" y="3886200"/>
            <a:ext cx="274320" cy="274320"/>
          </a:xfrm>
          <a:prstGeom prst="rect">
            <a:avLst/>
          </a:prstGeom>
        </p:spPr>
      </p:pic>
      <p:sp>
        <p:nvSpPr>
          <p:cNvPr id="17" name="Text 12"/>
          <p:cNvSpPr txBox="1"/>
          <p:nvPr/>
        </p:nvSpPr>
        <p:spPr>
          <a:xfrm>
            <a:off x="1371600" y="3611880"/>
            <a:ext cx="2194560" cy="822960"/>
          </a:xfrm>
          <a:prstGeom prst="rect">
            <a:avLst/>
          </a:prstGeom>
          <a:noFill/>
          <a:ln/>
        </p:spPr>
        <p:txBody>
          <a:bodyPr wrap="square" lIns="0" tIns="0" rIns="0" bIns="0" rtlCol="0" anchor="ctr"/>
          <a:lstStyle/>
          <a:p>
            <a:pPr indent="0" marL="0">
              <a:buNone/>
            </a:pPr>
            <a:r>
              <a:rPr lang="en-US" sz="1500" b="1" dirty="0">
                <a:solidFill>
                  <a:schemeClr val="tx2"/>
                </a:solidFill>
              </a:rPr>
              <a:t>Act on what is unresolved</a:t>
            </a:r>
            <a:endParaRPr lang="en-US" sz="1500" dirty="0"/>
          </a:p>
        </p:txBody>
      </p:sp>
      <p:sp>
        <p:nvSpPr>
          <p:cNvPr id="18" name="Text 13"/>
          <p:cNvSpPr txBox="1"/>
          <p:nvPr/>
        </p:nvSpPr>
        <p:spPr>
          <a:xfrm>
            <a:off x="3611880" y="3611880"/>
            <a:ext cx="4937760" cy="822960"/>
          </a:xfrm>
          <a:prstGeom prst="rect">
            <a:avLst/>
          </a:prstGeom>
          <a:noFill/>
          <a:ln/>
        </p:spPr>
        <p:txBody>
          <a:bodyPr wrap="square" lIns="0" tIns="0" rIns="0" bIns="0" rtlCol="0" anchor="ctr"/>
          <a:lstStyle/>
          <a:p>
            <a:pPr indent="0" marL="0">
              <a:buNone/>
            </a:pPr>
            <a:r>
              <a:rPr lang="en-US" sz="1300" dirty="0">
                <a:solidFill>
                  <a:schemeClr val="tx1"/>
                </a:solidFill>
              </a:rPr>
              <a:t>Where a response is inadequate or inconsistent, say what risk remains and consider escalation in line with the SOP.</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Your self-check before submitting</a:t>
            </a:r>
            <a:endParaRPr lang="en-US" sz="2800" dirty="0"/>
          </a:p>
        </p:txBody>
      </p:sp>
      <p:sp>
        <p:nvSpPr>
          <p:cNvPr id="3" name="Check 1 circle"/>
          <p:cNvSpPr/>
          <p:nvPr/>
        </p:nvSpPr>
        <p:spPr>
          <a:xfrm>
            <a:off x="457200" y="1188720"/>
            <a:ext cx="411480" cy="411480"/>
          </a:xfrm>
          <a:prstGeom prst="ellipse">
            <a:avLst/>
          </a:prstGeom>
          <a:solidFill>
            <a:srgbClr val="0F7173"/>
          </a:solidFill>
          <a:ln w="12700">
            <a:solidFill>
              <a:srgbClr val="0F7173"/>
            </a:solidFill>
            <a:prstDash val="solid"/>
          </a:ln>
        </p:spPr>
      </p:sp>
      <p:pic>
        <p:nvPicPr>
          <p:cNvPr id="4" name="Check 1 icon" descr="preencoded.png">    </p:cNvPr>
          <p:cNvPicPr>
            <a:picLocks noChangeAspect="1"/>
          </p:cNvPicPr>
          <p:nvPr/>
        </p:nvPicPr>
        <p:blipFill>
          <a:blip r:embed="rId1"/>
          <a:stretch>
            <a:fillRect/>
          </a:stretch>
        </p:blipFill>
        <p:spPr>
          <a:xfrm>
            <a:off x="560070" y="1291590"/>
            <a:ext cx="205740" cy="205740"/>
          </a:xfrm>
          <a:prstGeom prst="rect">
            <a:avLst/>
          </a:prstGeom>
        </p:spPr>
      </p:pic>
      <p:sp>
        <p:nvSpPr>
          <p:cNvPr id="5" name="Text 2"/>
          <p:cNvSpPr txBox="1"/>
          <p:nvPr/>
        </p:nvSpPr>
        <p:spPr>
          <a:xfrm>
            <a:off x="1005840" y="1188720"/>
            <a:ext cx="3520440" cy="411480"/>
          </a:xfrm>
          <a:prstGeom prst="rect">
            <a:avLst/>
          </a:prstGeom>
          <a:noFill/>
          <a:ln/>
        </p:spPr>
        <p:txBody>
          <a:bodyPr wrap="square" lIns="0" tIns="0" rIns="0" bIns="0" rtlCol="0" anchor="ctr"/>
          <a:lstStyle/>
          <a:p>
            <a:pPr indent="0" marL="0">
              <a:buNone/>
            </a:pPr>
            <a:r>
              <a:rPr lang="en-US" sz="1400" dirty="0">
                <a:solidFill>
                  <a:schemeClr val="tx1"/>
                </a:solidFill>
              </a:rPr>
              <a:t>Rule and alerting transaction stated first</a:t>
            </a:r>
            <a:endParaRPr lang="en-US" sz="1400" dirty="0"/>
          </a:p>
        </p:txBody>
      </p:sp>
      <p:sp>
        <p:nvSpPr>
          <p:cNvPr id="6" name="Check 2 circle"/>
          <p:cNvSpPr/>
          <p:nvPr/>
        </p:nvSpPr>
        <p:spPr>
          <a:xfrm>
            <a:off x="457200" y="1847088"/>
            <a:ext cx="411480" cy="411480"/>
          </a:xfrm>
          <a:prstGeom prst="ellipse">
            <a:avLst/>
          </a:prstGeom>
          <a:solidFill>
            <a:srgbClr val="0F7173"/>
          </a:solidFill>
          <a:ln w="12700">
            <a:solidFill>
              <a:srgbClr val="0F7173"/>
            </a:solidFill>
            <a:prstDash val="solid"/>
          </a:ln>
        </p:spPr>
      </p:sp>
      <p:pic>
        <p:nvPicPr>
          <p:cNvPr id="7" name="Check 2 icon" descr="preencoded.png">    </p:cNvPr>
          <p:cNvPicPr>
            <a:picLocks noChangeAspect="1"/>
          </p:cNvPicPr>
          <p:nvPr/>
        </p:nvPicPr>
        <p:blipFill>
          <a:blip r:embed="rId2"/>
          <a:stretch>
            <a:fillRect/>
          </a:stretch>
        </p:blipFill>
        <p:spPr>
          <a:xfrm>
            <a:off x="560070" y="1949958"/>
            <a:ext cx="205740" cy="205740"/>
          </a:xfrm>
          <a:prstGeom prst="rect">
            <a:avLst/>
          </a:prstGeom>
        </p:spPr>
      </p:pic>
      <p:sp>
        <p:nvSpPr>
          <p:cNvPr id="8" name="Text 4"/>
          <p:cNvSpPr txBox="1"/>
          <p:nvPr/>
        </p:nvSpPr>
        <p:spPr>
          <a:xfrm>
            <a:off x="1005840" y="1847088"/>
            <a:ext cx="3520440" cy="411480"/>
          </a:xfrm>
          <a:prstGeom prst="rect">
            <a:avLst/>
          </a:prstGeom>
          <a:noFill/>
          <a:ln/>
        </p:spPr>
        <p:txBody>
          <a:bodyPr wrap="square" lIns="0" tIns="0" rIns="0" bIns="0" rtlCol="0" anchor="ctr"/>
          <a:lstStyle/>
          <a:p>
            <a:pPr indent="0" marL="0">
              <a:buNone/>
            </a:pPr>
            <a:r>
              <a:rPr lang="en-US" sz="1400" dirty="0">
                <a:solidFill>
                  <a:schemeClr val="tx1"/>
                </a:solidFill>
              </a:rPr>
              <a:t>Merchant and customer profile</a:t>
            </a:r>
            <a:endParaRPr lang="en-US" sz="1400" dirty="0"/>
          </a:p>
        </p:txBody>
      </p:sp>
      <p:sp>
        <p:nvSpPr>
          <p:cNvPr id="9" name="Check 3 circle"/>
          <p:cNvSpPr/>
          <p:nvPr/>
        </p:nvSpPr>
        <p:spPr>
          <a:xfrm>
            <a:off x="457200" y="2505456"/>
            <a:ext cx="411480" cy="411480"/>
          </a:xfrm>
          <a:prstGeom prst="ellipse">
            <a:avLst/>
          </a:prstGeom>
          <a:solidFill>
            <a:srgbClr val="0F7173"/>
          </a:solidFill>
          <a:ln w="12700">
            <a:solidFill>
              <a:srgbClr val="0F7173"/>
            </a:solidFill>
            <a:prstDash val="solid"/>
          </a:ln>
        </p:spPr>
      </p:sp>
      <p:pic>
        <p:nvPicPr>
          <p:cNvPr id="10" name="Check 3 icon" descr="preencoded.png">    </p:cNvPr>
          <p:cNvPicPr>
            <a:picLocks noChangeAspect="1"/>
          </p:cNvPicPr>
          <p:nvPr/>
        </p:nvPicPr>
        <p:blipFill>
          <a:blip r:embed="rId3"/>
          <a:stretch>
            <a:fillRect/>
          </a:stretch>
        </p:blipFill>
        <p:spPr>
          <a:xfrm>
            <a:off x="560070" y="2608326"/>
            <a:ext cx="205740" cy="205740"/>
          </a:xfrm>
          <a:prstGeom prst="rect">
            <a:avLst/>
          </a:prstGeom>
        </p:spPr>
      </p:pic>
      <p:sp>
        <p:nvSpPr>
          <p:cNvPr id="11" name="Text 6"/>
          <p:cNvSpPr txBox="1"/>
          <p:nvPr/>
        </p:nvSpPr>
        <p:spPr>
          <a:xfrm>
            <a:off x="1005840" y="2505456"/>
            <a:ext cx="3520440" cy="411480"/>
          </a:xfrm>
          <a:prstGeom prst="rect">
            <a:avLst/>
          </a:prstGeom>
          <a:noFill/>
          <a:ln/>
        </p:spPr>
        <p:txBody>
          <a:bodyPr wrap="square" lIns="0" tIns="0" rIns="0" bIns="0" rtlCol="0" anchor="ctr"/>
          <a:lstStyle/>
          <a:p>
            <a:pPr indent="0" marL="0">
              <a:buNone/>
            </a:pPr>
            <a:r>
              <a:rPr lang="en-US" sz="1400" dirty="0">
                <a:solidFill>
                  <a:schemeClr val="tx1"/>
                </a:solidFill>
              </a:rPr>
              <a:t>Historical behaviour and prior alerts</a:t>
            </a:r>
            <a:endParaRPr lang="en-US" sz="1400" dirty="0"/>
          </a:p>
        </p:txBody>
      </p:sp>
      <p:sp>
        <p:nvSpPr>
          <p:cNvPr id="12" name="Check 4 circle"/>
          <p:cNvSpPr/>
          <p:nvPr/>
        </p:nvSpPr>
        <p:spPr>
          <a:xfrm>
            <a:off x="457200" y="3163824"/>
            <a:ext cx="411480" cy="411480"/>
          </a:xfrm>
          <a:prstGeom prst="ellipse">
            <a:avLst/>
          </a:prstGeom>
          <a:solidFill>
            <a:srgbClr val="0F7173"/>
          </a:solidFill>
          <a:ln w="12700">
            <a:solidFill>
              <a:srgbClr val="0F7173"/>
            </a:solidFill>
            <a:prstDash val="solid"/>
          </a:ln>
        </p:spPr>
      </p:sp>
      <p:pic>
        <p:nvPicPr>
          <p:cNvPr id="13" name="Check 4 icon" descr="preencoded.png">    </p:cNvPr>
          <p:cNvPicPr>
            <a:picLocks noChangeAspect="1"/>
          </p:cNvPicPr>
          <p:nvPr/>
        </p:nvPicPr>
        <p:blipFill>
          <a:blip r:embed="rId4"/>
          <a:stretch>
            <a:fillRect/>
          </a:stretch>
        </p:blipFill>
        <p:spPr>
          <a:xfrm>
            <a:off x="560070" y="3266694"/>
            <a:ext cx="205740" cy="205740"/>
          </a:xfrm>
          <a:prstGeom prst="rect">
            <a:avLst/>
          </a:prstGeom>
        </p:spPr>
      </p:pic>
      <p:sp>
        <p:nvSpPr>
          <p:cNvPr id="14" name="Text 8"/>
          <p:cNvSpPr txBox="1"/>
          <p:nvPr/>
        </p:nvSpPr>
        <p:spPr>
          <a:xfrm>
            <a:off x="1005840" y="3163824"/>
            <a:ext cx="3520440" cy="411480"/>
          </a:xfrm>
          <a:prstGeom prst="rect">
            <a:avLst/>
          </a:prstGeom>
          <a:noFill/>
          <a:ln/>
        </p:spPr>
        <p:txBody>
          <a:bodyPr wrap="square" lIns="0" tIns="0" rIns="0" bIns="0" rtlCol="0" anchor="ctr"/>
          <a:lstStyle/>
          <a:p>
            <a:pPr indent="0" marL="0">
              <a:buNone/>
            </a:pPr>
            <a:r>
              <a:rPr lang="en-US" sz="1400" dirty="0">
                <a:solidFill>
                  <a:schemeClr val="tx1"/>
                </a:solidFill>
              </a:rPr>
              <a:t>Expected vs actual: frequency, velocity, value</a:t>
            </a:r>
            <a:endParaRPr lang="en-US" sz="1400" dirty="0"/>
          </a:p>
        </p:txBody>
      </p:sp>
      <p:sp>
        <p:nvSpPr>
          <p:cNvPr id="15" name="Check 5 circle"/>
          <p:cNvSpPr/>
          <p:nvPr/>
        </p:nvSpPr>
        <p:spPr>
          <a:xfrm>
            <a:off x="457200" y="3822192"/>
            <a:ext cx="411480" cy="411480"/>
          </a:xfrm>
          <a:prstGeom prst="ellipse">
            <a:avLst/>
          </a:prstGeom>
          <a:solidFill>
            <a:srgbClr val="0F7173"/>
          </a:solidFill>
          <a:ln w="12700">
            <a:solidFill>
              <a:srgbClr val="0F7173"/>
            </a:solidFill>
            <a:prstDash val="solid"/>
          </a:ln>
        </p:spPr>
      </p:sp>
      <p:pic>
        <p:nvPicPr>
          <p:cNvPr id="16" name="Check 5 icon" descr="preencoded.png">    </p:cNvPr>
          <p:cNvPicPr>
            <a:picLocks noChangeAspect="1"/>
          </p:cNvPicPr>
          <p:nvPr/>
        </p:nvPicPr>
        <p:blipFill>
          <a:blip r:embed="rId5"/>
          <a:stretch>
            <a:fillRect/>
          </a:stretch>
        </p:blipFill>
        <p:spPr>
          <a:xfrm>
            <a:off x="560070" y="3925062"/>
            <a:ext cx="205740" cy="205740"/>
          </a:xfrm>
          <a:prstGeom prst="rect">
            <a:avLst/>
          </a:prstGeom>
        </p:spPr>
      </p:pic>
      <p:sp>
        <p:nvSpPr>
          <p:cNvPr id="17" name="Text 10"/>
          <p:cNvSpPr txBox="1"/>
          <p:nvPr/>
        </p:nvSpPr>
        <p:spPr>
          <a:xfrm>
            <a:off x="1005840" y="3822192"/>
            <a:ext cx="3520440" cy="411480"/>
          </a:xfrm>
          <a:prstGeom prst="rect">
            <a:avLst/>
          </a:prstGeom>
          <a:noFill/>
          <a:ln/>
        </p:spPr>
        <p:txBody>
          <a:bodyPr wrap="square" lIns="0" tIns="0" rIns="0" bIns="0" rtlCol="0" anchor="ctr"/>
          <a:lstStyle/>
          <a:p>
            <a:pPr indent="0" marL="0">
              <a:buNone/>
            </a:pPr>
            <a:r>
              <a:rPr lang="en-US" sz="1400" dirty="0">
                <a:solidFill>
                  <a:schemeClr val="tx1"/>
                </a:solidFill>
              </a:rPr>
              <a:t>Other SOP checks, including negatives</a:t>
            </a:r>
            <a:endParaRPr lang="en-US" sz="1400" dirty="0"/>
          </a:p>
        </p:txBody>
      </p:sp>
      <p:sp>
        <p:nvSpPr>
          <p:cNvPr id="18" name="Check 6 circle"/>
          <p:cNvSpPr/>
          <p:nvPr/>
        </p:nvSpPr>
        <p:spPr>
          <a:xfrm>
            <a:off x="4663440" y="1188720"/>
            <a:ext cx="411480" cy="411480"/>
          </a:xfrm>
          <a:prstGeom prst="ellipse">
            <a:avLst/>
          </a:prstGeom>
          <a:solidFill>
            <a:srgbClr val="0F7173"/>
          </a:solidFill>
          <a:ln w="12700">
            <a:solidFill>
              <a:srgbClr val="0F7173"/>
            </a:solidFill>
            <a:prstDash val="solid"/>
          </a:ln>
        </p:spPr>
      </p:sp>
      <p:pic>
        <p:nvPicPr>
          <p:cNvPr id="19" name="Check 6 icon" descr="preencoded.png">    </p:cNvPr>
          <p:cNvPicPr>
            <a:picLocks noChangeAspect="1"/>
          </p:cNvPicPr>
          <p:nvPr/>
        </p:nvPicPr>
        <p:blipFill>
          <a:blip r:embed="rId6"/>
          <a:stretch>
            <a:fillRect/>
          </a:stretch>
        </p:blipFill>
        <p:spPr>
          <a:xfrm>
            <a:off x="4766310" y="1291590"/>
            <a:ext cx="205740" cy="205740"/>
          </a:xfrm>
          <a:prstGeom prst="rect">
            <a:avLst/>
          </a:prstGeom>
        </p:spPr>
      </p:pic>
      <p:sp>
        <p:nvSpPr>
          <p:cNvPr id="20" name="Text 12"/>
          <p:cNvSpPr txBox="1"/>
          <p:nvPr/>
        </p:nvSpPr>
        <p:spPr>
          <a:xfrm>
            <a:off x="5212080" y="1188720"/>
            <a:ext cx="3520440" cy="411480"/>
          </a:xfrm>
          <a:prstGeom prst="rect">
            <a:avLst/>
          </a:prstGeom>
          <a:noFill/>
          <a:ln/>
        </p:spPr>
        <p:txBody>
          <a:bodyPr wrap="square" lIns="0" tIns="0" rIns="0" bIns="0" rtlCol="0" anchor="ctr"/>
          <a:lstStyle/>
          <a:p>
            <a:pPr indent="0" marL="0">
              <a:buNone/>
            </a:pPr>
            <a:r>
              <a:rPr lang="en-US" sz="1400" dirty="0">
                <a:solidFill>
                  <a:schemeClr val="tx1"/>
                </a:solidFill>
              </a:rPr>
              <a:t>RFI: sent or why not, response tested, impact</a:t>
            </a:r>
            <a:endParaRPr lang="en-US" sz="1400" dirty="0"/>
          </a:p>
        </p:txBody>
      </p:sp>
      <p:sp>
        <p:nvSpPr>
          <p:cNvPr id="21" name="Check 7 circle"/>
          <p:cNvSpPr/>
          <p:nvPr/>
        </p:nvSpPr>
        <p:spPr>
          <a:xfrm>
            <a:off x="4663440" y="1847088"/>
            <a:ext cx="411480" cy="411480"/>
          </a:xfrm>
          <a:prstGeom prst="ellipse">
            <a:avLst/>
          </a:prstGeom>
          <a:solidFill>
            <a:srgbClr val="0F7173"/>
          </a:solidFill>
          <a:ln w="12700">
            <a:solidFill>
              <a:srgbClr val="0F7173"/>
            </a:solidFill>
            <a:prstDash val="solid"/>
          </a:ln>
        </p:spPr>
      </p:sp>
      <p:pic>
        <p:nvPicPr>
          <p:cNvPr id="22" name="Check 7 icon" descr="preencoded.png">    </p:cNvPr>
          <p:cNvPicPr>
            <a:picLocks noChangeAspect="1"/>
          </p:cNvPicPr>
          <p:nvPr/>
        </p:nvPicPr>
        <p:blipFill>
          <a:blip r:embed="rId7"/>
          <a:stretch>
            <a:fillRect/>
          </a:stretch>
        </p:blipFill>
        <p:spPr>
          <a:xfrm>
            <a:off x="4766310" y="1949958"/>
            <a:ext cx="205740" cy="205740"/>
          </a:xfrm>
          <a:prstGeom prst="rect">
            <a:avLst/>
          </a:prstGeom>
        </p:spPr>
      </p:pic>
      <p:sp>
        <p:nvSpPr>
          <p:cNvPr id="23" name="Text 14"/>
          <p:cNvSpPr txBox="1"/>
          <p:nvPr/>
        </p:nvSpPr>
        <p:spPr>
          <a:xfrm>
            <a:off x="5212080" y="1847088"/>
            <a:ext cx="3520440" cy="411480"/>
          </a:xfrm>
          <a:prstGeom prst="rect">
            <a:avLst/>
          </a:prstGeom>
          <a:noFill/>
          <a:ln/>
        </p:spPr>
        <p:txBody>
          <a:bodyPr wrap="square" lIns="0" tIns="0" rIns="0" bIns="0" rtlCol="0" anchor="ctr"/>
          <a:lstStyle/>
          <a:p>
            <a:pPr indent="0" marL="0">
              <a:buNone/>
            </a:pPr>
            <a:r>
              <a:rPr lang="en-US" sz="1400" dirty="0">
                <a:solidFill>
                  <a:schemeClr val="tx1"/>
                </a:solidFill>
              </a:rPr>
              <a:t>Every finding has a "so what"</a:t>
            </a:r>
            <a:endParaRPr lang="en-US" sz="1400" dirty="0"/>
          </a:p>
        </p:txBody>
      </p:sp>
      <p:sp>
        <p:nvSpPr>
          <p:cNvPr id="24" name="Check 8 circle"/>
          <p:cNvSpPr/>
          <p:nvPr/>
        </p:nvSpPr>
        <p:spPr>
          <a:xfrm>
            <a:off x="4663440" y="2505456"/>
            <a:ext cx="411480" cy="411480"/>
          </a:xfrm>
          <a:prstGeom prst="ellipse">
            <a:avLst/>
          </a:prstGeom>
          <a:solidFill>
            <a:srgbClr val="0F7173"/>
          </a:solidFill>
          <a:ln w="12700">
            <a:solidFill>
              <a:srgbClr val="0F7173"/>
            </a:solidFill>
            <a:prstDash val="solid"/>
          </a:ln>
        </p:spPr>
      </p:sp>
      <p:pic>
        <p:nvPicPr>
          <p:cNvPr id="25" name="Check 8 icon" descr="preencoded.png">    </p:cNvPr>
          <p:cNvPicPr>
            <a:picLocks noChangeAspect="1"/>
          </p:cNvPicPr>
          <p:nvPr/>
        </p:nvPicPr>
        <p:blipFill>
          <a:blip r:embed="rId8"/>
          <a:stretch>
            <a:fillRect/>
          </a:stretch>
        </p:blipFill>
        <p:spPr>
          <a:xfrm>
            <a:off x="4766310" y="2608326"/>
            <a:ext cx="205740" cy="205740"/>
          </a:xfrm>
          <a:prstGeom prst="rect">
            <a:avLst/>
          </a:prstGeom>
        </p:spPr>
      </p:pic>
      <p:sp>
        <p:nvSpPr>
          <p:cNvPr id="26" name="Text 16"/>
          <p:cNvSpPr txBox="1"/>
          <p:nvPr/>
        </p:nvSpPr>
        <p:spPr>
          <a:xfrm>
            <a:off x="5212080" y="2505456"/>
            <a:ext cx="3520440" cy="411480"/>
          </a:xfrm>
          <a:prstGeom prst="rect">
            <a:avLst/>
          </a:prstGeom>
          <a:noFill/>
          <a:ln/>
        </p:spPr>
        <p:txBody>
          <a:bodyPr wrap="square" lIns="0" tIns="0" rIns="0" bIns="0" rtlCol="0" anchor="ctr"/>
          <a:lstStyle/>
          <a:p>
            <a:pPr indent="0" marL="0">
              <a:buNone/>
            </a:pPr>
            <a:r>
              <a:rPr lang="en-US" sz="1400" dirty="0">
                <a:solidFill>
                  <a:schemeClr val="tx1"/>
                </a:solidFill>
              </a:rPr>
              <a:t>Explanations evidenced: pay-ins, OSINT</a:t>
            </a:r>
            <a:endParaRPr lang="en-US" sz="1400" dirty="0"/>
          </a:p>
        </p:txBody>
      </p:sp>
      <p:sp>
        <p:nvSpPr>
          <p:cNvPr id="27" name="Check 9 circle"/>
          <p:cNvSpPr/>
          <p:nvPr/>
        </p:nvSpPr>
        <p:spPr>
          <a:xfrm>
            <a:off x="4663440" y="3163824"/>
            <a:ext cx="411480" cy="411480"/>
          </a:xfrm>
          <a:prstGeom prst="ellipse">
            <a:avLst/>
          </a:prstGeom>
          <a:solidFill>
            <a:srgbClr val="0F7173"/>
          </a:solidFill>
          <a:ln w="12700">
            <a:solidFill>
              <a:srgbClr val="0F7173"/>
            </a:solidFill>
            <a:prstDash val="solid"/>
          </a:ln>
        </p:spPr>
      </p:sp>
      <p:pic>
        <p:nvPicPr>
          <p:cNvPr id="28" name="Check 9 icon" descr="preencoded.png">    </p:cNvPr>
          <p:cNvPicPr>
            <a:picLocks noChangeAspect="1"/>
          </p:cNvPicPr>
          <p:nvPr/>
        </p:nvPicPr>
        <p:blipFill>
          <a:blip r:embed="rId9"/>
          <a:stretch>
            <a:fillRect/>
          </a:stretch>
        </p:blipFill>
        <p:spPr>
          <a:xfrm>
            <a:off x="4766310" y="3266694"/>
            <a:ext cx="205740" cy="205740"/>
          </a:xfrm>
          <a:prstGeom prst="rect">
            <a:avLst/>
          </a:prstGeom>
        </p:spPr>
      </p:pic>
      <p:sp>
        <p:nvSpPr>
          <p:cNvPr id="29" name="Text 18"/>
          <p:cNvSpPr txBox="1"/>
          <p:nvPr/>
        </p:nvSpPr>
        <p:spPr>
          <a:xfrm>
            <a:off x="5212080" y="3163824"/>
            <a:ext cx="3520440" cy="411480"/>
          </a:xfrm>
          <a:prstGeom prst="rect">
            <a:avLst/>
          </a:prstGeom>
          <a:noFill/>
          <a:ln/>
        </p:spPr>
        <p:txBody>
          <a:bodyPr wrap="square" lIns="0" tIns="0" rIns="0" bIns="0" rtlCol="0" anchor="ctr"/>
          <a:lstStyle/>
          <a:p>
            <a:pPr indent="0" marL="0">
              <a:buNone/>
            </a:pPr>
            <a:r>
              <a:rPr lang="en-US" sz="1400" dirty="0">
                <a:solidFill>
                  <a:schemeClr val="tx1"/>
                </a:solidFill>
              </a:rPr>
              <a:t>Factual, neutral language with no superlatives</a:t>
            </a:r>
            <a:endParaRPr lang="en-US" sz="1400" dirty="0"/>
          </a:p>
        </p:txBody>
      </p:sp>
      <p:sp>
        <p:nvSpPr>
          <p:cNvPr id="30" name="Check 10 circle"/>
          <p:cNvSpPr/>
          <p:nvPr/>
        </p:nvSpPr>
        <p:spPr>
          <a:xfrm>
            <a:off x="4663440" y="3822192"/>
            <a:ext cx="411480" cy="411480"/>
          </a:xfrm>
          <a:prstGeom prst="ellipse">
            <a:avLst/>
          </a:prstGeom>
          <a:solidFill>
            <a:srgbClr val="0F7173"/>
          </a:solidFill>
          <a:ln w="12700">
            <a:solidFill>
              <a:srgbClr val="0F7173"/>
            </a:solidFill>
            <a:prstDash val="solid"/>
          </a:ln>
        </p:spPr>
      </p:sp>
      <p:pic>
        <p:nvPicPr>
          <p:cNvPr id="31" name="Check 10 icon" descr="preencoded.png">    </p:cNvPr>
          <p:cNvPicPr>
            <a:picLocks noChangeAspect="1"/>
          </p:cNvPicPr>
          <p:nvPr/>
        </p:nvPicPr>
        <p:blipFill>
          <a:blip r:embed="rId10"/>
          <a:stretch>
            <a:fillRect/>
          </a:stretch>
        </p:blipFill>
        <p:spPr>
          <a:xfrm>
            <a:off x="4766310" y="3925062"/>
            <a:ext cx="205740" cy="205740"/>
          </a:xfrm>
          <a:prstGeom prst="rect">
            <a:avLst/>
          </a:prstGeom>
        </p:spPr>
      </p:pic>
      <p:sp>
        <p:nvSpPr>
          <p:cNvPr id="32" name="Text 20"/>
          <p:cNvSpPr txBox="1"/>
          <p:nvPr/>
        </p:nvSpPr>
        <p:spPr>
          <a:xfrm>
            <a:off x="5212080" y="3822192"/>
            <a:ext cx="3520440" cy="411480"/>
          </a:xfrm>
          <a:prstGeom prst="rect">
            <a:avLst/>
          </a:prstGeom>
          <a:noFill/>
          <a:ln/>
        </p:spPr>
        <p:txBody>
          <a:bodyPr wrap="square" lIns="0" tIns="0" rIns="0" bIns="0" rtlCol="0" anchor="ctr"/>
          <a:lstStyle/>
          <a:p>
            <a:pPr indent="0" marL="0">
              <a:buNone/>
            </a:pPr>
            <a:r>
              <a:rPr lang="en-US" sz="1400" dirty="0">
                <a:solidFill>
                  <a:schemeClr val="tx1"/>
                </a:solidFill>
              </a:rPr>
              <a:t>Conclusion and closure reason follow the evidence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2103120" y="1554480"/>
            <a:ext cx="6583680" cy="1097280"/>
          </a:xfrm>
          <a:prstGeom prst="rect">
            <a:avLst/>
          </a:prstGeom>
          <a:noFill/>
          <a:ln/>
        </p:spPr>
        <p:txBody>
          <a:bodyPr wrap="square" lIns="0" tIns="0" rIns="0" bIns="0" rtlCol="0" anchor="b"/>
          <a:lstStyle/>
          <a:p>
            <a:pPr algn="l" indent="0" marL="0">
              <a:buNone/>
            </a:pPr>
            <a:r>
              <a:rPr lang="en-US" sz="3600" b="1" dirty="0">
                <a:solidFill>
                  <a:schemeClr val="bg1"/>
                </a:solidFill>
              </a:rPr>
              <a:t>Test yourself</a:t>
            </a:r>
            <a:endParaRPr lang="en-US" sz="3600" dirty="0"/>
          </a:p>
        </p:txBody>
      </p:sp>
      <p:sp>
        <p:nvSpPr>
          <p:cNvPr id="3" name="Text 0"/>
          <p:cNvSpPr/>
          <p:nvPr>
            <p:ph idx="101" type="body" hasCustomPrompt="1"/>
          </p:nvPr>
        </p:nvSpPr>
        <p:spPr>
          <a:xfrm>
            <a:off x="2103120" y="2743200"/>
            <a:ext cx="6583680" cy="1097280"/>
          </a:xfrm>
          <a:prstGeom prst="rect">
            <a:avLst/>
          </a:prstGeom>
          <a:noFill/>
          <a:ln/>
        </p:spPr>
        <p:txBody>
          <a:bodyPr wrap="square" lIns="0" tIns="0" rIns="0" bIns="0" rtlCol="0" anchor="t"/>
          <a:lstStyle/>
          <a:p>
            <a:pPr indent="0" marL="0">
              <a:buNone/>
            </a:pPr>
            <a:r>
              <a:rPr lang="en-US" sz="1600" dirty="0">
                <a:solidFill>
                  <a:schemeClr val="accent6"/>
                </a:solidFill>
              </a:rPr>
              <a:t>A quick-fire true or false round, then four recent case rationales from QA review</a:t>
            </a:r>
            <a:endParaRPr lang="en-US" sz="1600" dirty="0"/>
          </a:p>
        </p:txBody>
      </p:sp>
      <p:sp>
        <p:nvSpPr>
          <p:cNvPr id="4" name="Q and A circle"/>
          <p:cNvSpPr/>
          <p:nvPr/>
        </p:nvSpPr>
        <p:spPr>
          <a:xfrm>
            <a:off x="548640" y="1737360"/>
            <a:ext cx="1188720" cy="1188720"/>
          </a:xfrm>
          <a:prstGeom prst="ellipse">
            <a:avLst/>
          </a:prstGeom>
          <a:solidFill>
            <a:srgbClr val="F2A541"/>
          </a:solidFill>
          <a:ln w="12700">
            <a:solidFill>
              <a:srgbClr val="F2A541"/>
            </a:solidFill>
            <a:prstDash val="solid"/>
          </a:ln>
        </p:spPr>
      </p:sp>
      <p:pic>
        <p:nvPicPr>
          <p:cNvPr id="5" name="Q and A icon" descr="preencoded.png">    </p:cNvPr>
          <p:cNvPicPr>
            <a:picLocks noChangeAspect="1"/>
          </p:cNvPicPr>
          <p:nvPr/>
        </p:nvPicPr>
        <p:blipFill>
          <a:blip r:embed="rId1"/>
          <a:stretch>
            <a:fillRect/>
          </a:stretch>
        </p:blipFill>
        <p:spPr>
          <a:xfrm>
            <a:off x="845820" y="2034540"/>
            <a:ext cx="594360" cy="5943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True or false?</a:t>
            </a:r>
            <a:endParaRPr lang="en-US" sz="2800" dirty="0"/>
          </a:p>
        </p:txBody>
      </p:sp>
      <p:sp>
        <p:nvSpPr>
          <p:cNvPr id="3" name="Statement 1"/>
          <p:cNvSpPr/>
          <p:nvPr/>
        </p:nvSpPr>
        <p:spPr>
          <a:xfrm>
            <a:off x="457200" y="109728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Badge 1"/>
          <p:cNvSpPr/>
          <p:nvPr/>
        </p:nvSpPr>
        <p:spPr>
          <a:xfrm>
            <a:off x="594360" y="1234440"/>
            <a:ext cx="411480" cy="411480"/>
          </a:xfrm>
          <a:prstGeom prst="ellipse">
            <a:avLst/>
          </a:prstGeom>
          <a:solidFill>
            <a:schemeClr val="accent2"/>
          </a:solidFill>
          <a:ln w="12700">
            <a:solidFill>
              <a:schemeClr val="accent2"/>
            </a:solidFill>
            <a:prstDash val="solid"/>
          </a:ln>
        </p:spPr>
      </p:sp>
      <p:sp>
        <p:nvSpPr>
          <p:cNvPr id="5" name="Text 3"/>
          <p:cNvSpPr txBox="1"/>
          <p:nvPr/>
        </p:nvSpPr>
        <p:spPr>
          <a:xfrm>
            <a:off x="594360" y="123444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6" name="Text 4"/>
          <p:cNvSpPr txBox="1"/>
          <p:nvPr/>
        </p:nvSpPr>
        <p:spPr>
          <a:xfrm>
            <a:off x="1097280" y="1207008"/>
            <a:ext cx="1874520" cy="1463040"/>
          </a:xfrm>
          <a:prstGeom prst="rect">
            <a:avLst/>
          </a:prstGeom>
          <a:noFill/>
          <a:ln/>
        </p:spPr>
        <p:txBody>
          <a:bodyPr wrap="square" lIns="0" tIns="0" rIns="0" bIns="0" rtlCol="0" anchor="t"/>
          <a:lstStyle/>
          <a:p>
            <a:pPr indent="0" marL="0">
              <a:buNone/>
            </a:pPr>
            <a:r>
              <a:rPr lang="en-US" sz="1400" i="1" dirty="0">
                <a:solidFill>
                  <a:schemeClr val="tx1"/>
                </a:solidFill>
              </a:rPr>
              <a:t>If the SOP requires a check and nothing was found, it doesn't need to go in the note.</a:t>
            </a:r>
            <a:endParaRPr lang="en-US" sz="1400" dirty="0"/>
          </a:p>
        </p:txBody>
      </p:sp>
      <p:sp>
        <p:nvSpPr>
          <p:cNvPr id="7" name="Statement 2"/>
          <p:cNvSpPr/>
          <p:nvPr/>
        </p:nvSpPr>
        <p:spPr>
          <a:xfrm>
            <a:off x="3246120" y="109728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8" name="Badge 2"/>
          <p:cNvSpPr/>
          <p:nvPr/>
        </p:nvSpPr>
        <p:spPr>
          <a:xfrm>
            <a:off x="3383280" y="1234440"/>
            <a:ext cx="411480" cy="411480"/>
          </a:xfrm>
          <a:prstGeom prst="ellipse">
            <a:avLst/>
          </a:prstGeom>
          <a:solidFill>
            <a:schemeClr val="accent2"/>
          </a:solidFill>
          <a:ln w="12700">
            <a:solidFill>
              <a:schemeClr val="accent2"/>
            </a:solidFill>
            <a:prstDash val="solid"/>
          </a:ln>
        </p:spPr>
      </p:sp>
      <p:sp>
        <p:nvSpPr>
          <p:cNvPr id="9" name="Text 7"/>
          <p:cNvSpPr txBox="1"/>
          <p:nvPr/>
        </p:nvSpPr>
        <p:spPr>
          <a:xfrm>
            <a:off x="3383280" y="123444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0" name="Text 8"/>
          <p:cNvSpPr txBox="1"/>
          <p:nvPr/>
        </p:nvSpPr>
        <p:spPr>
          <a:xfrm>
            <a:off x="3886200" y="1207008"/>
            <a:ext cx="1874520" cy="1463040"/>
          </a:xfrm>
          <a:prstGeom prst="rect">
            <a:avLst/>
          </a:prstGeom>
          <a:noFill/>
          <a:ln/>
        </p:spPr>
        <p:txBody>
          <a:bodyPr wrap="square" lIns="0" tIns="0" rIns="0" bIns="0" rtlCol="0" anchor="t"/>
          <a:lstStyle/>
          <a:p>
            <a:pPr indent="0" marL="0">
              <a:buNone/>
            </a:pPr>
            <a:r>
              <a:rPr lang="en-US" sz="1400" i="1" dirty="0">
                <a:solidFill>
                  <a:schemeClr val="tx1"/>
                </a:solidFill>
              </a:rPr>
              <a:t>A thorough review of the merchant's overall activity is enough to discount an alert.</a:t>
            </a:r>
            <a:endParaRPr lang="en-US" sz="1400" dirty="0"/>
          </a:p>
        </p:txBody>
      </p:sp>
      <p:sp>
        <p:nvSpPr>
          <p:cNvPr id="11" name="Statement 3"/>
          <p:cNvSpPr/>
          <p:nvPr/>
        </p:nvSpPr>
        <p:spPr>
          <a:xfrm>
            <a:off x="6035040" y="109728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2" name="Badge 3"/>
          <p:cNvSpPr/>
          <p:nvPr/>
        </p:nvSpPr>
        <p:spPr>
          <a:xfrm>
            <a:off x="6172200" y="1234440"/>
            <a:ext cx="411480" cy="411480"/>
          </a:xfrm>
          <a:prstGeom prst="ellipse">
            <a:avLst/>
          </a:prstGeom>
          <a:solidFill>
            <a:schemeClr val="accent2"/>
          </a:solidFill>
          <a:ln w="12700">
            <a:solidFill>
              <a:schemeClr val="accent2"/>
            </a:solidFill>
            <a:prstDash val="solid"/>
          </a:ln>
        </p:spPr>
      </p:sp>
      <p:sp>
        <p:nvSpPr>
          <p:cNvPr id="13" name="Text 11"/>
          <p:cNvSpPr txBox="1"/>
          <p:nvPr/>
        </p:nvSpPr>
        <p:spPr>
          <a:xfrm>
            <a:off x="6172200" y="123444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4" name="Text 12"/>
          <p:cNvSpPr txBox="1"/>
          <p:nvPr/>
        </p:nvSpPr>
        <p:spPr>
          <a:xfrm>
            <a:off x="6675120" y="1207008"/>
            <a:ext cx="1874520" cy="1463040"/>
          </a:xfrm>
          <a:prstGeom prst="rect">
            <a:avLst/>
          </a:prstGeom>
          <a:noFill/>
          <a:ln/>
        </p:spPr>
        <p:txBody>
          <a:bodyPr wrap="square" lIns="0" tIns="0" rIns="0" bIns="0" rtlCol="0" anchor="t"/>
          <a:lstStyle/>
          <a:p>
            <a:pPr indent="0" marL="0">
              <a:buNone/>
            </a:pPr>
            <a:r>
              <a:rPr lang="en-US" sz="1400" i="1" dirty="0">
                <a:solidFill>
                  <a:schemeClr val="tx1"/>
                </a:solidFill>
              </a:rPr>
              <a:t>Not sending an RFI is acceptable, as long as the rationale is documented.</a:t>
            </a:r>
            <a:endParaRPr lang="en-US" sz="1400" dirty="0"/>
          </a:p>
        </p:txBody>
      </p:sp>
      <p:sp>
        <p:nvSpPr>
          <p:cNvPr id="15" name="Statement 4"/>
          <p:cNvSpPr/>
          <p:nvPr/>
        </p:nvSpPr>
        <p:spPr>
          <a:xfrm>
            <a:off x="457200" y="288036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6" name="Badge 4"/>
          <p:cNvSpPr/>
          <p:nvPr/>
        </p:nvSpPr>
        <p:spPr>
          <a:xfrm>
            <a:off x="594360" y="3017520"/>
            <a:ext cx="411480" cy="411480"/>
          </a:xfrm>
          <a:prstGeom prst="ellipse">
            <a:avLst/>
          </a:prstGeom>
          <a:solidFill>
            <a:schemeClr val="accent2"/>
          </a:solidFill>
          <a:ln w="12700">
            <a:solidFill>
              <a:schemeClr val="accent2"/>
            </a:solidFill>
            <a:prstDash val="solid"/>
          </a:ln>
        </p:spPr>
      </p:sp>
      <p:sp>
        <p:nvSpPr>
          <p:cNvPr id="17" name="Text 15"/>
          <p:cNvSpPr txBox="1"/>
          <p:nvPr/>
        </p:nvSpPr>
        <p:spPr>
          <a:xfrm>
            <a:off x="594360" y="301752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8" name="Text 16"/>
          <p:cNvSpPr txBox="1"/>
          <p:nvPr/>
        </p:nvSpPr>
        <p:spPr>
          <a:xfrm>
            <a:off x="1097280" y="2990088"/>
            <a:ext cx="1874520" cy="1463040"/>
          </a:xfrm>
          <a:prstGeom prst="rect">
            <a:avLst/>
          </a:prstGeom>
          <a:noFill/>
          <a:ln/>
        </p:spPr>
        <p:txBody>
          <a:bodyPr wrap="square" lIns="0" tIns="0" rIns="0" bIns="0" rtlCol="0" anchor="t"/>
          <a:lstStyle/>
          <a:p>
            <a:pPr indent="0" marL="0">
              <a:buNone/>
            </a:pPr>
            <a:r>
              <a:rPr lang="en-US" sz="1400" i="1" dirty="0">
                <a:solidFill>
                  <a:schemeClr val="tx1"/>
                </a:solidFill>
              </a:rPr>
              <a:t>"No evidence of structuring or smurfing" is a safe line to include in every case.</a:t>
            </a:r>
            <a:endParaRPr lang="en-US" sz="1400" dirty="0"/>
          </a:p>
        </p:txBody>
      </p:sp>
      <p:sp>
        <p:nvSpPr>
          <p:cNvPr id="19" name="Statement 5"/>
          <p:cNvSpPr/>
          <p:nvPr/>
        </p:nvSpPr>
        <p:spPr>
          <a:xfrm>
            <a:off x="3246120" y="288036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0" name="Badge 5"/>
          <p:cNvSpPr/>
          <p:nvPr/>
        </p:nvSpPr>
        <p:spPr>
          <a:xfrm>
            <a:off x="3383280" y="3017520"/>
            <a:ext cx="411480" cy="411480"/>
          </a:xfrm>
          <a:prstGeom prst="ellipse">
            <a:avLst/>
          </a:prstGeom>
          <a:solidFill>
            <a:schemeClr val="accent2"/>
          </a:solidFill>
          <a:ln w="12700">
            <a:solidFill>
              <a:schemeClr val="accent2"/>
            </a:solidFill>
            <a:prstDash val="solid"/>
          </a:ln>
        </p:spPr>
      </p:sp>
      <p:sp>
        <p:nvSpPr>
          <p:cNvPr id="21" name="Text 19"/>
          <p:cNvSpPr txBox="1"/>
          <p:nvPr/>
        </p:nvSpPr>
        <p:spPr>
          <a:xfrm>
            <a:off x="3383280" y="301752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22" name="Text 20"/>
          <p:cNvSpPr txBox="1"/>
          <p:nvPr/>
        </p:nvSpPr>
        <p:spPr>
          <a:xfrm>
            <a:off x="3886200" y="2990088"/>
            <a:ext cx="1874520" cy="1463040"/>
          </a:xfrm>
          <a:prstGeom prst="rect">
            <a:avLst/>
          </a:prstGeom>
          <a:noFill/>
          <a:ln/>
        </p:spPr>
        <p:txBody>
          <a:bodyPr wrap="square" lIns="0" tIns="0" rIns="0" bIns="0" rtlCol="0" anchor="t"/>
          <a:lstStyle/>
          <a:p>
            <a:pPr indent="0" marL="0">
              <a:buNone/>
            </a:pPr>
            <a:r>
              <a:rPr lang="en-US" sz="1400" i="1" dirty="0">
                <a:solidFill>
                  <a:schemeClr val="tx1"/>
                </a:solidFill>
              </a:rPr>
              <a:t>Words like "detailed" and "appropriately vetted" strengthen a rationale.</a:t>
            </a:r>
            <a:endParaRPr lang="en-US" sz="1400" dirty="0"/>
          </a:p>
        </p:txBody>
      </p:sp>
      <p:sp>
        <p:nvSpPr>
          <p:cNvPr id="23" name="Statement 6"/>
          <p:cNvSpPr/>
          <p:nvPr/>
        </p:nvSpPr>
        <p:spPr>
          <a:xfrm>
            <a:off x="6035040" y="288036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4" name="Badge 6"/>
          <p:cNvSpPr/>
          <p:nvPr/>
        </p:nvSpPr>
        <p:spPr>
          <a:xfrm>
            <a:off x="6172200" y="3017520"/>
            <a:ext cx="411480" cy="411480"/>
          </a:xfrm>
          <a:prstGeom prst="ellipse">
            <a:avLst/>
          </a:prstGeom>
          <a:solidFill>
            <a:schemeClr val="accent2"/>
          </a:solidFill>
          <a:ln w="12700">
            <a:solidFill>
              <a:schemeClr val="accent2"/>
            </a:solidFill>
            <a:prstDash val="solid"/>
          </a:ln>
        </p:spPr>
      </p:sp>
      <p:sp>
        <p:nvSpPr>
          <p:cNvPr id="25" name="Text 23"/>
          <p:cNvSpPr txBox="1"/>
          <p:nvPr/>
        </p:nvSpPr>
        <p:spPr>
          <a:xfrm>
            <a:off x="6172200" y="301752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6</a:t>
            </a:r>
            <a:endParaRPr lang="en-US" sz="1500" dirty="0"/>
          </a:p>
        </p:txBody>
      </p:sp>
      <p:sp>
        <p:nvSpPr>
          <p:cNvPr id="26" name="Text 24"/>
          <p:cNvSpPr txBox="1"/>
          <p:nvPr/>
        </p:nvSpPr>
        <p:spPr>
          <a:xfrm>
            <a:off x="6675120" y="2990088"/>
            <a:ext cx="1874520" cy="1463040"/>
          </a:xfrm>
          <a:prstGeom prst="rect">
            <a:avLst/>
          </a:prstGeom>
          <a:noFill/>
          <a:ln/>
        </p:spPr>
        <p:txBody>
          <a:bodyPr wrap="square" lIns="0" tIns="0" rIns="0" bIns="0" rtlCol="0" anchor="t"/>
          <a:lstStyle/>
          <a:p>
            <a:pPr indent="0" marL="0">
              <a:buNone/>
            </a:pPr>
            <a:r>
              <a:rPr lang="en-US" sz="1400" i="1" dirty="0">
                <a:solidFill>
                  <a:schemeClr val="tx1"/>
                </a:solidFill>
              </a:rPr>
              <a:t>A large gambling withdrawal can be explained as winnings without checking pay-ins.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True or false: answers</a:t>
            </a:r>
            <a:endParaRPr lang="en-US" sz="2800" dirty="0"/>
          </a:p>
        </p:txBody>
      </p:sp>
      <p:sp>
        <p:nvSpPr>
          <p:cNvPr id="3" name="Statement 1"/>
          <p:cNvSpPr/>
          <p:nvPr/>
        </p:nvSpPr>
        <p:spPr>
          <a:xfrm>
            <a:off x="457200" y="109728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Badge 1"/>
          <p:cNvSpPr/>
          <p:nvPr/>
        </p:nvSpPr>
        <p:spPr>
          <a:xfrm>
            <a:off x="594360" y="1234440"/>
            <a:ext cx="411480" cy="411480"/>
          </a:xfrm>
          <a:prstGeom prst="ellipse">
            <a:avLst/>
          </a:prstGeom>
          <a:solidFill>
            <a:schemeClr val="accent3"/>
          </a:solidFill>
          <a:ln w="12700">
            <a:solidFill>
              <a:schemeClr val="accent3"/>
            </a:solidFill>
            <a:prstDash val="solid"/>
          </a:ln>
        </p:spPr>
      </p:sp>
      <p:sp>
        <p:nvSpPr>
          <p:cNvPr id="5" name="Text 3"/>
          <p:cNvSpPr txBox="1"/>
          <p:nvPr/>
        </p:nvSpPr>
        <p:spPr>
          <a:xfrm>
            <a:off x="594360" y="12344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6" name="Text 4"/>
          <p:cNvSpPr txBox="1"/>
          <p:nvPr/>
        </p:nvSpPr>
        <p:spPr>
          <a:xfrm>
            <a:off x="1097280" y="1234440"/>
            <a:ext cx="1828800" cy="411480"/>
          </a:xfrm>
          <a:prstGeom prst="rect">
            <a:avLst/>
          </a:prstGeom>
          <a:noFill/>
          <a:ln/>
        </p:spPr>
        <p:txBody>
          <a:bodyPr wrap="square" lIns="0" tIns="0" rIns="0" bIns="0" rtlCol="0" anchor="ctr"/>
          <a:lstStyle/>
          <a:p>
            <a:pPr indent="0" marL="0">
              <a:buNone/>
            </a:pPr>
            <a:r>
              <a:rPr lang="en-US" sz="1400" b="1" dirty="0">
                <a:solidFill>
                  <a:schemeClr val="accent3"/>
                </a:solidFill>
              </a:rPr>
              <a:t>FALSE</a:t>
            </a:r>
            <a:endParaRPr lang="en-US" sz="1400" dirty="0"/>
          </a:p>
        </p:txBody>
      </p:sp>
      <p:sp>
        <p:nvSpPr>
          <p:cNvPr id="7" name="Text 5"/>
          <p:cNvSpPr txBox="1"/>
          <p:nvPr/>
        </p:nvSpPr>
        <p:spPr>
          <a:xfrm>
            <a:off x="594360" y="1737360"/>
            <a:ext cx="2331720" cy="914400"/>
          </a:xfrm>
          <a:prstGeom prst="rect">
            <a:avLst/>
          </a:prstGeom>
          <a:noFill/>
          <a:ln/>
        </p:spPr>
        <p:txBody>
          <a:bodyPr wrap="square" lIns="0" tIns="0" rIns="0" bIns="0" rtlCol="0" anchor="t"/>
          <a:lstStyle/>
          <a:p>
            <a:pPr indent="0" marL="0">
              <a:buNone/>
            </a:pPr>
            <a:r>
              <a:rPr lang="en-US" sz="1300" dirty="0">
                <a:solidFill>
                  <a:schemeClr val="tx1"/>
                </a:solidFill>
              </a:rPr>
              <a:t>Record the check. Without it, a reviewer must assume it was not done.</a:t>
            </a:r>
            <a:endParaRPr lang="en-US" sz="1300" dirty="0"/>
          </a:p>
        </p:txBody>
      </p:sp>
      <p:sp>
        <p:nvSpPr>
          <p:cNvPr id="8" name="Statement 2"/>
          <p:cNvSpPr/>
          <p:nvPr/>
        </p:nvSpPr>
        <p:spPr>
          <a:xfrm>
            <a:off x="3246120" y="109728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Badge 2"/>
          <p:cNvSpPr/>
          <p:nvPr/>
        </p:nvSpPr>
        <p:spPr>
          <a:xfrm>
            <a:off x="3383280" y="1234440"/>
            <a:ext cx="411480" cy="411480"/>
          </a:xfrm>
          <a:prstGeom prst="ellipse">
            <a:avLst/>
          </a:prstGeom>
          <a:solidFill>
            <a:schemeClr val="accent3"/>
          </a:solidFill>
          <a:ln w="12700">
            <a:solidFill>
              <a:schemeClr val="accent3"/>
            </a:solidFill>
            <a:prstDash val="solid"/>
          </a:ln>
        </p:spPr>
      </p:sp>
      <p:sp>
        <p:nvSpPr>
          <p:cNvPr id="10" name="Text 8"/>
          <p:cNvSpPr txBox="1"/>
          <p:nvPr/>
        </p:nvSpPr>
        <p:spPr>
          <a:xfrm>
            <a:off x="3383280" y="12344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11" name="Text 9"/>
          <p:cNvSpPr txBox="1"/>
          <p:nvPr/>
        </p:nvSpPr>
        <p:spPr>
          <a:xfrm>
            <a:off x="3886200" y="1234440"/>
            <a:ext cx="1828800" cy="411480"/>
          </a:xfrm>
          <a:prstGeom prst="rect">
            <a:avLst/>
          </a:prstGeom>
          <a:noFill/>
          <a:ln/>
        </p:spPr>
        <p:txBody>
          <a:bodyPr wrap="square" lIns="0" tIns="0" rIns="0" bIns="0" rtlCol="0" anchor="ctr"/>
          <a:lstStyle/>
          <a:p>
            <a:pPr indent="0" marL="0">
              <a:buNone/>
            </a:pPr>
            <a:r>
              <a:rPr lang="en-US" sz="1400" b="1" dirty="0">
                <a:solidFill>
                  <a:schemeClr val="accent3"/>
                </a:solidFill>
              </a:rPr>
              <a:t>FALSE</a:t>
            </a:r>
            <a:endParaRPr lang="en-US" sz="1400" dirty="0"/>
          </a:p>
        </p:txBody>
      </p:sp>
      <p:sp>
        <p:nvSpPr>
          <p:cNvPr id="12" name="Text 10"/>
          <p:cNvSpPr txBox="1"/>
          <p:nvPr/>
        </p:nvSpPr>
        <p:spPr>
          <a:xfrm>
            <a:off x="3383280" y="1737360"/>
            <a:ext cx="2331720" cy="914400"/>
          </a:xfrm>
          <a:prstGeom prst="rect">
            <a:avLst/>
          </a:prstGeom>
          <a:noFill/>
          <a:ln/>
        </p:spPr>
        <p:txBody>
          <a:bodyPr wrap="square" lIns="0" tIns="0" rIns="0" bIns="0" rtlCol="0" anchor="t"/>
          <a:lstStyle/>
          <a:p>
            <a:pPr indent="0" marL="0">
              <a:buNone/>
            </a:pPr>
            <a:r>
              <a:rPr lang="en-US" sz="1300" dirty="0">
                <a:solidFill>
                  <a:schemeClr val="tx1"/>
                </a:solidFill>
              </a:rPr>
              <a:t>Lead with the rule and the transaction that alerted. Wider history supports it, not replaces it.</a:t>
            </a:r>
            <a:endParaRPr lang="en-US" sz="1300" dirty="0"/>
          </a:p>
        </p:txBody>
      </p:sp>
      <p:sp>
        <p:nvSpPr>
          <p:cNvPr id="13" name="Statement 3"/>
          <p:cNvSpPr/>
          <p:nvPr/>
        </p:nvSpPr>
        <p:spPr>
          <a:xfrm>
            <a:off x="6035040" y="109728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Badge 3"/>
          <p:cNvSpPr/>
          <p:nvPr/>
        </p:nvSpPr>
        <p:spPr>
          <a:xfrm>
            <a:off x="6172200" y="1234440"/>
            <a:ext cx="411480" cy="411480"/>
          </a:xfrm>
          <a:prstGeom prst="ellipse">
            <a:avLst/>
          </a:prstGeom>
          <a:solidFill>
            <a:schemeClr val="accent4"/>
          </a:solidFill>
          <a:ln w="12700">
            <a:solidFill>
              <a:schemeClr val="accent4"/>
            </a:solidFill>
            <a:prstDash val="solid"/>
          </a:ln>
        </p:spPr>
      </p:sp>
      <p:sp>
        <p:nvSpPr>
          <p:cNvPr id="15" name="Text 13"/>
          <p:cNvSpPr txBox="1"/>
          <p:nvPr/>
        </p:nvSpPr>
        <p:spPr>
          <a:xfrm>
            <a:off x="6172200" y="12344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T</a:t>
            </a:r>
            <a:endParaRPr lang="en-US" sz="1500" dirty="0"/>
          </a:p>
        </p:txBody>
      </p:sp>
      <p:sp>
        <p:nvSpPr>
          <p:cNvPr id="16" name="Text 14"/>
          <p:cNvSpPr txBox="1"/>
          <p:nvPr/>
        </p:nvSpPr>
        <p:spPr>
          <a:xfrm>
            <a:off x="6675120" y="1234440"/>
            <a:ext cx="1828800" cy="411480"/>
          </a:xfrm>
          <a:prstGeom prst="rect">
            <a:avLst/>
          </a:prstGeom>
          <a:noFill/>
          <a:ln/>
        </p:spPr>
        <p:txBody>
          <a:bodyPr wrap="square" lIns="0" tIns="0" rIns="0" bIns="0" rtlCol="0" anchor="ctr"/>
          <a:lstStyle/>
          <a:p>
            <a:pPr indent="0" marL="0">
              <a:buNone/>
            </a:pPr>
            <a:r>
              <a:rPr lang="en-US" sz="1400" b="1" dirty="0">
                <a:solidFill>
                  <a:schemeClr val="accent4"/>
                </a:solidFill>
              </a:rPr>
              <a:t>TRUE</a:t>
            </a:r>
            <a:endParaRPr lang="en-US" sz="1400" dirty="0"/>
          </a:p>
        </p:txBody>
      </p:sp>
      <p:sp>
        <p:nvSpPr>
          <p:cNvPr id="17" name="Text 15"/>
          <p:cNvSpPr txBox="1"/>
          <p:nvPr/>
        </p:nvSpPr>
        <p:spPr>
          <a:xfrm>
            <a:off x="6172200" y="1737360"/>
            <a:ext cx="2331720" cy="914400"/>
          </a:xfrm>
          <a:prstGeom prst="rect">
            <a:avLst/>
          </a:prstGeom>
          <a:noFill/>
          <a:ln/>
        </p:spPr>
        <p:txBody>
          <a:bodyPr wrap="square" lIns="0" tIns="0" rIns="0" bIns="0" rtlCol="0" anchor="t"/>
          <a:lstStyle/>
          <a:p>
            <a:pPr indent="0" marL="0">
              <a:buNone/>
            </a:pPr>
            <a:r>
              <a:rPr lang="en-US" sz="1300" dirty="0">
                <a:solidFill>
                  <a:schemeClr val="tx1"/>
                </a:solidFill>
              </a:rPr>
              <a:t>A reasoned decision not to send an RFI is fine. It just needs to be written down.</a:t>
            </a:r>
            <a:endParaRPr lang="en-US" sz="1300" dirty="0"/>
          </a:p>
        </p:txBody>
      </p:sp>
      <p:sp>
        <p:nvSpPr>
          <p:cNvPr id="18" name="Statement 4"/>
          <p:cNvSpPr/>
          <p:nvPr/>
        </p:nvSpPr>
        <p:spPr>
          <a:xfrm>
            <a:off x="457200" y="288036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9" name="Badge 4"/>
          <p:cNvSpPr/>
          <p:nvPr/>
        </p:nvSpPr>
        <p:spPr>
          <a:xfrm>
            <a:off x="594360" y="3017520"/>
            <a:ext cx="411480" cy="411480"/>
          </a:xfrm>
          <a:prstGeom prst="ellipse">
            <a:avLst/>
          </a:prstGeom>
          <a:solidFill>
            <a:schemeClr val="accent3"/>
          </a:solidFill>
          <a:ln w="12700">
            <a:solidFill>
              <a:schemeClr val="accent3"/>
            </a:solidFill>
            <a:prstDash val="solid"/>
          </a:ln>
        </p:spPr>
      </p:sp>
      <p:sp>
        <p:nvSpPr>
          <p:cNvPr id="20" name="Text 18"/>
          <p:cNvSpPr txBox="1"/>
          <p:nvPr/>
        </p:nvSpPr>
        <p:spPr>
          <a:xfrm>
            <a:off x="594360" y="30175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21" name="Text 19"/>
          <p:cNvSpPr txBox="1"/>
          <p:nvPr/>
        </p:nvSpPr>
        <p:spPr>
          <a:xfrm>
            <a:off x="1097280" y="3017520"/>
            <a:ext cx="1828800" cy="411480"/>
          </a:xfrm>
          <a:prstGeom prst="rect">
            <a:avLst/>
          </a:prstGeom>
          <a:noFill/>
          <a:ln/>
        </p:spPr>
        <p:txBody>
          <a:bodyPr wrap="square" lIns="0" tIns="0" rIns="0" bIns="0" rtlCol="0" anchor="ctr"/>
          <a:lstStyle/>
          <a:p>
            <a:pPr indent="0" marL="0">
              <a:buNone/>
            </a:pPr>
            <a:r>
              <a:rPr lang="en-US" sz="1400" b="1" dirty="0">
                <a:solidFill>
                  <a:schemeClr val="accent3"/>
                </a:solidFill>
              </a:rPr>
              <a:t>FALSE</a:t>
            </a:r>
            <a:endParaRPr lang="en-US" sz="1400" dirty="0"/>
          </a:p>
        </p:txBody>
      </p:sp>
      <p:sp>
        <p:nvSpPr>
          <p:cNvPr id="22" name="Text 20"/>
          <p:cNvSpPr txBox="1"/>
          <p:nvPr/>
        </p:nvSpPr>
        <p:spPr>
          <a:xfrm>
            <a:off x="594360" y="3520440"/>
            <a:ext cx="2331720" cy="914400"/>
          </a:xfrm>
          <a:prstGeom prst="rect">
            <a:avLst/>
          </a:prstGeom>
          <a:noFill/>
          <a:ln/>
        </p:spPr>
        <p:txBody>
          <a:bodyPr wrap="square" lIns="0" tIns="0" rIns="0" bIns="0" rtlCol="0" anchor="t"/>
          <a:lstStyle/>
          <a:p>
            <a:pPr indent="0" marL="0">
              <a:buNone/>
            </a:pPr>
            <a:r>
              <a:rPr lang="en-US" sz="1300" dirty="0">
                <a:solidFill>
                  <a:schemeClr val="tx1"/>
                </a:solidFill>
              </a:rPr>
              <a:t>Only reference typologies that are relevant to the alert.</a:t>
            </a:r>
            <a:endParaRPr lang="en-US" sz="1300" dirty="0"/>
          </a:p>
        </p:txBody>
      </p:sp>
      <p:sp>
        <p:nvSpPr>
          <p:cNvPr id="23" name="Statement 5"/>
          <p:cNvSpPr/>
          <p:nvPr/>
        </p:nvSpPr>
        <p:spPr>
          <a:xfrm>
            <a:off x="3246120" y="288036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4" name="Badge 5"/>
          <p:cNvSpPr/>
          <p:nvPr/>
        </p:nvSpPr>
        <p:spPr>
          <a:xfrm>
            <a:off x="3383280" y="3017520"/>
            <a:ext cx="411480" cy="411480"/>
          </a:xfrm>
          <a:prstGeom prst="ellipse">
            <a:avLst/>
          </a:prstGeom>
          <a:solidFill>
            <a:schemeClr val="accent3"/>
          </a:solidFill>
          <a:ln w="12700">
            <a:solidFill>
              <a:schemeClr val="accent3"/>
            </a:solidFill>
            <a:prstDash val="solid"/>
          </a:ln>
        </p:spPr>
      </p:sp>
      <p:sp>
        <p:nvSpPr>
          <p:cNvPr id="25" name="Text 23"/>
          <p:cNvSpPr txBox="1"/>
          <p:nvPr/>
        </p:nvSpPr>
        <p:spPr>
          <a:xfrm>
            <a:off x="3383280" y="30175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26" name="Text 24"/>
          <p:cNvSpPr txBox="1"/>
          <p:nvPr/>
        </p:nvSpPr>
        <p:spPr>
          <a:xfrm>
            <a:off x="3886200" y="3017520"/>
            <a:ext cx="1828800" cy="411480"/>
          </a:xfrm>
          <a:prstGeom prst="rect">
            <a:avLst/>
          </a:prstGeom>
          <a:noFill/>
          <a:ln/>
        </p:spPr>
        <p:txBody>
          <a:bodyPr wrap="square" lIns="0" tIns="0" rIns="0" bIns="0" rtlCol="0" anchor="ctr"/>
          <a:lstStyle/>
          <a:p>
            <a:pPr indent="0" marL="0">
              <a:buNone/>
            </a:pPr>
            <a:r>
              <a:rPr lang="en-US" sz="1400" b="1" dirty="0">
                <a:solidFill>
                  <a:schemeClr val="accent3"/>
                </a:solidFill>
              </a:rPr>
              <a:t>FALSE</a:t>
            </a:r>
            <a:endParaRPr lang="en-US" sz="1400" dirty="0"/>
          </a:p>
        </p:txBody>
      </p:sp>
      <p:sp>
        <p:nvSpPr>
          <p:cNvPr id="27" name="Text 25"/>
          <p:cNvSpPr txBox="1"/>
          <p:nvPr/>
        </p:nvSpPr>
        <p:spPr>
          <a:xfrm>
            <a:off x="3383280" y="3520440"/>
            <a:ext cx="2331720" cy="914400"/>
          </a:xfrm>
          <a:prstGeom prst="rect">
            <a:avLst/>
          </a:prstGeom>
          <a:noFill/>
          <a:ln/>
        </p:spPr>
        <p:txBody>
          <a:bodyPr wrap="square" lIns="0" tIns="0" rIns="0" bIns="0" rtlCol="0" anchor="t"/>
          <a:lstStyle/>
          <a:p>
            <a:pPr indent="0" marL="0">
              <a:buNone/>
            </a:pPr>
            <a:r>
              <a:rPr lang="en-US" sz="1300" dirty="0">
                <a:solidFill>
                  <a:schemeClr val="tx1"/>
                </a:solidFill>
              </a:rPr>
              <a:t>Superlatives can't be tested. State the facts and keep opinions neutral.</a:t>
            </a:r>
            <a:endParaRPr lang="en-US" sz="1300" dirty="0"/>
          </a:p>
        </p:txBody>
      </p:sp>
      <p:sp>
        <p:nvSpPr>
          <p:cNvPr id="28" name="Statement 6"/>
          <p:cNvSpPr/>
          <p:nvPr/>
        </p:nvSpPr>
        <p:spPr>
          <a:xfrm>
            <a:off x="6035040" y="2880360"/>
            <a:ext cx="260604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29" name="Badge 6"/>
          <p:cNvSpPr/>
          <p:nvPr/>
        </p:nvSpPr>
        <p:spPr>
          <a:xfrm>
            <a:off x="6172200" y="3017520"/>
            <a:ext cx="411480" cy="411480"/>
          </a:xfrm>
          <a:prstGeom prst="ellipse">
            <a:avLst/>
          </a:prstGeom>
          <a:solidFill>
            <a:schemeClr val="accent3"/>
          </a:solidFill>
          <a:ln w="12700">
            <a:solidFill>
              <a:schemeClr val="accent3"/>
            </a:solidFill>
            <a:prstDash val="solid"/>
          </a:ln>
        </p:spPr>
      </p:sp>
      <p:sp>
        <p:nvSpPr>
          <p:cNvPr id="30" name="Text 28"/>
          <p:cNvSpPr txBox="1"/>
          <p:nvPr/>
        </p:nvSpPr>
        <p:spPr>
          <a:xfrm>
            <a:off x="6172200" y="30175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31" name="Text 29"/>
          <p:cNvSpPr txBox="1"/>
          <p:nvPr/>
        </p:nvSpPr>
        <p:spPr>
          <a:xfrm>
            <a:off x="6675120" y="3017520"/>
            <a:ext cx="1828800" cy="411480"/>
          </a:xfrm>
          <a:prstGeom prst="rect">
            <a:avLst/>
          </a:prstGeom>
          <a:noFill/>
          <a:ln/>
        </p:spPr>
        <p:txBody>
          <a:bodyPr wrap="square" lIns="0" tIns="0" rIns="0" bIns="0" rtlCol="0" anchor="ctr"/>
          <a:lstStyle/>
          <a:p>
            <a:pPr indent="0" marL="0">
              <a:buNone/>
            </a:pPr>
            <a:r>
              <a:rPr lang="en-US" sz="1400" b="1" dirty="0">
                <a:solidFill>
                  <a:schemeClr val="accent3"/>
                </a:solidFill>
              </a:rPr>
              <a:t>FALSE</a:t>
            </a:r>
            <a:endParaRPr lang="en-US" sz="1400" dirty="0"/>
          </a:p>
        </p:txBody>
      </p:sp>
      <p:sp>
        <p:nvSpPr>
          <p:cNvPr id="32" name="Text 30"/>
          <p:cNvSpPr txBox="1"/>
          <p:nvPr/>
        </p:nvSpPr>
        <p:spPr>
          <a:xfrm>
            <a:off x="6172200" y="3520440"/>
            <a:ext cx="2331720" cy="914400"/>
          </a:xfrm>
          <a:prstGeom prst="rect">
            <a:avLst/>
          </a:prstGeom>
          <a:noFill/>
          <a:ln/>
        </p:spPr>
        <p:txBody>
          <a:bodyPr wrap="square" lIns="0" tIns="0" rIns="0" bIns="0" rtlCol="0" anchor="t"/>
          <a:lstStyle/>
          <a:p>
            <a:pPr indent="0" marL="0">
              <a:buNone/>
            </a:pPr>
            <a:r>
              <a:rPr lang="en-US" sz="1300" dirty="0">
                <a:solidFill>
                  <a:schemeClr val="tx1"/>
                </a:solidFill>
              </a:rPr>
              <a:t>Check pay-ins: £5 in and £10k out tells a very different story.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1: crypto withdrawal (cardholder)</a:t>
            </a:r>
            <a:endParaRPr lang="en-US" sz="2800" dirty="0"/>
          </a:p>
        </p:txBody>
      </p:sp>
      <p:sp>
        <p:nvSpPr>
          <p:cNvPr id="3" name="Rationale card"/>
          <p:cNvSpPr/>
          <p:nvPr/>
        </p:nvSpPr>
        <p:spPr>
          <a:xfrm>
            <a:off x="457200" y="1097280"/>
            <a:ext cx="484632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685800" y="1234440"/>
            <a:ext cx="4389120" cy="274320"/>
          </a:xfrm>
          <a:prstGeom prst="rect">
            <a:avLst/>
          </a:prstGeom>
          <a:noFill/>
          <a:ln/>
        </p:spPr>
        <p:txBody>
          <a:bodyPr wrap="square" lIns="0" tIns="0" rIns="0" bIns="0" rtlCol="0" anchor="t"/>
          <a:lstStyle/>
          <a:p>
            <a:pPr indent="0" marL="0">
              <a:buNone/>
            </a:pPr>
            <a:r>
              <a:rPr lang="en-US" sz="1000" b="1" dirty="0">
                <a:solidFill>
                  <a:schemeClr val="accent1"/>
                </a:solidFill>
              </a:rPr>
              <a:t>RULES: WEEKLY CRYPTO VOLUME SPIKE; SINGLE PAYMENT &gt; £9K</a:t>
            </a:r>
            <a:endParaRPr lang="en-US" sz="1000" dirty="0"/>
          </a:p>
        </p:txBody>
      </p:sp>
      <p:sp>
        <p:nvSpPr>
          <p:cNvPr id="5" name="Text 3"/>
          <p:cNvSpPr txBox="1"/>
          <p:nvPr/>
        </p:nvSpPr>
        <p:spPr>
          <a:xfrm>
            <a:off x="685800" y="1600200"/>
            <a:ext cx="4389120" cy="2834640"/>
          </a:xfrm>
          <a:prstGeom prst="rect">
            <a:avLst/>
          </a:prstGeom>
          <a:noFill/>
          <a:ln/>
        </p:spPr>
        <p:txBody>
          <a:bodyPr wrap="square" lIns="0" tIns="0" rIns="0" bIns="0" rtlCol="0" anchor="t"/>
          <a:lstStyle/>
          <a:p>
            <a:pPr indent="0" marL="0">
              <a:buNone/>
            </a:pPr>
            <a:r>
              <a:rPr lang="en-US" sz="1400" i="1" dirty="0">
                <a:solidFill>
                  <a:schemeClr val="tx1"/>
                </a:solidFill>
              </a:rPr>
              <a:t>"…The fingerprint generated 7 transactions totalling $68,309.55 over a 93-day period… The velocity of transactions is spread out between Months, Days, Minutes… the recipient might have invested in cryptocurrencies… and withdrawn his accumulated profits. The transaction volumes are consistent with the merchant's line of business… the case will be discounted."</a:t>
            </a:r>
            <a:endParaRPr lang="en-US" sz="1400" dirty="0"/>
          </a:p>
        </p:txBody>
      </p:sp>
      <p:sp>
        <p:nvSpPr>
          <p:cNvPr id="6" name="Prompt circle"/>
          <p:cNvSpPr/>
          <p:nvPr/>
        </p:nvSpPr>
        <p:spPr>
          <a:xfrm>
            <a:off x="5577840" y="1097280"/>
            <a:ext cx="548640" cy="548640"/>
          </a:xfrm>
          <a:prstGeom prst="ellipse">
            <a:avLst/>
          </a:prstGeom>
          <a:solidFill>
            <a:srgbClr val="F2A541"/>
          </a:solidFill>
          <a:ln w="12700">
            <a:solidFill>
              <a:srgbClr val="F2A541"/>
            </a:solidFill>
            <a:prstDash val="solid"/>
          </a:ln>
        </p:spPr>
      </p:sp>
      <p:pic>
        <p:nvPicPr>
          <p:cNvPr id="7" name="Prompt icon" descr="preencoded.png">    </p:cNvPr>
          <p:cNvPicPr>
            <a:picLocks noChangeAspect="1"/>
          </p:cNvPicPr>
          <p:nvPr/>
        </p:nvPicPr>
        <p:blipFill>
          <a:blip r:embed="rId1"/>
          <a:stretch>
            <a:fillRect/>
          </a:stretch>
        </p:blipFill>
        <p:spPr>
          <a:xfrm>
            <a:off x="5715000" y="1234440"/>
            <a:ext cx="274320" cy="274320"/>
          </a:xfrm>
          <a:prstGeom prst="rect">
            <a:avLst/>
          </a:prstGeom>
        </p:spPr>
      </p:pic>
      <p:sp>
        <p:nvSpPr>
          <p:cNvPr id="8" name="Text 5"/>
          <p:cNvSpPr txBox="1"/>
          <p:nvPr/>
        </p:nvSpPr>
        <p:spPr>
          <a:xfrm>
            <a:off x="6263640" y="109728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Discuss</a:t>
            </a:r>
            <a:endParaRPr lang="en-US" sz="1800" dirty="0"/>
          </a:p>
        </p:txBody>
      </p:sp>
      <p:sp>
        <p:nvSpPr>
          <p:cNvPr id="9" name="Text 6"/>
          <p:cNvSpPr txBox="1"/>
          <p:nvPr/>
        </p:nvSpPr>
        <p:spPr>
          <a:xfrm>
            <a:off x="5577840" y="182880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Which transaction caused the alert?</a:t>
            </a:r>
            <a:endParaRPr lang="en-US" sz="1400" dirty="0"/>
          </a:p>
          <a:p>
            <a:pPr marL="342900" indent="-342900">
              <a:spcAft>
                <a:spcPts val="600"/>
              </a:spcAft>
              <a:buSzPct val="100000"/>
              <a:buChar char="•"/>
            </a:pPr>
            <a:r>
              <a:rPr lang="en-US" sz="1400" dirty="0">
                <a:solidFill>
                  <a:schemeClr val="tx1"/>
                </a:solidFill>
              </a:rPr>
              <a:t>Why did the weekly volume rule fire?</a:t>
            </a:r>
            <a:endParaRPr lang="en-US" sz="1400" dirty="0"/>
          </a:p>
          <a:p>
            <a:pPr marL="342900" indent="-342900">
              <a:spcAft>
                <a:spcPts val="600"/>
              </a:spcAft>
              <a:buSzPct val="100000"/>
              <a:buChar char="•"/>
            </a:pPr>
            <a:r>
              <a:rPr lang="en-US" sz="1400" dirty="0">
                <a:solidFill>
                  <a:schemeClr val="tx1"/>
                </a:solidFill>
              </a:rPr>
              <a:t>Does the crypto statement explain the value over £10k?</a:t>
            </a:r>
            <a:endParaRPr lang="en-US" sz="1400" dirty="0"/>
          </a:p>
          <a:p>
            <a:pPr marL="342900" indent="-342900">
              <a:spcAft>
                <a:spcPts val="600"/>
              </a:spcAft>
              <a:buSzPct val="100000"/>
              <a:buChar char="•"/>
            </a:pPr>
            <a:r>
              <a:rPr lang="en-US" sz="1400" dirty="0">
                <a:solidFill>
                  <a:schemeClr val="tx1"/>
                </a:solidFill>
              </a:rPr>
              <a:t>What does the velocity sentence add?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1: QA feedback</a:t>
            </a:r>
            <a:endParaRPr lang="en-US" sz="2800" dirty="0"/>
          </a:p>
        </p:txBody>
      </p:sp>
      <p:sp>
        <p:nvSpPr>
          <p:cNvPr id="3" name="Text 1"/>
          <p:cNvSpPr txBox="1"/>
          <p:nvPr/>
        </p:nvSpPr>
        <p:spPr>
          <a:xfrm>
            <a:off x="457200" y="1097280"/>
            <a:ext cx="3749040" cy="365760"/>
          </a:xfrm>
          <a:prstGeom prst="rect">
            <a:avLst/>
          </a:prstGeom>
          <a:noFill/>
          <a:ln/>
        </p:spPr>
        <p:txBody>
          <a:bodyPr wrap="square" lIns="0" tIns="0" rIns="0" bIns="0" rtlCol="0" anchor="t"/>
          <a:lstStyle/>
          <a:p>
            <a:pPr indent="0" marL="0">
              <a:buNone/>
            </a:pPr>
            <a:r>
              <a:rPr lang="en-US" sz="1700" b="1" dirty="0">
                <a:solidFill>
                  <a:schemeClr val="accent3"/>
                </a:solidFill>
              </a:rPr>
              <a:t>What was missing</a:t>
            </a:r>
            <a:endParaRPr lang="en-US" sz="1700" dirty="0"/>
          </a:p>
        </p:txBody>
      </p:sp>
      <p:sp>
        <p:nvSpPr>
          <p:cNvPr id="4" name="Text 2"/>
          <p:cNvSpPr txBox="1"/>
          <p:nvPr/>
        </p:nvSpPr>
        <p:spPr>
          <a:xfrm>
            <a:off x="457200" y="1554480"/>
            <a:ext cx="3749040" cy="2971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alerting transaction (a single £10,478.96 withdrawal) is not described</a:t>
            </a:r>
            <a:endParaRPr lang="en-US" sz="1400" dirty="0"/>
          </a:p>
          <a:p>
            <a:pPr marL="342900" indent="-342900">
              <a:spcAft>
                <a:spcPts val="600"/>
              </a:spcAft>
              <a:buSzPct val="100000"/>
              <a:buChar char="•"/>
            </a:pPr>
            <a:r>
              <a:rPr lang="en-US" sz="1300" dirty="0">
                <a:solidFill>
                  <a:schemeClr val="tx1"/>
                </a:solidFill>
              </a:rPr>
              <a:t>No reason given for the weekly spike: there was no activity in the previous 4 weeks</a:t>
            </a:r>
            <a:endParaRPr lang="en-US" sz="1400" dirty="0"/>
          </a:p>
          <a:p>
            <a:pPr marL="342900" indent="-342900">
              <a:spcAft>
                <a:spcPts val="600"/>
              </a:spcAft>
              <a:buSzPct val="100000"/>
              <a:buChar char="•"/>
            </a:pPr>
            <a:r>
              <a:rPr lang="en-US" sz="1300" dirty="0">
                <a:solidFill>
                  <a:schemeClr val="tx1"/>
                </a:solidFill>
              </a:rPr>
              <a:t>"Might have invested…" is weak and not backed by pay-in evidence</a:t>
            </a:r>
            <a:endParaRPr lang="en-US" sz="1400" dirty="0"/>
          </a:p>
          <a:p>
            <a:pPr marL="342900" indent="-342900">
              <a:spcAft>
                <a:spcPts val="600"/>
              </a:spcAft>
              <a:buSzPct val="100000"/>
              <a:buChar char="•"/>
            </a:pPr>
            <a:r>
              <a:rPr lang="en-US" sz="1300" dirty="0">
                <a:solidFill>
                  <a:schemeClr val="tx1"/>
                </a:solidFill>
              </a:rPr>
              <a:t>The velocity sentence serves no purpose</a:t>
            </a:r>
            <a:endParaRPr lang="en-US" sz="1400" dirty="0"/>
          </a:p>
        </p:txBody>
      </p:sp>
      <p:sp>
        <p:nvSpPr>
          <p:cNvPr id="5" name="Better panel"/>
          <p:cNvSpPr/>
          <p:nvPr/>
        </p:nvSpPr>
        <p:spPr>
          <a:xfrm>
            <a:off x="4480560" y="1097280"/>
            <a:ext cx="4206240" cy="3429000"/>
          </a:xfrm>
          <a:prstGeom prst="roundRect">
            <a:avLst>
              <a:gd name="adj" fmla="val 2133"/>
            </a:avLst>
          </a:prstGeom>
          <a:solidFill>
            <a:schemeClr val="tx2"/>
          </a:solidFill>
          <a:ln w="12700">
            <a:solidFill>
              <a:schemeClr val="tx2"/>
            </a:solidFill>
            <a:prstDash val="solid"/>
          </a:ln>
        </p:spPr>
      </p:sp>
      <p:sp>
        <p:nvSpPr>
          <p:cNvPr id="6" name="Text 4"/>
          <p:cNvSpPr txBox="1"/>
          <p:nvPr/>
        </p:nvSpPr>
        <p:spPr>
          <a:xfrm>
            <a:off x="4709160" y="1234440"/>
            <a:ext cx="3749040" cy="365760"/>
          </a:xfrm>
          <a:prstGeom prst="rect">
            <a:avLst/>
          </a:prstGeom>
          <a:noFill/>
          <a:ln/>
        </p:spPr>
        <p:txBody>
          <a:bodyPr wrap="square" lIns="0" tIns="0" rIns="0" bIns="0" rtlCol="0" anchor="t"/>
          <a:lstStyle/>
          <a:p>
            <a:pPr indent="0" marL="0">
              <a:buNone/>
            </a:pPr>
            <a:r>
              <a:rPr lang="en-US" sz="1700" b="1" dirty="0">
                <a:solidFill>
                  <a:schemeClr val="accent2"/>
                </a:solidFill>
              </a:rPr>
              <a:t>What a stronger note does</a:t>
            </a:r>
            <a:endParaRPr lang="en-US" sz="1700" dirty="0"/>
          </a:p>
        </p:txBody>
      </p:sp>
      <p:sp>
        <p:nvSpPr>
          <p:cNvPr id="7" name="Text 5"/>
          <p:cNvSpPr txBox="1"/>
          <p:nvPr/>
        </p:nvSpPr>
        <p:spPr>
          <a:xfrm>
            <a:off x="4709160" y="1691640"/>
            <a:ext cx="3749040" cy="2743200"/>
          </a:xfrm>
          <a:prstGeom prst="rect">
            <a:avLst/>
          </a:prstGeom>
          <a:noFill/>
          <a:ln/>
        </p:spPr>
        <p:txBody>
          <a:bodyPr wrap="square" lIns="0" tIns="0" rIns="0" bIns="0" rtlCol="0" anchor="t"/>
          <a:lstStyle/>
          <a:p>
            <a:pPr indent="0" marL="0">
              <a:buNone/>
            </a:pPr>
            <a:r>
              <a:rPr lang="en-US" sz="1400" dirty="0">
                <a:solidFill>
                  <a:schemeClr val="bg1"/>
                </a:solidFill>
              </a:rPr>
              <a:t>Lead with the £10,478.96 withdrawal. Explain that the weekly rule fired because the cardholder had no activity in the prior 4 weeks, which is consistent with their pattern. Show that the value is in line with their previous withdrawals, and support any "profits" explanation with their pay-in history.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2: single-customer share</a:t>
            </a:r>
            <a:endParaRPr lang="en-US" sz="2800" dirty="0"/>
          </a:p>
        </p:txBody>
      </p:sp>
      <p:sp>
        <p:nvSpPr>
          <p:cNvPr id="3" name="Rationale card"/>
          <p:cNvSpPr/>
          <p:nvPr/>
        </p:nvSpPr>
        <p:spPr>
          <a:xfrm>
            <a:off x="457200" y="1097280"/>
            <a:ext cx="484632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685800" y="1234440"/>
            <a:ext cx="4389120" cy="274320"/>
          </a:xfrm>
          <a:prstGeom prst="rect">
            <a:avLst/>
          </a:prstGeom>
          <a:noFill/>
          <a:ln/>
        </p:spPr>
        <p:txBody>
          <a:bodyPr wrap="square" lIns="0" tIns="0" rIns="0" bIns="0" rtlCol="0" anchor="t"/>
          <a:lstStyle/>
          <a:p>
            <a:pPr indent="0" marL="0">
              <a:buNone/>
            </a:pPr>
            <a:r>
              <a:rPr lang="en-US" sz="1000" b="1" dirty="0">
                <a:solidFill>
                  <a:schemeClr val="accent1"/>
                </a:solidFill>
              </a:rPr>
              <a:t>RULE: ONE CARDHOLDER &gt; 0.5% OF PAY-IN VOLUME IN 30 DAYS</a:t>
            </a:r>
            <a:endParaRPr lang="en-US" sz="1000" dirty="0"/>
          </a:p>
        </p:txBody>
      </p:sp>
      <p:sp>
        <p:nvSpPr>
          <p:cNvPr id="5" name="Text 3"/>
          <p:cNvSpPr txBox="1"/>
          <p:nvPr/>
        </p:nvSpPr>
        <p:spPr>
          <a:xfrm>
            <a:off x="685800" y="1600200"/>
            <a:ext cx="4389120" cy="2834640"/>
          </a:xfrm>
          <a:prstGeom prst="rect">
            <a:avLst/>
          </a:prstGeom>
          <a:noFill/>
          <a:ln/>
        </p:spPr>
        <p:txBody>
          <a:bodyPr wrap="square" lIns="0" tIns="0" rIns="0" bIns="0" rtlCol="0" anchor="t"/>
          <a:lstStyle/>
          <a:p>
            <a:pPr indent="0" marL="0">
              <a:buNone/>
            </a:pPr>
            <a:r>
              <a:rPr lang="en-US" sz="1400" i="1" dirty="0">
                <a:solidFill>
                  <a:schemeClr val="tx1"/>
                </a:solidFill>
              </a:rPr>
              <a:t>"…no indicators of structuring or smurfing activity were identified. Although the current annual transaction volume exceeds the threshold established during onboarding, this increase is supported by publicly available information… All transactions originate from low-risk jurisdictions… The merchant holds a Trustpilot rating of 2.6… 100% of payments were processed via debit cards… the alert has been reviewed and discounted as a false positive."</a:t>
            </a:r>
            <a:endParaRPr lang="en-US" sz="1400" dirty="0"/>
          </a:p>
        </p:txBody>
      </p:sp>
      <p:sp>
        <p:nvSpPr>
          <p:cNvPr id="6" name="Prompt circle"/>
          <p:cNvSpPr/>
          <p:nvPr/>
        </p:nvSpPr>
        <p:spPr>
          <a:xfrm>
            <a:off x="5577840" y="1097280"/>
            <a:ext cx="548640" cy="548640"/>
          </a:xfrm>
          <a:prstGeom prst="ellipse">
            <a:avLst/>
          </a:prstGeom>
          <a:solidFill>
            <a:srgbClr val="F2A541"/>
          </a:solidFill>
          <a:ln w="12700">
            <a:solidFill>
              <a:srgbClr val="F2A541"/>
            </a:solidFill>
            <a:prstDash val="solid"/>
          </a:ln>
        </p:spPr>
      </p:sp>
      <p:pic>
        <p:nvPicPr>
          <p:cNvPr id="7" name="Prompt icon" descr="preencoded.png">    </p:cNvPr>
          <p:cNvPicPr>
            <a:picLocks noChangeAspect="1"/>
          </p:cNvPicPr>
          <p:nvPr/>
        </p:nvPicPr>
        <p:blipFill>
          <a:blip r:embed="rId1"/>
          <a:stretch>
            <a:fillRect/>
          </a:stretch>
        </p:blipFill>
        <p:spPr>
          <a:xfrm>
            <a:off x="5715000" y="1234440"/>
            <a:ext cx="274320" cy="274320"/>
          </a:xfrm>
          <a:prstGeom prst="rect">
            <a:avLst/>
          </a:prstGeom>
        </p:spPr>
      </p:pic>
      <p:sp>
        <p:nvSpPr>
          <p:cNvPr id="8" name="Text 5"/>
          <p:cNvSpPr txBox="1"/>
          <p:nvPr/>
        </p:nvSpPr>
        <p:spPr>
          <a:xfrm>
            <a:off x="6263640" y="109728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Discuss</a:t>
            </a:r>
            <a:endParaRPr lang="en-US" sz="1800" dirty="0"/>
          </a:p>
        </p:txBody>
      </p:sp>
      <p:sp>
        <p:nvSpPr>
          <p:cNvPr id="9" name="Text 6"/>
          <p:cNvSpPr txBox="1"/>
          <p:nvPr/>
        </p:nvSpPr>
        <p:spPr>
          <a:xfrm>
            <a:off x="5577840" y="182880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Who is the alerted cardholder, and by how much did they exceed 0.5%?</a:t>
            </a:r>
            <a:endParaRPr lang="en-US" sz="1400" dirty="0"/>
          </a:p>
          <a:p>
            <a:pPr marL="342900" indent="-342900">
              <a:spcAft>
                <a:spcPts val="600"/>
              </a:spcAft>
              <a:buSzPct val="100000"/>
              <a:buChar char="•"/>
            </a:pPr>
            <a:r>
              <a:rPr lang="en-US" sz="1400" dirty="0">
                <a:solidFill>
                  <a:schemeClr val="tx1"/>
                </a:solidFill>
              </a:rPr>
              <a:t>Which sentences address the alert?</a:t>
            </a:r>
            <a:endParaRPr lang="en-US" sz="1400" dirty="0"/>
          </a:p>
          <a:p>
            <a:pPr marL="342900" indent="-342900">
              <a:spcAft>
                <a:spcPts val="600"/>
              </a:spcAft>
              <a:buSzPct val="100000"/>
              <a:buChar char="•"/>
            </a:pPr>
            <a:r>
              <a:rPr lang="en-US" sz="1400" dirty="0">
                <a:solidFill>
                  <a:schemeClr val="tx1"/>
                </a:solidFill>
              </a:rPr>
              <a:t>Is the sender review specific enough?</a:t>
            </a:r>
            <a:endParaRPr lang="en-US" sz="1400" dirty="0"/>
          </a:p>
          <a:p>
            <a:pPr marL="342900" indent="-342900">
              <a:spcAft>
                <a:spcPts val="600"/>
              </a:spcAft>
              <a:buSzPct val="100000"/>
              <a:buChar char="•"/>
            </a:pPr>
            <a:r>
              <a:rPr lang="en-US" sz="1400" dirty="0">
                <a:solidFill>
                  <a:schemeClr val="tx1"/>
                </a:solidFill>
              </a:rPr>
              <a:t>Is "false positive" the right outcome?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2: QA feedback</a:t>
            </a:r>
            <a:endParaRPr lang="en-US" sz="2800" dirty="0"/>
          </a:p>
        </p:txBody>
      </p:sp>
      <p:sp>
        <p:nvSpPr>
          <p:cNvPr id="3" name="Text 1"/>
          <p:cNvSpPr txBox="1"/>
          <p:nvPr/>
        </p:nvSpPr>
        <p:spPr>
          <a:xfrm>
            <a:off x="457200" y="1097280"/>
            <a:ext cx="3749040" cy="365760"/>
          </a:xfrm>
          <a:prstGeom prst="rect">
            <a:avLst/>
          </a:prstGeom>
          <a:noFill/>
          <a:ln/>
        </p:spPr>
        <p:txBody>
          <a:bodyPr wrap="square" lIns="0" tIns="0" rIns="0" bIns="0" rtlCol="0" anchor="t"/>
          <a:lstStyle/>
          <a:p>
            <a:pPr indent="0" marL="0">
              <a:buNone/>
            </a:pPr>
            <a:r>
              <a:rPr lang="en-US" sz="1700" b="1" dirty="0">
                <a:solidFill>
                  <a:schemeClr val="accent3"/>
                </a:solidFill>
              </a:rPr>
              <a:t>What was missing</a:t>
            </a:r>
            <a:endParaRPr lang="en-US" sz="1700" dirty="0"/>
          </a:p>
        </p:txBody>
      </p:sp>
      <p:sp>
        <p:nvSpPr>
          <p:cNvPr id="4" name="Text 2"/>
          <p:cNvSpPr txBox="1"/>
          <p:nvPr/>
        </p:nvSpPr>
        <p:spPr>
          <a:xfrm>
            <a:off x="457200" y="1554480"/>
            <a:ext cx="3749040" cy="2971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alerted cardholder and their activity are not described</a:t>
            </a:r>
            <a:endParaRPr lang="en-US" sz="1400" dirty="0"/>
          </a:p>
          <a:p>
            <a:pPr marL="342900" indent="-342900">
              <a:spcAft>
                <a:spcPts val="600"/>
              </a:spcAft>
              <a:buSzPct val="100000"/>
              <a:buChar char="•"/>
            </a:pPr>
            <a:r>
              <a:rPr lang="en-US" sz="1300" dirty="0">
                <a:solidFill>
                  <a:schemeClr val="tx1"/>
                </a:solidFill>
              </a:rPr>
              <a:t>Mostly a general merchant review, not the alert</a:t>
            </a:r>
            <a:endParaRPr lang="en-US" sz="1400" dirty="0"/>
          </a:p>
          <a:p>
            <a:pPr marL="342900" indent="-342900">
              <a:spcAft>
                <a:spcPts val="600"/>
              </a:spcAft>
              <a:buSzPct val="100000"/>
              <a:buChar char="•"/>
            </a:pPr>
            <a:r>
              <a:rPr lang="en-US" sz="1300" dirty="0">
                <a:solidFill>
                  <a:schemeClr val="tx1"/>
                </a:solidFill>
              </a:rPr>
              <a:t>Senders reviewed only in aggregate</a:t>
            </a:r>
            <a:endParaRPr lang="en-US" sz="1400" dirty="0"/>
          </a:p>
          <a:p>
            <a:pPr marL="342900" indent="-342900">
              <a:spcAft>
                <a:spcPts val="600"/>
              </a:spcAft>
              <a:buSzPct val="100000"/>
              <a:buChar char="•"/>
            </a:pPr>
            <a:r>
              <a:rPr lang="en-US" sz="1300" dirty="0">
                <a:solidFill>
                  <a:schemeClr val="tx1"/>
                </a:solidFill>
              </a:rPr>
              <a:t>No reason why the alerted activity is not a concern</a:t>
            </a:r>
            <a:endParaRPr lang="en-US" sz="1400" dirty="0"/>
          </a:p>
          <a:p>
            <a:pPr marL="342900" indent="-342900">
              <a:spcAft>
                <a:spcPts val="600"/>
              </a:spcAft>
              <a:buSzPct val="100000"/>
              <a:buChar char="•"/>
            </a:pPr>
            <a:r>
              <a:rPr lang="en-US" sz="1300" dirty="0">
                <a:solidFill>
                  <a:schemeClr val="tx1"/>
                </a:solidFill>
              </a:rPr>
              <a:t>Rule alerted correctly, yet closed as false positive</a:t>
            </a:r>
            <a:endParaRPr lang="en-US" sz="1400" dirty="0"/>
          </a:p>
        </p:txBody>
      </p:sp>
      <p:sp>
        <p:nvSpPr>
          <p:cNvPr id="5" name="Better panel"/>
          <p:cNvSpPr/>
          <p:nvPr/>
        </p:nvSpPr>
        <p:spPr>
          <a:xfrm>
            <a:off x="4480560" y="1097280"/>
            <a:ext cx="4206240" cy="3429000"/>
          </a:xfrm>
          <a:prstGeom prst="roundRect">
            <a:avLst>
              <a:gd name="adj" fmla="val 2133"/>
            </a:avLst>
          </a:prstGeom>
          <a:solidFill>
            <a:schemeClr val="tx2"/>
          </a:solidFill>
          <a:ln w="12700">
            <a:solidFill>
              <a:schemeClr val="tx2"/>
            </a:solidFill>
            <a:prstDash val="solid"/>
          </a:ln>
        </p:spPr>
      </p:sp>
      <p:sp>
        <p:nvSpPr>
          <p:cNvPr id="6" name="Text 4"/>
          <p:cNvSpPr txBox="1"/>
          <p:nvPr/>
        </p:nvSpPr>
        <p:spPr>
          <a:xfrm>
            <a:off x="4709160" y="1234440"/>
            <a:ext cx="3749040" cy="365760"/>
          </a:xfrm>
          <a:prstGeom prst="rect">
            <a:avLst/>
          </a:prstGeom>
          <a:noFill/>
          <a:ln/>
        </p:spPr>
        <p:txBody>
          <a:bodyPr wrap="square" lIns="0" tIns="0" rIns="0" bIns="0" rtlCol="0" anchor="t"/>
          <a:lstStyle/>
          <a:p>
            <a:pPr indent="0" marL="0">
              <a:buNone/>
            </a:pPr>
            <a:r>
              <a:rPr lang="en-US" sz="1700" b="1" dirty="0">
                <a:solidFill>
                  <a:schemeClr val="accent2"/>
                </a:solidFill>
              </a:rPr>
              <a:t>What a stronger note does</a:t>
            </a:r>
            <a:endParaRPr lang="en-US" sz="1700" dirty="0"/>
          </a:p>
        </p:txBody>
      </p:sp>
      <p:sp>
        <p:nvSpPr>
          <p:cNvPr id="7" name="Text 5"/>
          <p:cNvSpPr txBox="1"/>
          <p:nvPr/>
        </p:nvSpPr>
        <p:spPr>
          <a:xfrm>
            <a:off x="4709160" y="1691640"/>
            <a:ext cx="3749040" cy="2743200"/>
          </a:xfrm>
          <a:prstGeom prst="rect">
            <a:avLst/>
          </a:prstGeom>
          <a:noFill/>
          <a:ln/>
        </p:spPr>
        <p:txBody>
          <a:bodyPr wrap="square" lIns="0" tIns="0" rIns="0" bIns="0" rtlCol="0" anchor="t"/>
          <a:lstStyle/>
          <a:p>
            <a:pPr indent="0" marL="0">
              <a:buNone/>
            </a:pPr>
            <a:r>
              <a:rPr lang="en-US" sz="1400" dirty="0">
                <a:solidFill>
                  <a:schemeClr val="bg1"/>
                </a:solidFill>
              </a:rPr>
              <a:t>Identify the alerted fingerprint and its share of pay-ins against the 0.5% threshold. Compare the cardholder's activity in the period with their usual activity at this merchant. If they exceeded it only slightly and in line with their norm, say so. Choose a closure reason that reflects that the rule fired correctly.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3: high-risk country share</a:t>
            </a:r>
            <a:endParaRPr lang="en-US" sz="2800" dirty="0"/>
          </a:p>
        </p:txBody>
      </p:sp>
      <p:sp>
        <p:nvSpPr>
          <p:cNvPr id="3" name="Rationale card"/>
          <p:cNvSpPr/>
          <p:nvPr/>
        </p:nvSpPr>
        <p:spPr>
          <a:xfrm>
            <a:off x="457200" y="1097280"/>
            <a:ext cx="484632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685800" y="1234440"/>
            <a:ext cx="4389120" cy="274320"/>
          </a:xfrm>
          <a:prstGeom prst="rect">
            <a:avLst/>
          </a:prstGeom>
          <a:noFill/>
          <a:ln/>
        </p:spPr>
        <p:txBody>
          <a:bodyPr wrap="square" lIns="0" tIns="0" rIns="0" bIns="0" rtlCol="0" anchor="t"/>
          <a:lstStyle/>
          <a:p>
            <a:pPr indent="0" marL="0">
              <a:buNone/>
            </a:pPr>
            <a:r>
              <a:rPr lang="en-US" sz="1000" b="1" dirty="0">
                <a:solidFill>
                  <a:schemeClr val="accent1"/>
                </a:solidFill>
              </a:rPr>
              <a:t>RULE: HIGH SHARE OF PROCESSING FROM A HIGH-RISK COUNTRY</a:t>
            </a:r>
            <a:endParaRPr lang="en-US" sz="1000" dirty="0"/>
          </a:p>
        </p:txBody>
      </p:sp>
      <p:sp>
        <p:nvSpPr>
          <p:cNvPr id="5" name="Text 3"/>
          <p:cNvSpPr txBox="1"/>
          <p:nvPr/>
        </p:nvSpPr>
        <p:spPr>
          <a:xfrm>
            <a:off x="685800" y="1600200"/>
            <a:ext cx="4389120" cy="2834640"/>
          </a:xfrm>
          <a:prstGeom prst="rect">
            <a:avLst/>
          </a:prstGeom>
          <a:noFill/>
          <a:ln/>
        </p:spPr>
        <p:txBody>
          <a:bodyPr wrap="square" lIns="0" tIns="0" rIns="0" bIns="0" rtlCol="0" anchor="t"/>
          <a:lstStyle/>
          <a:p>
            <a:pPr indent="0" marL="0">
              <a:buNone/>
            </a:pPr>
            <a:r>
              <a:rPr lang="en-US" sz="1400" i="1" dirty="0">
                <a:solidFill>
                  <a:schemeClr val="tx1"/>
                </a:solidFill>
              </a:rPr>
              <a:t>"…no evidence of structuring or smurfing patterns was identified. Current processing volume is significantly lower than the projected volumes. The merchant is getting payments from low and high risk countries. The payment method as follows: Debit 77% Credit 23%. The merchant's Trustpilot profile shows a (2.6) rating… Prior RFI was raised… discounted as a false positive."</a:t>
            </a:r>
            <a:endParaRPr lang="en-US" sz="1400" dirty="0"/>
          </a:p>
        </p:txBody>
      </p:sp>
      <p:sp>
        <p:nvSpPr>
          <p:cNvPr id="6" name="Prompt circle"/>
          <p:cNvSpPr/>
          <p:nvPr/>
        </p:nvSpPr>
        <p:spPr>
          <a:xfrm>
            <a:off x="5577840" y="1097280"/>
            <a:ext cx="548640" cy="548640"/>
          </a:xfrm>
          <a:prstGeom prst="ellipse">
            <a:avLst/>
          </a:prstGeom>
          <a:solidFill>
            <a:srgbClr val="F2A541"/>
          </a:solidFill>
          <a:ln w="12700">
            <a:solidFill>
              <a:srgbClr val="F2A541"/>
            </a:solidFill>
            <a:prstDash val="solid"/>
          </a:ln>
        </p:spPr>
      </p:sp>
      <p:pic>
        <p:nvPicPr>
          <p:cNvPr id="7" name="Prompt icon" descr="preencoded.png">    </p:cNvPr>
          <p:cNvPicPr>
            <a:picLocks noChangeAspect="1"/>
          </p:cNvPicPr>
          <p:nvPr/>
        </p:nvPicPr>
        <p:blipFill>
          <a:blip r:embed="rId1"/>
          <a:stretch>
            <a:fillRect/>
          </a:stretch>
        </p:blipFill>
        <p:spPr>
          <a:xfrm>
            <a:off x="5715000" y="1234440"/>
            <a:ext cx="274320" cy="274320"/>
          </a:xfrm>
          <a:prstGeom prst="rect">
            <a:avLst/>
          </a:prstGeom>
        </p:spPr>
      </p:pic>
      <p:sp>
        <p:nvSpPr>
          <p:cNvPr id="8" name="Text 5"/>
          <p:cNvSpPr txBox="1"/>
          <p:nvPr/>
        </p:nvSpPr>
        <p:spPr>
          <a:xfrm>
            <a:off x="6263640" y="109728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Discuss</a:t>
            </a:r>
            <a:endParaRPr lang="en-US" sz="1800" dirty="0"/>
          </a:p>
        </p:txBody>
      </p:sp>
      <p:sp>
        <p:nvSpPr>
          <p:cNvPr id="9" name="Text 6"/>
          <p:cNvSpPr txBox="1"/>
          <p:nvPr/>
        </p:nvSpPr>
        <p:spPr>
          <a:xfrm>
            <a:off x="5577840" y="182880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Which country, and what share of volume?</a:t>
            </a:r>
            <a:endParaRPr lang="en-US" sz="1400" dirty="0"/>
          </a:p>
          <a:p>
            <a:pPr marL="342900" indent="-342900">
              <a:spcAft>
                <a:spcPts val="600"/>
              </a:spcAft>
              <a:buSzPct val="100000"/>
              <a:buChar char="•"/>
            </a:pPr>
            <a:r>
              <a:rPr lang="en-US" sz="1400" dirty="0">
                <a:solidFill>
                  <a:schemeClr val="tx1"/>
                </a:solidFill>
              </a:rPr>
              <a:t>Which statements relate to the alert?</a:t>
            </a:r>
            <a:endParaRPr lang="en-US" sz="1400" dirty="0"/>
          </a:p>
          <a:p>
            <a:pPr marL="342900" indent="-342900">
              <a:spcAft>
                <a:spcPts val="600"/>
              </a:spcAft>
              <a:buSzPct val="100000"/>
              <a:buChar char="•"/>
            </a:pPr>
            <a:r>
              <a:rPr lang="en-US" sz="1400" dirty="0">
                <a:solidFill>
                  <a:schemeClr val="tx1"/>
                </a:solidFill>
              </a:rPr>
              <a:t>What does the card split tell us?</a:t>
            </a:r>
            <a:endParaRPr lang="en-US" sz="1400" dirty="0"/>
          </a:p>
          <a:p>
            <a:pPr marL="342900" indent="-342900">
              <a:spcAft>
                <a:spcPts val="600"/>
              </a:spcAft>
              <a:buSzPct val="100000"/>
              <a:buChar char="•"/>
            </a:pPr>
            <a:r>
              <a:rPr lang="en-US" sz="1400" dirty="0">
                <a:solidFill>
                  <a:schemeClr val="tx1"/>
                </a:solidFill>
              </a:rPr>
              <a:t>Why is this country activity not a concern?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3: QA feedback</a:t>
            </a:r>
            <a:endParaRPr lang="en-US" sz="2800" dirty="0"/>
          </a:p>
        </p:txBody>
      </p:sp>
      <p:sp>
        <p:nvSpPr>
          <p:cNvPr id="3" name="Text 1"/>
          <p:cNvSpPr txBox="1"/>
          <p:nvPr/>
        </p:nvSpPr>
        <p:spPr>
          <a:xfrm>
            <a:off x="457200" y="1097280"/>
            <a:ext cx="3749040" cy="365760"/>
          </a:xfrm>
          <a:prstGeom prst="rect">
            <a:avLst/>
          </a:prstGeom>
          <a:noFill/>
          <a:ln/>
        </p:spPr>
        <p:txBody>
          <a:bodyPr wrap="square" lIns="0" tIns="0" rIns="0" bIns="0" rtlCol="0" anchor="t"/>
          <a:lstStyle/>
          <a:p>
            <a:pPr indent="0" marL="0">
              <a:buNone/>
            </a:pPr>
            <a:r>
              <a:rPr lang="en-US" sz="1700" b="1" dirty="0">
                <a:solidFill>
                  <a:schemeClr val="accent3"/>
                </a:solidFill>
              </a:rPr>
              <a:t>What was missing</a:t>
            </a:r>
            <a:endParaRPr lang="en-US" sz="1700" dirty="0"/>
          </a:p>
        </p:txBody>
      </p:sp>
      <p:sp>
        <p:nvSpPr>
          <p:cNvPr id="4" name="Text 2"/>
          <p:cNvSpPr txBox="1"/>
          <p:nvPr/>
        </p:nvSpPr>
        <p:spPr>
          <a:xfrm>
            <a:off x="457200" y="1554480"/>
            <a:ext cx="3749040" cy="2971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Country and share (Ukraine, 38% of volume) not stated</a:t>
            </a:r>
            <a:endParaRPr lang="en-US" sz="1400" dirty="0"/>
          </a:p>
          <a:p>
            <a:pPr marL="342900" indent="-342900">
              <a:spcAft>
                <a:spcPts val="600"/>
              </a:spcAft>
              <a:buSzPct val="100000"/>
              <a:buChar char="•"/>
            </a:pPr>
            <a:r>
              <a:rPr lang="en-US" sz="1300" dirty="0">
                <a:solidFill>
                  <a:schemeClr val="tx1"/>
                </a:solidFill>
              </a:rPr>
              <a:t>Country risk covered by one generic sentence</a:t>
            </a:r>
            <a:endParaRPr lang="en-US" sz="1400" dirty="0"/>
          </a:p>
          <a:p>
            <a:pPr marL="342900" indent="-342900">
              <a:spcAft>
                <a:spcPts val="600"/>
              </a:spcAft>
              <a:buSzPct val="100000"/>
              <a:buChar char="•"/>
            </a:pPr>
            <a:r>
              <a:rPr lang="en-US" sz="1300" dirty="0">
                <a:solidFill>
                  <a:schemeClr val="tx1"/>
                </a:solidFill>
              </a:rPr>
              <a:t>Many statements are not relevant to the alert</a:t>
            </a:r>
            <a:endParaRPr lang="en-US" sz="1400" dirty="0"/>
          </a:p>
          <a:p>
            <a:pPr marL="342900" indent="-342900">
              <a:spcAft>
                <a:spcPts val="600"/>
              </a:spcAft>
              <a:buSzPct val="100000"/>
              <a:buChar char="•"/>
            </a:pPr>
            <a:r>
              <a:rPr lang="en-US" sz="1300" dirty="0">
                <a:solidFill>
                  <a:schemeClr val="tx1"/>
                </a:solidFill>
              </a:rPr>
              <a:t>No reason why the activity is not a concern</a:t>
            </a:r>
            <a:endParaRPr lang="en-US" sz="1400" dirty="0"/>
          </a:p>
          <a:p>
            <a:pPr marL="342900" indent="-342900">
              <a:spcAft>
                <a:spcPts val="600"/>
              </a:spcAft>
              <a:buSzPct val="100000"/>
              <a:buChar char="•"/>
            </a:pPr>
            <a:r>
              <a:rPr lang="en-US" sz="1300" dirty="0">
                <a:solidFill>
                  <a:schemeClr val="tx1"/>
                </a:solidFill>
              </a:rPr>
              <a:t>Rule alerted correctly, yet closed as false positive</a:t>
            </a:r>
            <a:endParaRPr lang="en-US" sz="1400" dirty="0"/>
          </a:p>
        </p:txBody>
      </p:sp>
      <p:sp>
        <p:nvSpPr>
          <p:cNvPr id="5" name="Better panel"/>
          <p:cNvSpPr/>
          <p:nvPr/>
        </p:nvSpPr>
        <p:spPr>
          <a:xfrm>
            <a:off x="4480560" y="1097280"/>
            <a:ext cx="4206240" cy="3429000"/>
          </a:xfrm>
          <a:prstGeom prst="roundRect">
            <a:avLst>
              <a:gd name="adj" fmla="val 2133"/>
            </a:avLst>
          </a:prstGeom>
          <a:solidFill>
            <a:schemeClr val="tx2"/>
          </a:solidFill>
          <a:ln w="12700">
            <a:solidFill>
              <a:schemeClr val="tx2"/>
            </a:solidFill>
            <a:prstDash val="solid"/>
          </a:ln>
        </p:spPr>
      </p:sp>
      <p:sp>
        <p:nvSpPr>
          <p:cNvPr id="6" name="Text 4"/>
          <p:cNvSpPr txBox="1"/>
          <p:nvPr/>
        </p:nvSpPr>
        <p:spPr>
          <a:xfrm>
            <a:off x="4709160" y="1234440"/>
            <a:ext cx="3749040" cy="365760"/>
          </a:xfrm>
          <a:prstGeom prst="rect">
            <a:avLst/>
          </a:prstGeom>
          <a:noFill/>
          <a:ln/>
        </p:spPr>
        <p:txBody>
          <a:bodyPr wrap="square" lIns="0" tIns="0" rIns="0" bIns="0" rtlCol="0" anchor="t"/>
          <a:lstStyle/>
          <a:p>
            <a:pPr indent="0" marL="0">
              <a:buNone/>
            </a:pPr>
            <a:r>
              <a:rPr lang="en-US" sz="1700" b="1" dirty="0">
                <a:solidFill>
                  <a:schemeClr val="accent2"/>
                </a:solidFill>
              </a:rPr>
              <a:t>What a stronger note does</a:t>
            </a:r>
            <a:endParaRPr lang="en-US" sz="1700" dirty="0"/>
          </a:p>
        </p:txBody>
      </p:sp>
      <p:sp>
        <p:nvSpPr>
          <p:cNvPr id="7" name="Text 5"/>
          <p:cNvSpPr txBox="1"/>
          <p:nvPr/>
        </p:nvSpPr>
        <p:spPr>
          <a:xfrm>
            <a:off x="4709160" y="1691640"/>
            <a:ext cx="3749040" cy="2743200"/>
          </a:xfrm>
          <a:prstGeom prst="rect">
            <a:avLst/>
          </a:prstGeom>
          <a:noFill/>
          <a:ln/>
        </p:spPr>
        <p:txBody>
          <a:bodyPr wrap="square" lIns="0" tIns="0" rIns="0" bIns="0" rtlCol="0" anchor="t"/>
          <a:lstStyle/>
          <a:p>
            <a:pPr indent="0" marL="0">
              <a:buNone/>
            </a:pPr>
            <a:r>
              <a:rPr lang="en-US" sz="1400" dirty="0">
                <a:solidFill>
                  <a:schemeClr val="bg1"/>
                </a:solidFill>
              </a:rPr>
              <a:t>State that Ukraine made up 38% of volume in the alerted month. Establish from onboarding and the website that Ukraine is an expected target market, and assess it against the current Geographic Risk Rating. Reference the prior RFI only if it covered this activity, and remove statements that don't relate to the alert.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Case 4: what does good look like?</a:t>
            </a:r>
            <a:endParaRPr lang="en-US" sz="2800" dirty="0"/>
          </a:p>
        </p:txBody>
      </p:sp>
      <p:sp>
        <p:nvSpPr>
          <p:cNvPr id="3" name="Good rationale card"/>
          <p:cNvSpPr/>
          <p:nvPr/>
        </p:nvSpPr>
        <p:spPr>
          <a:xfrm>
            <a:off x="457200" y="1097280"/>
            <a:ext cx="484632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685800" y="1234440"/>
            <a:ext cx="4389120" cy="274320"/>
          </a:xfrm>
          <a:prstGeom prst="rect">
            <a:avLst/>
          </a:prstGeom>
          <a:noFill/>
          <a:ln/>
        </p:spPr>
        <p:txBody>
          <a:bodyPr wrap="square" lIns="0" tIns="0" rIns="0" bIns="0" rtlCol="0" anchor="t"/>
          <a:lstStyle/>
          <a:p>
            <a:pPr indent="0" marL="0">
              <a:buNone/>
            </a:pPr>
            <a:r>
              <a:rPr lang="en-US" sz="1000" b="1" dirty="0">
                <a:solidFill>
                  <a:schemeClr val="accent1"/>
                </a:solidFill>
              </a:rPr>
              <a:t>RULE: AVERAGE TRANSACTION VALUE ABOVE INDUSTRY PEERS</a:t>
            </a:r>
            <a:endParaRPr lang="en-US" sz="1000" dirty="0"/>
          </a:p>
        </p:txBody>
      </p:sp>
      <p:sp>
        <p:nvSpPr>
          <p:cNvPr id="5" name="Text 3"/>
          <p:cNvSpPr txBox="1"/>
          <p:nvPr/>
        </p:nvSpPr>
        <p:spPr>
          <a:xfrm>
            <a:off x="685800" y="1600200"/>
            <a:ext cx="4389120" cy="2834640"/>
          </a:xfrm>
          <a:prstGeom prst="rect">
            <a:avLst/>
          </a:prstGeom>
          <a:noFill/>
          <a:ln/>
        </p:spPr>
        <p:txBody>
          <a:bodyPr wrap="square" lIns="0" tIns="0" rIns="0" bIns="0" rtlCol="0" anchor="t"/>
          <a:lstStyle/>
          <a:p>
            <a:pPr indent="0" marL="0">
              <a:buNone/>
            </a:pPr>
            <a:r>
              <a:rPr lang="en-US" sz="1300" i="1" dirty="0">
                <a:solidFill>
                  <a:schemeClr val="tx1"/>
                </a:solidFill>
              </a:rPr>
              <a:t>"[The merchant] is a UK bar and restaurant group operating venues in London and Manchester… with pricing ranging from individual meals (£10–£30) to higher-value event packages. The merchant appears as an ATV outlier ($65.23) due to transactions typically representing full group dining bills, which is expected when compared with lower-value, single-purchase merchants such as food delivery or small-scale wholesalers…"</a:t>
            </a:r>
            <a:endParaRPr lang="en-US" sz="1300" dirty="0"/>
          </a:p>
        </p:txBody>
      </p:sp>
      <p:sp>
        <p:nvSpPr>
          <p:cNvPr id="6" name="Good circle"/>
          <p:cNvSpPr/>
          <p:nvPr/>
        </p:nvSpPr>
        <p:spPr>
          <a:xfrm>
            <a:off x="5577840" y="1097280"/>
            <a:ext cx="548640" cy="548640"/>
          </a:xfrm>
          <a:prstGeom prst="ellipse">
            <a:avLst/>
          </a:prstGeom>
          <a:solidFill>
            <a:srgbClr val="3A7D44"/>
          </a:solidFill>
          <a:ln w="12700">
            <a:solidFill>
              <a:srgbClr val="3A7D44"/>
            </a:solidFill>
            <a:prstDash val="solid"/>
          </a:ln>
        </p:spPr>
      </p:sp>
      <p:pic>
        <p:nvPicPr>
          <p:cNvPr id="7" name="Good icon" descr="preencoded.png">    </p:cNvPr>
          <p:cNvPicPr>
            <a:picLocks noChangeAspect="1"/>
          </p:cNvPicPr>
          <p:nvPr/>
        </p:nvPicPr>
        <p:blipFill>
          <a:blip r:embed="rId1"/>
          <a:stretch>
            <a:fillRect/>
          </a:stretch>
        </p:blipFill>
        <p:spPr>
          <a:xfrm>
            <a:off x="5715000" y="1234440"/>
            <a:ext cx="274320" cy="274320"/>
          </a:xfrm>
          <a:prstGeom prst="rect">
            <a:avLst/>
          </a:prstGeom>
        </p:spPr>
      </p:pic>
      <p:sp>
        <p:nvSpPr>
          <p:cNvPr id="8" name="Text 5"/>
          <p:cNvSpPr txBox="1"/>
          <p:nvPr/>
        </p:nvSpPr>
        <p:spPr>
          <a:xfrm>
            <a:off x="6263640" y="10972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Why it works</a:t>
            </a:r>
            <a:endParaRPr lang="en-US" sz="1800" dirty="0"/>
          </a:p>
        </p:txBody>
      </p:sp>
      <p:sp>
        <p:nvSpPr>
          <p:cNvPr id="9" name="Text 6"/>
          <p:cNvSpPr txBox="1"/>
          <p:nvPr/>
        </p:nvSpPr>
        <p:spPr>
          <a:xfrm>
            <a:off x="5577840" y="182880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Says why it alerted: ATV outlier at $65.23</a:t>
            </a:r>
            <a:endParaRPr lang="en-US" sz="1400" dirty="0"/>
          </a:p>
          <a:p>
            <a:pPr marL="342900" indent="-342900">
              <a:spcAft>
                <a:spcPts val="600"/>
              </a:spcAft>
              <a:buSzPct val="100000"/>
              <a:buChar char="•"/>
            </a:pPr>
            <a:r>
              <a:rPr lang="en-US" sz="1400" dirty="0">
                <a:solidFill>
                  <a:schemeClr val="tx1"/>
                </a:solidFill>
              </a:rPr>
              <a:t>Explains what drives the value: group dining bills</a:t>
            </a:r>
            <a:endParaRPr lang="en-US" sz="1400" dirty="0"/>
          </a:p>
          <a:p>
            <a:pPr marL="342900" indent="-342900">
              <a:spcAft>
                <a:spcPts val="600"/>
              </a:spcAft>
              <a:buSzPct val="100000"/>
              <a:buChar char="•"/>
            </a:pPr>
            <a:r>
              <a:rPr lang="en-US" sz="1400" dirty="0">
                <a:solidFill>
                  <a:schemeClr val="tx1"/>
                </a:solidFill>
              </a:rPr>
              <a:t>Compares against the right peers</a:t>
            </a:r>
            <a:endParaRPr lang="en-US" sz="1400" dirty="0"/>
          </a:p>
          <a:p>
            <a:pPr marL="342900" indent="-342900">
              <a:spcAft>
                <a:spcPts val="600"/>
              </a:spcAft>
              <a:buSzPct val="100000"/>
              <a:buChar char="•"/>
            </a:pPr>
            <a:r>
              <a:rPr lang="en-US" sz="1400" dirty="0">
                <a:solidFill>
                  <a:schemeClr val="tx1"/>
                </a:solidFill>
              </a:rPr>
              <a:t>Merchant-specific language throughout</a:t>
            </a:r>
            <a:endParaRPr lang="en-US" sz="1400" dirty="0"/>
          </a:p>
          <a:p>
            <a:pPr marL="342900" indent="-342900">
              <a:spcAft>
                <a:spcPts val="600"/>
              </a:spcAft>
              <a:buSzPct val="100000"/>
              <a:buChar char="•"/>
            </a:pPr>
            <a:r>
              <a:rPr lang="en-US" sz="1400" dirty="0">
                <a:solidFill>
                  <a:schemeClr val="tx1"/>
                </a:solidFill>
              </a:rPr>
              <a:t>Every sentence supports the outcome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What is coming to support you</a:t>
            </a:r>
            <a:endParaRPr lang="en-US" sz="2800" dirty="0"/>
          </a:p>
        </p:txBody>
      </p:sp>
      <p:sp>
        <p:nvSpPr>
          <p:cNvPr id="3" name="Next card 1"/>
          <p:cNvSpPr/>
          <p:nvPr/>
        </p:nvSpPr>
        <p:spPr>
          <a:xfrm>
            <a:off x="457200" y="118872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Next 1 circle"/>
          <p:cNvSpPr/>
          <p:nvPr/>
        </p:nvSpPr>
        <p:spPr>
          <a:xfrm>
            <a:off x="685800" y="1554480"/>
            <a:ext cx="685800" cy="685800"/>
          </a:xfrm>
          <a:prstGeom prst="ellipse">
            <a:avLst/>
          </a:prstGeom>
          <a:solidFill>
            <a:srgbClr val="0F7173"/>
          </a:solidFill>
          <a:ln w="12700">
            <a:solidFill>
              <a:srgbClr val="0F7173"/>
            </a:solidFill>
            <a:prstDash val="solid"/>
          </a:ln>
        </p:spPr>
      </p:sp>
      <p:pic>
        <p:nvPicPr>
          <p:cNvPr id="5" name="Next 1 icon" descr="preencoded.png">    </p:cNvPr>
          <p:cNvPicPr>
            <a:picLocks noChangeAspect="1"/>
          </p:cNvPicPr>
          <p:nvPr/>
        </p:nvPicPr>
        <p:blipFill>
          <a:blip r:embed="rId1"/>
          <a:stretch>
            <a:fillRect/>
          </a:stretch>
        </p:blipFill>
        <p:spPr>
          <a:xfrm>
            <a:off x="857250" y="1725930"/>
            <a:ext cx="342900" cy="342900"/>
          </a:xfrm>
          <a:prstGeom prst="rect">
            <a:avLst/>
          </a:prstGeom>
        </p:spPr>
      </p:pic>
      <p:sp>
        <p:nvSpPr>
          <p:cNvPr id="6" name="Text 3"/>
          <p:cNvSpPr txBox="1"/>
          <p:nvPr/>
        </p:nvSpPr>
        <p:spPr>
          <a:xfrm>
            <a:off x="1554480" y="1417320"/>
            <a:ext cx="2743200" cy="411480"/>
          </a:xfrm>
          <a:prstGeom prst="rect">
            <a:avLst/>
          </a:prstGeom>
          <a:noFill/>
          <a:ln/>
        </p:spPr>
        <p:txBody>
          <a:bodyPr wrap="square" lIns="0" tIns="0" rIns="0" bIns="0" rtlCol="0" anchor="t"/>
          <a:lstStyle/>
          <a:p>
            <a:pPr indent="0" marL="0">
              <a:buNone/>
            </a:pPr>
            <a:r>
              <a:rPr lang="en-US" sz="1600" b="1" dirty="0">
                <a:solidFill>
                  <a:schemeClr val="tx2"/>
                </a:solidFill>
              </a:rPr>
              <a:t>Updated template</a:t>
            </a:r>
            <a:endParaRPr lang="en-US" sz="1600" dirty="0"/>
          </a:p>
        </p:txBody>
      </p:sp>
      <p:sp>
        <p:nvSpPr>
          <p:cNvPr id="7" name="Text 4"/>
          <p:cNvSpPr txBox="1"/>
          <p:nvPr/>
        </p:nvSpPr>
        <p:spPr>
          <a:xfrm>
            <a:off x="1554480" y="1847088"/>
            <a:ext cx="2743200" cy="640080"/>
          </a:xfrm>
          <a:prstGeom prst="rect">
            <a:avLst/>
          </a:prstGeom>
          <a:noFill/>
          <a:ln/>
        </p:spPr>
        <p:txBody>
          <a:bodyPr wrap="square" lIns="0" tIns="0" rIns="0" bIns="0" rtlCol="0" anchor="t"/>
          <a:lstStyle/>
          <a:p>
            <a:pPr indent="0" marL="0">
              <a:buNone/>
            </a:pPr>
            <a:r>
              <a:rPr lang="en-US" sz="1300" dirty="0">
                <a:solidFill>
                  <a:schemeClr val="tx1"/>
                </a:solidFill>
              </a:rPr>
              <a:t>Fields that capture the alerted value, volume, countries and look-back window</a:t>
            </a:r>
            <a:endParaRPr lang="en-US" sz="1300" dirty="0"/>
          </a:p>
        </p:txBody>
      </p:sp>
      <p:sp>
        <p:nvSpPr>
          <p:cNvPr id="8" name="Next card 2"/>
          <p:cNvSpPr/>
          <p:nvPr/>
        </p:nvSpPr>
        <p:spPr>
          <a:xfrm>
            <a:off x="4663440" y="118872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Next 2 circle"/>
          <p:cNvSpPr/>
          <p:nvPr/>
        </p:nvSpPr>
        <p:spPr>
          <a:xfrm>
            <a:off x="4892040" y="1554480"/>
            <a:ext cx="685800" cy="685800"/>
          </a:xfrm>
          <a:prstGeom prst="ellipse">
            <a:avLst/>
          </a:prstGeom>
          <a:solidFill>
            <a:srgbClr val="0F7173"/>
          </a:solidFill>
          <a:ln w="12700">
            <a:solidFill>
              <a:srgbClr val="0F7173"/>
            </a:solidFill>
            <a:prstDash val="solid"/>
          </a:ln>
        </p:spPr>
      </p:sp>
      <p:pic>
        <p:nvPicPr>
          <p:cNvPr id="10" name="Next 2 icon" descr="preencoded.png">    </p:cNvPr>
          <p:cNvPicPr>
            <a:picLocks noChangeAspect="1"/>
          </p:cNvPicPr>
          <p:nvPr/>
        </p:nvPicPr>
        <p:blipFill>
          <a:blip r:embed="rId2"/>
          <a:stretch>
            <a:fillRect/>
          </a:stretch>
        </p:blipFill>
        <p:spPr>
          <a:xfrm>
            <a:off x="5063490" y="1725930"/>
            <a:ext cx="342900" cy="342900"/>
          </a:xfrm>
          <a:prstGeom prst="rect">
            <a:avLst/>
          </a:prstGeom>
        </p:spPr>
      </p:pic>
      <p:sp>
        <p:nvSpPr>
          <p:cNvPr id="11" name="Text 7"/>
          <p:cNvSpPr txBox="1"/>
          <p:nvPr/>
        </p:nvSpPr>
        <p:spPr>
          <a:xfrm>
            <a:off x="5760720" y="1417320"/>
            <a:ext cx="2743200" cy="411480"/>
          </a:xfrm>
          <a:prstGeom prst="rect">
            <a:avLst/>
          </a:prstGeom>
          <a:noFill/>
          <a:ln/>
        </p:spPr>
        <p:txBody>
          <a:bodyPr wrap="square" lIns="0" tIns="0" rIns="0" bIns="0" rtlCol="0" anchor="t"/>
          <a:lstStyle/>
          <a:p>
            <a:pPr indent="0" marL="0">
              <a:buNone/>
            </a:pPr>
            <a:r>
              <a:rPr lang="en-US" sz="1600" b="1" dirty="0">
                <a:solidFill>
                  <a:schemeClr val="tx2"/>
                </a:solidFill>
              </a:rPr>
              <a:t>Current reference data</a:t>
            </a:r>
            <a:endParaRPr lang="en-US" sz="1600" dirty="0"/>
          </a:p>
        </p:txBody>
      </p:sp>
      <p:sp>
        <p:nvSpPr>
          <p:cNvPr id="12" name="Text 8"/>
          <p:cNvSpPr txBox="1"/>
          <p:nvPr/>
        </p:nvSpPr>
        <p:spPr>
          <a:xfrm>
            <a:off x="5760720" y="1847088"/>
            <a:ext cx="2743200" cy="640080"/>
          </a:xfrm>
          <a:prstGeom prst="rect">
            <a:avLst/>
          </a:prstGeom>
          <a:noFill/>
          <a:ln/>
        </p:spPr>
        <p:txBody>
          <a:bodyPr wrap="square" lIns="0" tIns="0" rIns="0" bIns="0" rtlCol="0" anchor="t"/>
          <a:lstStyle/>
          <a:p>
            <a:pPr indent="0" marL="0">
              <a:buNone/>
            </a:pPr>
            <a:r>
              <a:rPr lang="en-US" sz="1300" dirty="0">
                <a:solidFill>
                  <a:schemeClr val="tx1"/>
                </a:solidFill>
              </a:rPr>
              <a:t>Up-to-date Geographic Risk Rating and HRTC list, with version control</a:t>
            </a:r>
            <a:endParaRPr lang="en-US" sz="1300" dirty="0"/>
          </a:p>
        </p:txBody>
      </p:sp>
      <p:sp>
        <p:nvSpPr>
          <p:cNvPr id="13" name="Next card 3"/>
          <p:cNvSpPr/>
          <p:nvPr/>
        </p:nvSpPr>
        <p:spPr>
          <a:xfrm>
            <a:off x="457200" y="283464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Next 3 circle"/>
          <p:cNvSpPr/>
          <p:nvPr/>
        </p:nvSpPr>
        <p:spPr>
          <a:xfrm>
            <a:off x="685800" y="3200400"/>
            <a:ext cx="685800" cy="685800"/>
          </a:xfrm>
          <a:prstGeom prst="ellipse">
            <a:avLst/>
          </a:prstGeom>
          <a:solidFill>
            <a:srgbClr val="0F7173"/>
          </a:solidFill>
          <a:ln w="12700">
            <a:solidFill>
              <a:srgbClr val="0F7173"/>
            </a:solidFill>
            <a:prstDash val="solid"/>
          </a:ln>
        </p:spPr>
      </p:sp>
      <p:pic>
        <p:nvPicPr>
          <p:cNvPr id="15" name="Next 3 icon" descr="preencoded.png">    </p:cNvPr>
          <p:cNvPicPr>
            <a:picLocks noChangeAspect="1"/>
          </p:cNvPicPr>
          <p:nvPr/>
        </p:nvPicPr>
        <p:blipFill>
          <a:blip r:embed="rId3"/>
          <a:stretch>
            <a:fillRect/>
          </a:stretch>
        </p:blipFill>
        <p:spPr>
          <a:xfrm>
            <a:off x="857250" y="3371850"/>
            <a:ext cx="342900" cy="342900"/>
          </a:xfrm>
          <a:prstGeom prst="rect">
            <a:avLst/>
          </a:prstGeom>
        </p:spPr>
      </p:pic>
      <p:sp>
        <p:nvSpPr>
          <p:cNvPr id="16" name="Text 11"/>
          <p:cNvSpPr txBox="1"/>
          <p:nvPr/>
        </p:nvSpPr>
        <p:spPr>
          <a:xfrm>
            <a:off x="1554480" y="3063240"/>
            <a:ext cx="2743200" cy="411480"/>
          </a:xfrm>
          <a:prstGeom prst="rect">
            <a:avLst/>
          </a:prstGeom>
          <a:noFill/>
          <a:ln/>
        </p:spPr>
        <p:txBody>
          <a:bodyPr wrap="square" lIns="0" tIns="0" rIns="0" bIns="0" rtlCol="0" anchor="t"/>
          <a:lstStyle/>
          <a:p>
            <a:pPr indent="0" marL="0">
              <a:buNone/>
            </a:pPr>
            <a:r>
              <a:rPr lang="en-US" sz="1600" b="1" dirty="0">
                <a:solidFill>
                  <a:schemeClr val="tx2"/>
                </a:solidFill>
              </a:rPr>
              <a:t>Clearer RFI process</a:t>
            </a:r>
            <a:endParaRPr lang="en-US" sz="1600" dirty="0"/>
          </a:p>
        </p:txBody>
      </p:sp>
      <p:sp>
        <p:nvSpPr>
          <p:cNvPr id="17" name="Text 12"/>
          <p:cNvSpPr txBox="1"/>
          <p:nvPr/>
        </p:nvSpPr>
        <p:spPr>
          <a:xfrm>
            <a:off x="1554480" y="3493008"/>
            <a:ext cx="2743200" cy="640080"/>
          </a:xfrm>
          <a:prstGeom prst="rect">
            <a:avLst/>
          </a:prstGeom>
          <a:noFill/>
          <a:ln/>
        </p:spPr>
        <p:txBody>
          <a:bodyPr wrap="square" lIns="0" tIns="0" rIns="0" bIns="0" rtlCol="0" anchor="t"/>
          <a:lstStyle/>
          <a:p>
            <a:pPr indent="0" marL="0">
              <a:buNone/>
            </a:pPr>
            <a:r>
              <a:rPr lang="en-US" sz="1300" dirty="0">
                <a:solidFill>
                  <a:schemeClr val="tx1"/>
                </a:solidFill>
              </a:rPr>
              <a:t>Targeted requests, and a clear SOP link from an unresolved response to L2</a:t>
            </a:r>
            <a:endParaRPr lang="en-US" sz="1300" dirty="0"/>
          </a:p>
        </p:txBody>
      </p:sp>
      <p:sp>
        <p:nvSpPr>
          <p:cNvPr id="18" name="Next card 4"/>
          <p:cNvSpPr/>
          <p:nvPr/>
        </p:nvSpPr>
        <p:spPr>
          <a:xfrm>
            <a:off x="4663440" y="283464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9" name="Next 4 circle"/>
          <p:cNvSpPr/>
          <p:nvPr/>
        </p:nvSpPr>
        <p:spPr>
          <a:xfrm>
            <a:off x="4892040" y="3200400"/>
            <a:ext cx="685800" cy="685800"/>
          </a:xfrm>
          <a:prstGeom prst="ellipse">
            <a:avLst/>
          </a:prstGeom>
          <a:solidFill>
            <a:srgbClr val="0F7173"/>
          </a:solidFill>
          <a:ln w="12700">
            <a:solidFill>
              <a:srgbClr val="0F7173"/>
            </a:solidFill>
            <a:prstDash val="solid"/>
          </a:ln>
        </p:spPr>
      </p:sp>
      <p:pic>
        <p:nvPicPr>
          <p:cNvPr id="20" name="Next 4 icon" descr="preencoded.png">    </p:cNvPr>
          <p:cNvPicPr>
            <a:picLocks noChangeAspect="1"/>
          </p:cNvPicPr>
          <p:nvPr/>
        </p:nvPicPr>
        <p:blipFill>
          <a:blip r:embed="rId4"/>
          <a:stretch>
            <a:fillRect/>
          </a:stretch>
        </p:blipFill>
        <p:spPr>
          <a:xfrm>
            <a:off x="5063490" y="3371850"/>
            <a:ext cx="342900" cy="342900"/>
          </a:xfrm>
          <a:prstGeom prst="rect">
            <a:avLst/>
          </a:prstGeom>
        </p:spPr>
      </p:pic>
      <p:sp>
        <p:nvSpPr>
          <p:cNvPr id="21" name="Text 15"/>
          <p:cNvSpPr txBox="1"/>
          <p:nvPr/>
        </p:nvSpPr>
        <p:spPr>
          <a:xfrm>
            <a:off x="5760720" y="3063240"/>
            <a:ext cx="2743200" cy="411480"/>
          </a:xfrm>
          <a:prstGeom prst="rect">
            <a:avLst/>
          </a:prstGeom>
          <a:noFill/>
          <a:ln/>
        </p:spPr>
        <p:txBody>
          <a:bodyPr wrap="square" lIns="0" tIns="0" rIns="0" bIns="0" rtlCol="0" anchor="t"/>
          <a:lstStyle/>
          <a:p>
            <a:pPr indent="0" marL="0">
              <a:buNone/>
            </a:pPr>
            <a:r>
              <a:rPr lang="en-US" sz="1600" b="1" dirty="0">
                <a:solidFill>
                  <a:schemeClr val="tx2"/>
                </a:solidFill>
              </a:rPr>
              <a:t>Next QA cycle</a:t>
            </a:r>
            <a:endParaRPr lang="en-US" sz="1600" dirty="0"/>
          </a:p>
        </p:txBody>
      </p:sp>
      <p:sp>
        <p:nvSpPr>
          <p:cNvPr id="22" name="Text 16"/>
          <p:cNvSpPr txBox="1"/>
          <p:nvPr/>
        </p:nvSpPr>
        <p:spPr>
          <a:xfrm>
            <a:off x="5760720" y="3493008"/>
            <a:ext cx="2743200" cy="640080"/>
          </a:xfrm>
          <a:prstGeom prst="rect">
            <a:avLst/>
          </a:prstGeom>
          <a:noFill/>
          <a:ln/>
        </p:spPr>
        <p:txBody>
          <a:bodyPr wrap="square" lIns="0" tIns="0" rIns="0" bIns="0" rtlCol="0" anchor="t"/>
          <a:lstStyle/>
          <a:p>
            <a:pPr indent="0" marL="0">
              <a:buNone/>
            </a:pPr>
            <a:r>
              <a:rPr lang="en-US" sz="1300" dirty="0">
                <a:solidFill>
                  <a:schemeClr val="tx1"/>
                </a:solidFill>
              </a:rPr>
              <a:t>Focus on RFI-response cases and L1 closures without escalation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rPr>
              <a:t>Key takeaways</a:t>
            </a:r>
            <a:endParaRPr lang="en-US" sz="2800" dirty="0"/>
          </a:p>
        </p:txBody>
      </p:sp>
      <p:sp>
        <p:nvSpPr>
          <p:cNvPr id="3" name="Takeaway 1"/>
          <p:cNvSpPr/>
          <p:nvPr/>
        </p:nvSpPr>
        <p:spPr>
          <a:xfrm>
            <a:off x="457200" y="123444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4" name="Takeaway 1 circle"/>
          <p:cNvSpPr/>
          <p:nvPr/>
        </p:nvSpPr>
        <p:spPr>
          <a:xfrm>
            <a:off x="731520" y="1463040"/>
            <a:ext cx="640080" cy="640080"/>
          </a:xfrm>
          <a:prstGeom prst="ellipse">
            <a:avLst/>
          </a:prstGeom>
          <a:solidFill>
            <a:srgbClr val="0F7173"/>
          </a:solidFill>
          <a:ln w="12700">
            <a:solidFill>
              <a:srgbClr val="0F7173"/>
            </a:solidFill>
            <a:prstDash val="solid"/>
          </a:ln>
        </p:spPr>
      </p:sp>
      <p:pic>
        <p:nvPicPr>
          <p:cNvPr id="5" name="Takeaway 1 icon" descr="preencoded.png">    </p:cNvPr>
          <p:cNvPicPr>
            <a:picLocks noChangeAspect="1"/>
          </p:cNvPicPr>
          <p:nvPr/>
        </p:nvPicPr>
        <p:blipFill>
          <a:blip r:embed="rId1"/>
          <a:stretch>
            <a:fillRect/>
          </a:stretch>
        </p:blipFill>
        <p:spPr>
          <a:xfrm>
            <a:off x="891540" y="1623060"/>
            <a:ext cx="320040" cy="320040"/>
          </a:xfrm>
          <a:prstGeom prst="rect">
            <a:avLst/>
          </a:prstGeom>
        </p:spPr>
      </p:pic>
      <p:sp>
        <p:nvSpPr>
          <p:cNvPr id="6" name="Text 3"/>
          <p:cNvSpPr txBox="1"/>
          <p:nvPr/>
        </p:nvSpPr>
        <p:spPr>
          <a:xfrm>
            <a:off x="731520" y="2240280"/>
            <a:ext cx="2011680" cy="411480"/>
          </a:xfrm>
          <a:prstGeom prst="rect">
            <a:avLst/>
          </a:prstGeom>
          <a:noFill/>
          <a:ln/>
        </p:spPr>
        <p:txBody>
          <a:bodyPr wrap="square" lIns="0" tIns="0" rIns="0" bIns="0" rtlCol="0" anchor="t"/>
          <a:lstStyle/>
          <a:p>
            <a:pPr indent="0" marL="0">
              <a:buNone/>
            </a:pPr>
            <a:r>
              <a:rPr lang="en-US" sz="1800" b="1" dirty="0">
                <a:solidFill>
                  <a:schemeClr val="tx2"/>
                </a:solidFill>
              </a:rPr>
              <a:t>Specific</a:t>
            </a:r>
            <a:endParaRPr lang="en-US" sz="1800" dirty="0"/>
          </a:p>
        </p:txBody>
      </p:sp>
      <p:sp>
        <p:nvSpPr>
          <p:cNvPr id="7" name="Text 4"/>
          <p:cNvSpPr txBox="1"/>
          <p:nvPr/>
        </p:nvSpPr>
        <p:spPr>
          <a:xfrm>
            <a:off x="731520" y="2697480"/>
            <a:ext cx="2011680" cy="868680"/>
          </a:xfrm>
          <a:prstGeom prst="rect">
            <a:avLst/>
          </a:prstGeom>
          <a:noFill/>
          <a:ln/>
        </p:spPr>
        <p:txBody>
          <a:bodyPr wrap="square" lIns="0" tIns="0" rIns="0" bIns="0" rtlCol="0" anchor="t"/>
          <a:lstStyle/>
          <a:p>
            <a:pPr indent="0" marL="0">
              <a:buNone/>
            </a:pPr>
            <a:r>
              <a:rPr lang="en-US" sz="1400" dirty="0">
                <a:solidFill>
                  <a:schemeClr val="tx1"/>
                </a:solidFill>
              </a:rPr>
              <a:t>Lead with the alerted activity and cover every SOP theme.</a:t>
            </a:r>
            <a:endParaRPr lang="en-US" sz="1400" dirty="0"/>
          </a:p>
        </p:txBody>
      </p:sp>
      <p:sp>
        <p:nvSpPr>
          <p:cNvPr id="8" name="Takeaway 2"/>
          <p:cNvSpPr/>
          <p:nvPr/>
        </p:nvSpPr>
        <p:spPr>
          <a:xfrm>
            <a:off x="3291840" y="123444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9" name="Takeaway 2 circle"/>
          <p:cNvSpPr/>
          <p:nvPr/>
        </p:nvSpPr>
        <p:spPr>
          <a:xfrm>
            <a:off x="3566160" y="1463040"/>
            <a:ext cx="640080" cy="640080"/>
          </a:xfrm>
          <a:prstGeom prst="ellipse">
            <a:avLst/>
          </a:prstGeom>
          <a:solidFill>
            <a:srgbClr val="0F7173"/>
          </a:solidFill>
          <a:ln w="12700">
            <a:solidFill>
              <a:srgbClr val="0F7173"/>
            </a:solidFill>
            <a:prstDash val="solid"/>
          </a:ln>
        </p:spPr>
      </p:sp>
      <p:pic>
        <p:nvPicPr>
          <p:cNvPr id="10" name="Takeaway 2 icon" descr="preencoded.png">    </p:cNvPr>
          <p:cNvPicPr>
            <a:picLocks noChangeAspect="1"/>
          </p:cNvPicPr>
          <p:nvPr/>
        </p:nvPicPr>
        <p:blipFill>
          <a:blip r:embed="rId2"/>
          <a:stretch>
            <a:fillRect/>
          </a:stretch>
        </p:blipFill>
        <p:spPr>
          <a:xfrm>
            <a:off x="3726180" y="1623060"/>
            <a:ext cx="320040" cy="320040"/>
          </a:xfrm>
          <a:prstGeom prst="rect">
            <a:avLst/>
          </a:prstGeom>
        </p:spPr>
      </p:pic>
      <p:sp>
        <p:nvSpPr>
          <p:cNvPr id="11" name="Text 7"/>
          <p:cNvSpPr txBox="1"/>
          <p:nvPr/>
        </p:nvSpPr>
        <p:spPr>
          <a:xfrm>
            <a:off x="3566160" y="2240280"/>
            <a:ext cx="2011680" cy="411480"/>
          </a:xfrm>
          <a:prstGeom prst="rect">
            <a:avLst/>
          </a:prstGeom>
          <a:noFill/>
          <a:ln/>
        </p:spPr>
        <p:txBody>
          <a:bodyPr wrap="square" lIns="0" tIns="0" rIns="0" bIns="0" rtlCol="0" anchor="t"/>
          <a:lstStyle/>
          <a:p>
            <a:pPr indent="0" marL="0">
              <a:buNone/>
            </a:pPr>
            <a:r>
              <a:rPr lang="en-US" sz="1800" b="1" dirty="0">
                <a:solidFill>
                  <a:schemeClr val="tx2"/>
                </a:solidFill>
              </a:rPr>
              <a:t>Reasoned</a:t>
            </a:r>
            <a:endParaRPr lang="en-US" sz="1800" dirty="0"/>
          </a:p>
        </p:txBody>
      </p:sp>
      <p:sp>
        <p:nvSpPr>
          <p:cNvPr id="12" name="Text 8"/>
          <p:cNvSpPr txBox="1"/>
          <p:nvPr/>
        </p:nvSpPr>
        <p:spPr>
          <a:xfrm>
            <a:off x="3566160" y="2697480"/>
            <a:ext cx="2011680" cy="868680"/>
          </a:xfrm>
          <a:prstGeom prst="rect">
            <a:avLst/>
          </a:prstGeom>
          <a:noFill/>
          <a:ln/>
        </p:spPr>
        <p:txBody>
          <a:bodyPr wrap="square" lIns="0" tIns="0" rIns="0" bIns="0" rtlCol="0" anchor="t"/>
          <a:lstStyle/>
          <a:p>
            <a:pPr indent="0" marL="0">
              <a:buNone/>
            </a:pPr>
            <a:r>
              <a:rPr lang="en-US" sz="1400" dirty="0">
                <a:solidFill>
                  <a:schemeClr val="tx1"/>
                </a:solidFill>
              </a:rPr>
              <a:t>Answer the "so what", with evidence and neutral language.</a:t>
            </a:r>
            <a:endParaRPr lang="en-US" sz="1400" dirty="0"/>
          </a:p>
        </p:txBody>
      </p:sp>
      <p:sp>
        <p:nvSpPr>
          <p:cNvPr id="13" name="Takeaway 3"/>
          <p:cNvSpPr/>
          <p:nvPr/>
        </p:nvSpPr>
        <p:spPr>
          <a:xfrm>
            <a:off x="6126480" y="1234440"/>
            <a:ext cx="256032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50800" dist="19050" dir="5400000">
              <a:srgbClr val="000000">
                <a:alpha val="12000"/>
              </a:srgbClr>
            </a:outerShdw>
          </a:effectLst>
        </p:spPr>
      </p:sp>
      <p:sp>
        <p:nvSpPr>
          <p:cNvPr id="14" name="Takeaway 3 circle"/>
          <p:cNvSpPr/>
          <p:nvPr/>
        </p:nvSpPr>
        <p:spPr>
          <a:xfrm>
            <a:off x="6400800" y="1463040"/>
            <a:ext cx="640080" cy="640080"/>
          </a:xfrm>
          <a:prstGeom prst="ellipse">
            <a:avLst/>
          </a:prstGeom>
          <a:solidFill>
            <a:srgbClr val="0F7173"/>
          </a:solidFill>
          <a:ln w="12700">
            <a:solidFill>
              <a:srgbClr val="0F7173"/>
            </a:solidFill>
            <a:prstDash val="solid"/>
          </a:ln>
        </p:spPr>
      </p:sp>
      <p:pic>
        <p:nvPicPr>
          <p:cNvPr id="15" name="Takeaway 3 icon" descr="preencoded.png">    </p:cNvPr>
          <p:cNvPicPr>
            <a:picLocks noChangeAspect="1"/>
          </p:cNvPicPr>
          <p:nvPr/>
        </p:nvPicPr>
        <p:blipFill>
          <a:blip r:embed="rId3"/>
          <a:stretch>
            <a:fillRect/>
          </a:stretch>
        </p:blipFill>
        <p:spPr>
          <a:xfrm>
            <a:off x="6560820" y="1623060"/>
            <a:ext cx="320040" cy="320040"/>
          </a:xfrm>
          <a:prstGeom prst="rect">
            <a:avLst/>
          </a:prstGeom>
        </p:spPr>
      </p:pic>
      <p:sp>
        <p:nvSpPr>
          <p:cNvPr id="16" name="Text 11"/>
          <p:cNvSpPr txBox="1"/>
          <p:nvPr/>
        </p:nvSpPr>
        <p:spPr>
          <a:xfrm>
            <a:off x="6400800" y="2240280"/>
            <a:ext cx="2011680" cy="411480"/>
          </a:xfrm>
          <a:prstGeom prst="rect">
            <a:avLst/>
          </a:prstGeom>
          <a:noFill/>
          <a:ln/>
        </p:spPr>
        <p:txBody>
          <a:bodyPr wrap="square" lIns="0" tIns="0" rIns="0" bIns="0" rtlCol="0" anchor="t"/>
          <a:lstStyle/>
          <a:p>
            <a:pPr indent="0" marL="0">
              <a:buNone/>
            </a:pPr>
            <a:r>
              <a:rPr lang="en-US" sz="1800" b="1" dirty="0">
                <a:solidFill>
                  <a:schemeClr val="tx2"/>
                </a:solidFill>
              </a:rPr>
              <a:t>Traceable</a:t>
            </a:r>
            <a:endParaRPr lang="en-US" sz="1800" dirty="0"/>
          </a:p>
        </p:txBody>
      </p:sp>
      <p:sp>
        <p:nvSpPr>
          <p:cNvPr id="17" name="Text 12"/>
          <p:cNvSpPr txBox="1"/>
          <p:nvPr/>
        </p:nvSpPr>
        <p:spPr>
          <a:xfrm>
            <a:off x="6400800" y="2697480"/>
            <a:ext cx="2011680" cy="868680"/>
          </a:xfrm>
          <a:prstGeom prst="rect">
            <a:avLst/>
          </a:prstGeom>
          <a:noFill/>
          <a:ln/>
        </p:spPr>
        <p:txBody>
          <a:bodyPr wrap="square" lIns="0" tIns="0" rIns="0" bIns="0" rtlCol="0" anchor="t"/>
          <a:lstStyle/>
          <a:p>
            <a:pPr indent="0" marL="0">
              <a:buNone/>
            </a:pPr>
            <a:r>
              <a:rPr lang="en-US" sz="1400" dirty="0">
                <a:solidFill>
                  <a:schemeClr val="tx1"/>
                </a:solidFill>
              </a:rPr>
              <a:t>Document RFIs from request to impact, or explain why none was sent.</a:t>
            </a:r>
            <a:endParaRPr lang="en-US" sz="1400" dirty="0"/>
          </a:p>
        </p:txBody>
      </p:sp>
      <p:sp>
        <p:nvSpPr>
          <p:cNvPr id="18" name="Text 13"/>
          <p:cNvSpPr txBox="1"/>
          <p:nvPr/>
        </p:nvSpPr>
        <p:spPr>
          <a:xfrm>
            <a:off x="457200" y="3931920"/>
            <a:ext cx="8229600" cy="548640"/>
          </a:xfrm>
          <a:prstGeom prst="rect">
            <a:avLst/>
          </a:prstGeom>
          <a:noFill/>
          <a:ln/>
        </p:spPr>
        <p:txBody>
          <a:bodyPr wrap="square" lIns="0" tIns="0" rIns="0" bIns="0" rtlCol="0" anchor="t"/>
          <a:lstStyle/>
          <a:p>
            <a:pPr algn="ctr" indent="0" marL="0">
              <a:buNone/>
            </a:pPr>
            <a:r>
              <a:rPr lang="en-US" sz="1600" i="1" dirty="0">
                <a:solidFill>
                  <a:schemeClr val="accent1"/>
                </a:solidFill>
              </a:rPr>
              <a:t>Our notes are how regulators see the quality of our work. Let's make sure they show it.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3800" b="1" dirty="0">
                <a:solidFill>
                  <a:schemeClr val="bg1"/>
                </a:solidFill>
              </a:rPr>
              <a:t>Questions and discussion</a:t>
            </a:r>
            <a:endParaRPr lang="en-US" sz="3800" dirty="0"/>
          </a:p>
        </p:txBody>
      </p:sp>
      <p:sp>
        <p:nvSpPr>
          <p:cNvPr id="3" name="Text 0"/>
          <p:cNvSpPr/>
          <p:nvPr>
            <p:ph idx="101" type="body" hasCustomPrompt="1"/>
          </p:nvPr>
        </p:nvSpPr>
        <p:spPr>
          <a:xfrm>
            <a:off x="548640" y="2926080"/>
            <a:ext cx="8046720" cy="914400"/>
          </a:xfrm>
          <a:prstGeom prst="rect">
            <a:avLst/>
          </a:prstGeom>
          <a:noFill/>
          <a:ln/>
        </p:spPr>
        <p:txBody>
          <a:bodyPr wrap="square" lIns="0" tIns="0" rIns="0" bIns="0" rtlCol="0" anchor="t"/>
          <a:lstStyle/>
          <a:p>
            <a:pPr indent="0" marL="0">
              <a:buNone/>
            </a:pPr>
            <a:r>
              <a:rPr lang="en-US" sz="1800" dirty="0">
                <a:solidFill>
                  <a:schemeClr val="accent6"/>
                </a:solidFill>
              </a:rPr>
              <a:t>Thank you</a:t>
            </a:r>
            <a:endParaRPr lang="en-US" sz="1800" dirty="0"/>
          </a:p>
        </p:txBody>
      </p:sp>
      <p:sp>
        <p:nvSpPr>
          <p:cNvPr id="4" name="Close circle"/>
          <p:cNvSpPr/>
          <p:nvPr/>
        </p:nvSpPr>
        <p:spPr>
          <a:xfrm>
            <a:off x="548640" y="457200"/>
            <a:ext cx="731520" cy="731520"/>
          </a:xfrm>
          <a:prstGeom prst="ellipse">
            <a:avLst/>
          </a:prstGeom>
          <a:solidFill>
            <a:srgbClr val="F2A541"/>
          </a:solidFill>
          <a:ln w="12700">
            <a:solidFill>
              <a:srgbClr val="F2A541"/>
            </a:solidFill>
            <a:prstDash val="solid"/>
          </a:ln>
        </p:spPr>
      </p:sp>
      <p:pic>
        <p:nvPicPr>
          <p:cNvPr id="5" name="Close icon" descr="preencoded.png">    </p:cNvPr>
          <p:cNvPicPr>
            <a:picLocks noChangeAspect="1"/>
          </p:cNvPicPr>
          <p:nvPr/>
        </p:nvPicPr>
        <p:blipFill>
          <a:blip r:embed="rId1"/>
          <a:stretch>
            <a:fillRect/>
          </a:stretch>
        </p:blipFill>
        <p:spPr>
          <a:xfrm>
            <a:off x="731520" y="640080"/>
            <a:ext cx="365760" cy="365760"/>
          </a:xfrm>
          <a:prstGeom prst="rect">
            <a:avLst/>
          </a:prstGeom>
        </p:spPr>
      </p:pic>
    </p:spTree>
  </p:cSld>
  <p:clrMapOvr>
    <a:masterClrMapping/>
  </p:clrMapOvr>
</p:sld>
</file>

<file path=ppt/theme/theme1.xml><?xml version="1.0" encoding="utf-8"?>
<a:theme xmlns:a="http://schemas.openxmlformats.org/drawingml/2006/main" name="Case Note Quality">
  <a:themeElements>
    <a:clrScheme name="Case Note Quality">
      <a:dk1>
        <a:srgbClr val="1B2A2F"/>
      </a:dk1>
      <a:lt1>
        <a:srgbClr val="FFFFFF"/>
      </a:lt1>
      <a:dk2>
        <a:srgbClr val="0F3D3E"/>
      </a:dk2>
      <a:lt2>
        <a:srgbClr val="EEF4F3"/>
      </a:lt2>
      <a:accent1>
        <a:srgbClr val="0F7173"/>
      </a:accent1>
      <a:accent2>
        <a:srgbClr val="F2A541"/>
      </a:accent2>
      <a:accent3>
        <a:srgbClr val="C8553D"/>
      </a:accent3>
      <a:accent4>
        <a:srgbClr val="3A7D44"/>
      </a:accent4>
      <a:accent5>
        <a:srgbClr val="5B6C73"/>
      </a:accent5>
      <a:accent6>
        <a:srgbClr val="9DBEBB"/>
      </a:accent6>
      <a:hlink>
        <a:srgbClr val="0F7173"/>
      </a:hlink>
      <a:folHlink>
        <a:srgbClr val="5B6C73"/>
      </a:folHlink>
    </a:clrScheme>
    <a:fontScheme name="Case Note Qual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Elevating L1 &amp; L2 Case Note Quality</dc:title>
  <dc:subject>PptxGenJS Presentation</dc:subject>
  <dc:creator>FCIU</dc:creator>
  <cp:lastModifiedBy>FCIU</cp:lastModifiedBy>
  <cp:revision>1</cp:revision>
  <dcterms:created xsi:type="dcterms:W3CDTF">2026-10-05T12:32:38Z</dcterms:created>
  <dcterms:modified xsi:type="dcterms:W3CDTF">2026-10-05T12:32:38Z</dcterms:modified>
</cp:coreProperties>
</file>