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"expected vs unexpected" means for an analyst
Every alert is a question: is this activity what we would expect from this merchant or customer? To answer it, we need two things: a clear picture of what "expected" looks like, and an honest comparison of what we actually see.
Step 1: Establish the baseline (what is expected). Draw on:
- The onboarding profile: stated business model, projected volumes, average transaction value, target markets.
- The merchant's line of business and its peers: what is normal for this type of business?
- The merchant's or cardholder's own history: how have they behaved over previous months?
- The wider context: seasonality, promotions, or external events, for example a major sporting event or a public holiday.
Step 2: Compare across the four dimensions.
Frequency is how often transactions happen. Look at counts per day, week or month against the baseline. Watch for sudden spikes or drops, and for dormant accounts that suddenly become active. Ask whether it fits how this business trades: a restaurant trades at weekends and evenings, a subscription business monthly.
Velocity is how quickly activity happens in a short window. Look for many transactions within minutes or hours, funds paid in and quickly paid out, or several cards or attempts in quick succession. High velocity can point to testing, mule activity or layering, but it can also have a legitimate cause such as a platform cap splitting one withdrawal into several payments. Either way, it needs explaining.
Value is how much is moving. Compare individual amounts to the merchant's average ticket and its peers. Look for large one-off payments, round or repeated amounts, amounts just below a threshold, and cumulative totals against what was projected at onboarding.
Activity patterns are the overall shape of the activity. Look for new countries, card types or customers, unusual times of day, a high concentration of volume in a few customers, and changes in the mix of pay-ins and payouts. Does the pattern still match the stated business model?
Step 3: Explain the gap, and evidence it.
Unexpected does not automatically mean suspicious, and expected does not automatically mean fine. What matters is whether the difference can be explained, and whether that explanation is backed by evidence: pay-in history, OSINT, an RFI response, or the merchant's website.
Step 4: Write it down.
For each relevant dimension, the note should say:
- what we expected, and where that expectation comes from;
- what we saw, with specific figures;
- why the difference is, or is not, a concern.
A note that simply says "activity is in line with expected behaviour" doesn't do this. It tells the reader the conclusion but not how we reached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3F5"/>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800" b="1" dirty="0">
                <a:solidFill>
                  <a:srgbClr val="000000"/>
                </a:solidFill>
                <a:latin typeface="Arial" pitchFamily="34" charset="0"/>
                <a:ea typeface="Arial" pitchFamily="34" charset="-122"/>
                <a:cs typeface="Arial" pitchFamily="34" charset="-120"/>
              </a:rPr>
              <a:t>Expected Vs Unexpected…</a:t>
            </a:r>
            <a:endParaRPr lang="en-US" sz="2800" dirty="0"/>
          </a:p>
        </p:txBody>
      </p:sp>
      <p:sp>
        <p:nvSpPr>
          <p:cNvPr id="3" name="Text 1"/>
          <p:cNvSpPr txBox="1"/>
          <p:nvPr/>
        </p:nvSpPr>
        <p:spPr>
          <a:xfrm>
            <a:off x="457200" y="777240"/>
            <a:ext cx="8229600" cy="32004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Is this strange?…</a:t>
            </a:r>
            <a:endParaRPr lang="en-US" sz="1400" dirty="0"/>
          </a:p>
        </p:txBody>
      </p:sp>
      <p:sp>
        <p:nvSpPr>
          <p:cNvPr id="4" name="Shape 2"/>
          <p:cNvSpPr/>
          <p:nvPr/>
        </p:nvSpPr>
        <p:spPr>
          <a:xfrm>
            <a:off x="548640" y="1280160"/>
            <a:ext cx="1874520" cy="2148840"/>
          </a:xfrm>
          <a:prstGeom prst="roundRect">
            <a:avLst>
              <a:gd name="adj" fmla="val 7317"/>
            </a:avLst>
          </a:prstGeom>
          <a:solidFill>
            <a:srgbClr val="186AFF"/>
          </a:solidFill>
          <a:ln w="12700">
            <a:solidFill>
              <a:srgbClr val="186AFF"/>
            </a:solidFill>
            <a:prstDash val="solid"/>
          </a:ln>
        </p:spPr>
      </p:sp>
      <p:sp>
        <p:nvSpPr>
          <p:cNvPr id="5" name="Text 3"/>
          <p:cNvSpPr txBox="1"/>
          <p:nvPr/>
        </p:nvSpPr>
        <p:spPr>
          <a:xfrm>
            <a:off x="667512" y="1399032"/>
            <a:ext cx="1645920" cy="1920240"/>
          </a:xfrm>
          <a:prstGeom prst="rect">
            <a:avLst/>
          </a:prstGeom>
          <a:noFill/>
          <a:ln/>
        </p:spPr>
        <p:txBody>
          <a:bodyPr wrap="square" lIns="0" tIns="0" rIns="0" bIns="0" rtlCol="0" anchor="t"/>
          <a:lstStyle/>
          <a:p>
            <a:pPr indent="0" marL="0">
              <a:spcAft>
                <a:spcPts val="300"/>
              </a:spcAft>
              <a:buNone/>
            </a:pPr>
            <a:r>
              <a:rPr lang="en-US" sz="1400" b="1" dirty="0">
                <a:solidFill>
                  <a:srgbClr val="FFFFFF"/>
                </a:solidFill>
                <a:latin typeface="Arial" pitchFamily="34" charset="0"/>
                <a:ea typeface="Arial" pitchFamily="34" charset="-122"/>
                <a:cs typeface="Arial" pitchFamily="34" charset="-120"/>
              </a:rPr>
              <a:t>Frequency</a:t>
            </a:r>
            <a:endParaRPr lang="en-US" sz="1400" dirty="0"/>
          </a:p>
          <a:p>
            <a:pPr indent="0" marL="0">
              <a:spcAft>
                <a:spcPts val="500"/>
              </a:spcAft>
              <a:buNone/>
            </a:pPr>
            <a:r>
              <a:rPr lang="en-US" sz="1050" i="1" dirty="0">
                <a:solidFill>
                  <a:srgbClr val="FFFFFF"/>
                </a:solidFill>
                <a:latin typeface="Arial" pitchFamily="34" charset="0"/>
                <a:ea typeface="Arial" pitchFamily="34" charset="-122"/>
                <a:cs typeface="Arial" pitchFamily="34" charset="-120"/>
              </a:rPr>
              <a:t>How often transactions happen</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Daily, weekly or monthly counts vs the baseline</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Sudden spikes, drops, or dormancy then activity</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Fits the merchant's trading pattern?</a:t>
            </a:r>
            <a:endParaRPr lang="en-US" sz="1400" dirty="0"/>
          </a:p>
        </p:txBody>
      </p:sp>
      <p:sp>
        <p:nvSpPr>
          <p:cNvPr id="6" name="Shape 4"/>
          <p:cNvSpPr/>
          <p:nvPr/>
        </p:nvSpPr>
        <p:spPr>
          <a:xfrm>
            <a:off x="2606040" y="2560320"/>
            <a:ext cx="1874520" cy="2148840"/>
          </a:xfrm>
          <a:prstGeom prst="roundRect">
            <a:avLst>
              <a:gd name="adj" fmla="val 7317"/>
            </a:avLst>
          </a:prstGeom>
          <a:solidFill>
            <a:srgbClr val="186AFF"/>
          </a:solidFill>
          <a:ln w="12700">
            <a:solidFill>
              <a:srgbClr val="186AFF"/>
            </a:solidFill>
            <a:prstDash val="solid"/>
          </a:ln>
        </p:spPr>
      </p:sp>
      <p:sp>
        <p:nvSpPr>
          <p:cNvPr id="7" name="Text 5"/>
          <p:cNvSpPr txBox="1"/>
          <p:nvPr/>
        </p:nvSpPr>
        <p:spPr>
          <a:xfrm>
            <a:off x="2724912" y="2679192"/>
            <a:ext cx="1645920" cy="1920240"/>
          </a:xfrm>
          <a:prstGeom prst="rect">
            <a:avLst/>
          </a:prstGeom>
          <a:noFill/>
          <a:ln/>
        </p:spPr>
        <p:txBody>
          <a:bodyPr wrap="square" lIns="0" tIns="0" rIns="0" bIns="0" rtlCol="0" anchor="t"/>
          <a:lstStyle/>
          <a:p>
            <a:pPr indent="0" marL="0">
              <a:spcAft>
                <a:spcPts val="300"/>
              </a:spcAft>
              <a:buNone/>
            </a:pPr>
            <a:r>
              <a:rPr lang="en-US" sz="1400" b="1" dirty="0">
                <a:solidFill>
                  <a:srgbClr val="FFFFFF"/>
                </a:solidFill>
                <a:latin typeface="Arial" pitchFamily="34" charset="0"/>
                <a:ea typeface="Arial" pitchFamily="34" charset="-122"/>
                <a:cs typeface="Arial" pitchFamily="34" charset="-120"/>
              </a:rPr>
              <a:t>Velocity</a:t>
            </a:r>
            <a:endParaRPr lang="en-US" sz="1400" dirty="0"/>
          </a:p>
          <a:p>
            <a:pPr indent="0" marL="0">
              <a:spcAft>
                <a:spcPts val="500"/>
              </a:spcAft>
              <a:buNone/>
            </a:pPr>
            <a:r>
              <a:rPr lang="en-US" sz="1050" i="1" dirty="0">
                <a:solidFill>
                  <a:srgbClr val="FFFFFF"/>
                </a:solidFill>
                <a:latin typeface="Arial" pitchFamily="34" charset="0"/>
                <a:ea typeface="Arial" pitchFamily="34" charset="-122"/>
                <a:cs typeface="Arial" pitchFamily="34" charset="-120"/>
              </a:rPr>
              <a:t>How quickly activity happens in a short window</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Many transactions within minutes or hours</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Rapid pay-in followed by payout</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Several cards or attempts in quick succession</a:t>
            </a:r>
            <a:endParaRPr lang="en-US" sz="1400" dirty="0"/>
          </a:p>
        </p:txBody>
      </p:sp>
      <p:sp>
        <p:nvSpPr>
          <p:cNvPr id="8" name="Shape 6"/>
          <p:cNvSpPr/>
          <p:nvPr/>
        </p:nvSpPr>
        <p:spPr>
          <a:xfrm>
            <a:off x="4663440" y="1188720"/>
            <a:ext cx="1874520" cy="2148840"/>
          </a:xfrm>
          <a:prstGeom prst="roundRect">
            <a:avLst>
              <a:gd name="adj" fmla="val 7317"/>
            </a:avLst>
          </a:prstGeom>
          <a:solidFill>
            <a:srgbClr val="186AFF"/>
          </a:solidFill>
          <a:ln w="12700">
            <a:solidFill>
              <a:srgbClr val="186AFF"/>
            </a:solidFill>
            <a:prstDash val="solid"/>
          </a:ln>
        </p:spPr>
      </p:sp>
      <p:sp>
        <p:nvSpPr>
          <p:cNvPr id="9" name="Text 7"/>
          <p:cNvSpPr txBox="1"/>
          <p:nvPr/>
        </p:nvSpPr>
        <p:spPr>
          <a:xfrm>
            <a:off x="4782312" y="1307592"/>
            <a:ext cx="1645920" cy="1920240"/>
          </a:xfrm>
          <a:prstGeom prst="rect">
            <a:avLst/>
          </a:prstGeom>
          <a:noFill/>
          <a:ln/>
        </p:spPr>
        <p:txBody>
          <a:bodyPr wrap="square" lIns="0" tIns="0" rIns="0" bIns="0" rtlCol="0" anchor="t"/>
          <a:lstStyle/>
          <a:p>
            <a:pPr indent="0" marL="0">
              <a:spcAft>
                <a:spcPts val="300"/>
              </a:spcAft>
              <a:buNone/>
            </a:pPr>
            <a:r>
              <a:rPr lang="en-US" sz="1400" b="1" dirty="0">
                <a:solidFill>
                  <a:srgbClr val="FFFFFF"/>
                </a:solidFill>
                <a:latin typeface="Arial" pitchFamily="34" charset="0"/>
                <a:ea typeface="Arial" pitchFamily="34" charset="-122"/>
                <a:cs typeface="Arial" pitchFamily="34" charset="-120"/>
              </a:rPr>
              <a:t>Value</a:t>
            </a:r>
            <a:endParaRPr lang="en-US" sz="1400" dirty="0"/>
          </a:p>
          <a:p>
            <a:pPr indent="0" marL="0">
              <a:spcAft>
                <a:spcPts val="500"/>
              </a:spcAft>
              <a:buNone/>
            </a:pPr>
            <a:r>
              <a:rPr lang="en-US" sz="1050" i="1" dirty="0">
                <a:solidFill>
                  <a:srgbClr val="FFFFFF"/>
                </a:solidFill>
                <a:latin typeface="Arial" pitchFamily="34" charset="0"/>
                <a:ea typeface="Arial" pitchFamily="34" charset="-122"/>
                <a:cs typeface="Arial" pitchFamily="34" charset="-120"/>
              </a:rPr>
              <a:t>How much is moving</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Amounts vs the average ticket and peers</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Large one-offs, round or repeated amounts</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Totals vs onboarding projections</a:t>
            </a:r>
            <a:endParaRPr lang="en-US" sz="1400" dirty="0"/>
          </a:p>
        </p:txBody>
      </p:sp>
      <p:sp>
        <p:nvSpPr>
          <p:cNvPr id="10" name="Shape 8"/>
          <p:cNvSpPr/>
          <p:nvPr/>
        </p:nvSpPr>
        <p:spPr>
          <a:xfrm>
            <a:off x="6720840" y="1920240"/>
            <a:ext cx="1874520" cy="2148840"/>
          </a:xfrm>
          <a:prstGeom prst="roundRect">
            <a:avLst>
              <a:gd name="adj" fmla="val 7317"/>
            </a:avLst>
          </a:prstGeom>
          <a:solidFill>
            <a:srgbClr val="186AFF"/>
          </a:solidFill>
          <a:ln w="12700">
            <a:solidFill>
              <a:srgbClr val="186AFF"/>
            </a:solidFill>
            <a:prstDash val="solid"/>
          </a:ln>
        </p:spPr>
      </p:sp>
      <p:sp>
        <p:nvSpPr>
          <p:cNvPr id="11" name="Text 9"/>
          <p:cNvSpPr txBox="1"/>
          <p:nvPr/>
        </p:nvSpPr>
        <p:spPr>
          <a:xfrm>
            <a:off x="6839712" y="2039112"/>
            <a:ext cx="1645920" cy="1920240"/>
          </a:xfrm>
          <a:prstGeom prst="rect">
            <a:avLst/>
          </a:prstGeom>
          <a:noFill/>
          <a:ln/>
        </p:spPr>
        <p:txBody>
          <a:bodyPr wrap="square" lIns="0" tIns="0" rIns="0" bIns="0" rtlCol="0" anchor="t"/>
          <a:lstStyle/>
          <a:p>
            <a:pPr indent="0" marL="0">
              <a:spcAft>
                <a:spcPts val="300"/>
              </a:spcAft>
              <a:buNone/>
            </a:pPr>
            <a:r>
              <a:rPr lang="en-US" sz="1400" b="1" dirty="0">
                <a:solidFill>
                  <a:srgbClr val="FFFFFF"/>
                </a:solidFill>
                <a:latin typeface="Arial" pitchFamily="34" charset="0"/>
                <a:ea typeface="Arial" pitchFamily="34" charset="-122"/>
                <a:cs typeface="Arial" pitchFamily="34" charset="-120"/>
              </a:rPr>
              <a:t>Activity patterns</a:t>
            </a:r>
            <a:endParaRPr lang="en-US" sz="1400" dirty="0"/>
          </a:p>
          <a:p>
            <a:pPr indent="0" marL="0">
              <a:spcAft>
                <a:spcPts val="500"/>
              </a:spcAft>
              <a:buNone/>
            </a:pPr>
            <a:r>
              <a:rPr lang="en-US" sz="1050" i="1" dirty="0">
                <a:solidFill>
                  <a:srgbClr val="FFFFFF"/>
                </a:solidFill>
                <a:latin typeface="Arial" pitchFamily="34" charset="0"/>
                <a:ea typeface="Arial" pitchFamily="34" charset="-122"/>
                <a:cs typeface="Arial" pitchFamily="34" charset="-120"/>
              </a:rPr>
              <a:t>The overall shape of the activity</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New countries, card types or customers</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Unusual times of day</a:t>
            </a:r>
            <a:endParaRPr lang="en-US" sz="1400" dirty="0"/>
          </a:p>
          <a:p>
            <a:pPr marL="127000" indent="-127000">
              <a:spcAft>
                <a:spcPts val="300"/>
              </a:spcAft>
              <a:buSzPct val="100000"/>
              <a:buChar char="•"/>
            </a:pPr>
            <a:r>
              <a:rPr lang="en-US" sz="1050" dirty="0">
                <a:solidFill>
                  <a:srgbClr val="FFFFFF"/>
                </a:solidFill>
                <a:latin typeface="Arial" pitchFamily="34" charset="0"/>
                <a:ea typeface="Arial" pitchFamily="34" charset="-122"/>
                <a:cs typeface="Arial" pitchFamily="34" charset="-120"/>
              </a:rPr>
              <a:t>Concentration in a few customers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2026-10-13T08:08:43Z</dcterms:created>
  <dcterms:modified xsi:type="dcterms:W3CDTF">2026-10-13T08:08:43Z</dcterms:modified>
</cp:coreProperties>
</file>