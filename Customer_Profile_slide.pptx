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"customer profile" means for an analyst
The merchant profile tells us who should be paying. The customer profile tells us who actually is. Comparing the two is often where an alert is explained, or where the real risk shows up.
Who? Identify who is behind the alerted payments.
- Name the cardholder and the fingerprint, and check for linked or associated cards. As we saw in Case 3, a second card can change the picture completely.
- Is the alerted activity driven by one customer or spread across many? A merchant alert caused by a single cardholder needs that cardholder reviewed, not the merchant in general.
- Concentration: what share of the volume comes from the top customers? A high concentration in a few cardholders can point to collusion, a related party, or a customer being used to move funds. For a merchant with a broad retail base, it is unexpected.
How? How are they making the transactions?
- Card type: debit, credit, prepaid or commercial. Each tells us something different. Prepaid cards can be harder to trace back to a funding source. Commercial cards on a consumer-facing merchant may be unexpected.
- Direction: pay-ins, payouts or both. Money going in and quickly coming out is a different risk from a customer simply spending.
- Does the payment method fit the business? Remember the "so what": stating "100% of payments were made by debit card" isn't enough. Say why that matters to this case.
Where? Where are the cards issued?
- Compare issuing countries with the merchant's stated target markets from onboarding and its website. A country that is an expected target market can explain an alert on its own, as in the Ukraine case.
- Check geographies against the current AML Geographic Risk Rating and HRTC list. Make sure you are using the latest version.
- Look for mismatches, for example a card issued in one country for a customer whose address or activity points to another.
So what? What does the profile tell us?
- Does the customer base fit what we would expect for this merchant?
- Do any patterns point to a typology, such as mule activity, collusion, or a customer acting on behalf of others? Only reference typologies that are relevant.
- Does the behaviour warrant a closer look, an RFI, or escalation? If not, say why.
In the note, the customer profile should be specific: name the cardholders or fingerprints that alerted, give the card types and issuing countries with figures, state the concentration, and finish with what it means for the outcome. Reviewing senders "in aggregate" was a specific piece of QA feedback, so focus on the customers who actually alerted.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3F5"/>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Customer Profile…</a:t>
            </a:r>
            <a:endParaRPr lang="en-US" sz="2800" dirty="0"/>
          </a:p>
        </p:txBody>
      </p:sp>
      <p:sp>
        <p:nvSpPr>
          <p:cNvPr id="3" name="Text 1"/>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Who is it?…</a:t>
            </a:r>
            <a:endParaRPr lang="en-US" sz="1400" dirty="0"/>
          </a:p>
        </p:txBody>
      </p:sp>
      <p:sp>
        <p:nvSpPr>
          <p:cNvPr id="4" name="Shape 2"/>
          <p:cNvSpPr/>
          <p:nvPr/>
        </p:nvSpPr>
        <p:spPr>
          <a:xfrm>
            <a:off x="548640" y="1280160"/>
            <a:ext cx="1874520" cy="2148840"/>
          </a:xfrm>
          <a:prstGeom prst="roundRect">
            <a:avLst>
              <a:gd name="adj" fmla="val 7317"/>
            </a:avLst>
          </a:prstGeom>
          <a:solidFill>
            <a:srgbClr val="186AFF"/>
          </a:solidFill>
          <a:ln w="12700">
            <a:solidFill>
              <a:srgbClr val="186AFF"/>
            </a:solidFill>
            <a:prstDash val="solid"/>
          </a:ln>
        </p:spPr>
      </p:sp>
      <p:sp>
        <p:nvSpPr>
          <p:cNvPr id="5" name="Text 3"/>
          <p:cNvSpPr txBox="1"/>
          <p:nvPr/>
        </p:nvSpPr>
        <p:spPr>
          <a:xfrm>
            <a:off x="667512" y="1399032"/>
            <a:ext cx="1645920" cy="1920240"/>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Who?</a:t>
            </a:r>
            <a:endParaRPr lang="en-US" sz="1400" dirty="0"/>
          </a:p>
          <a:p>
            <a:pPr indent="0" marL="0">
              <a:spcAft>
                <a:spcPts val="500"/>
              </a:spcAft>
              <a:buNone/>
            </a:pPr>
            <a:r>
              <a:rPr lang="en-US" sz="1050" i="1" dirty="0">
                <a:solidFill>
                  <a:srgbClr val="FFFFFF"/>
                </a:solidFill>
                <a:latin typeface="Arial" pitchFamily="34" charset="0"/>
                <a:ea typeface="Arial" pitchFamily="34" charset="-122"/>
                <a:cs typeface="Arial" pitchFamily="34" charset="-120"/>
              </a:rPr>
              <a:t>Identify who is behind the alerted payments</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Cardholder, fingerprint and any linked cards</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One customer or many?</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Concentration: share of volume from the top customers</a:t>
            </a:r>
            <a:endParaRPr lang="en-US" sz="1400" dirty="0"/>
          </a:p>
        </p:txBody>
      </p:sp>
      <p:sp>
        <p:nvSpPr>
          <p:cNvPr id="6" name="Shape 4"/>
          <p:cNvSpPr/>
          <p:nvPr/>
        </p:nvSpPr>
        <p:spPr>
          <a:xfrm>
            <a:off x="2606040" y="2560320"/>
            <a:ext cx="1874520" cy="2148840"/>
          </a:xfrm>
          <a:prstGeom prst="roundRect">
            <a:avLst>
              <a:gd name="adj" fmla="val 7317"/>
            </a:avLst>
          </a:prstGeom>
          <a:solidFill>
            <a:srgbClr val="186AFF"/>
          </a:solidFill>
          <a:ln w="12700">
            <a:solidFill>
              <a:srgbClr val="186AFF"/>
            </a:solidFill>
            <a:prstDash val="solid"/>
          </a:ln>
        </p:spPr>
      </p:sp>
      <p:sp>
        <p:nvSpPr>
          <p:cNvPr id="7" name="Text 5"/>
          <p:cNvSpPr txBox="1"/>
          <p:nvPr/>
        </p:nvSpPr>
        <p:spPr>
          <a:xfrm>
            <a:off x="2724912" y="2679192"/>
            <a:ext cx="1645920" cy="1920240"/>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How?</a:t>
            </a:r>
            <a:endParaRPr lang="en-US" sz="1400" dirty="0"/>
          </a:p>
          <a:p>
            <a:pPr indent="0" marL="0">
              <a:spcAft>
                <a:spcPts val="500"/>
              </a:spcAft>
              <a:buNone/>
            </a:pPr>
            <a:r>
              <a:rPr lang="en-US" sz="1050" i="1" dirty="0">
                <a:solidFill>
                  <a:srgbClr val="FFFFFF"/>
                </a:solidFill>
                <a:latin typeface="Arial" pitchFamily="34" charset="0"/>
                <a:ea typeface="Arial" pitchFamily="34" charset="-122"/>
                <a:cs typeface="Arial" pitchFamily="34" charset="-120"/>
              </a:rPr>
              <a:t>How are they making the transactions?</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Card type: debit, credit, prepaid or commercial</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Pay-ins, payouts or both</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Does the method fit the business?</a:t>
            </a:r>
            <a:endParaRPr lang="en-US" sz="1400" dirty="0"/>
          </a:p>
        </p:txBody>
      </p:sp>
      <p:sp>
        <p:nvSpPr>
          <p:cNvPr id="8" name="Shape 6"/>
          <p:cNvSpPr/>
          <p:nvPr/>
        </p:nvSpPr>
        <p:spPr>
          <a:xfrm>
            <a:off x="4663440" y="1188720"/>
            <a:ext cx="1874520" cy="2148840"/>
          </a:xfrm>
          <a:prstGeom prst="roundRect">
            <a:avLst>
              <a:gd name="adj" fmla="val 7317"/>
            </a:avLst>
          </a:prstGeom>
          <a:solidFill>
            <a:srgbClr val="186AFF"/>
          </a:solidFill>
          <a:ln w="12700">
            <a:solidFill>
              <a:srgbClr val="186AFF"/>
            </a:solidFill>
            <a:prstDash val="solid"/>
          </a:ln>
        </p:spPr>
      </p:sp>
      <p:sp>
        <p:nvSpPr>
          <p:cNvPr id="9" name="Text 7"/>
          <p:cNvSpPr txBox="1"/>
          <p:nvPr/>
        </p:nvSpPr>
        <p:spPr>
          <a:xfrm>
            <a:off x="4782312" y="1307592"/>
            <a:ext cx="1645920" cy="1920240"/>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Where?</a:t>
            </a:r>
            <a:endParaRPr lang="en-US" sz="1400" dirty="0"/>
          </a:p>
          <a:p>
            <a:pPr indent="0" marL="0">
              <a:spcAft>
                <a:spcPts val="500"/>
              </a:spcAft>
              <a:buNone/>
            </a:pPr>
            <a:r>
              <a:rPr lang="en-US" sz="1050" i="1" dirty="0">
                <a:solidFill>
                  <a:srgbClr val="FFFFFF"/>
                </a:solidFill>
                <a:latin typeface="Arial" pitchFamily="34" charset="0"/>
                <a:ea typeface="Arial" pitchFamily="34" charset="-122"/>
                <a:cs typeface="Arial" pitchFamily="34" charset="-120"/>
              </a:rPr>
              <a:t>Where are the cards issued?</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Issuing countries vs the merchant's target markets</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High-risk geographies (current risk rating)</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Card country vs customer location</a:t>
            </a:r>
            <a:endParaRPr lang="en-US" sz="1400" dirty="0"/>
          </a:p>
        </p:txBody>
      </p:sp>
      <p:sp>
        <p:nvSpPr>
          <p:cNvPr id="10" name="Shape 8"/>
          <p:cNvSpPr/>
          <p:nvPr/>
        </p:nvSpPr>
        <p:spPr>
          <a:xfrm>
            <a:off x="6720840" y="1920240"/>
            <a:ext cx="1874520" cy="2148840"/>
          </a:xfrm>
          <a:prstGeom prst="roundRect">
            <a:avLst>
              <a:gd name="adj" fmla="val 7317"/>
            </a:avLst>
          </a:prstGeom>
          <a:solidFill>
            <a:srgbClr val="186AFF"/>
          </a:solidFill>
          <a:ln w="12700">
            <a:solidFill>
              <a:srgbClr val="186AFF"/>
            </a:solidFill>
            <a:prstDash val="solid"/>
          </a:ln>
        </p:spPr>
      </p:sp>
      <p:sp>
        <p:nvSpPr>
          <p:cNvPr id="11" name="Text 9"/>
          <p:cNvSpPr txBox="1"/>
          <p:nvPr/>
        </p:nvSpPr>
        <p:spPr>
          <a:xfrm>
            <a:off x="6839712" y="2039112"/>
            <a:ext cx="1645920" cy="1920240"/>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Arial" pitchFamily="34" charset="0"/>
                <a:ea typeface="Arial" pitchFamily="34" charset="-122"/>
                <a:cs typeface="Arial" pitchFamily="34" charset="-120"/>
              </a:rPr>
              <a:t>So what?</a:t>
            </a:r>
            <a:endParaRPr lang="en-US" sz="1400" dirty="0"/>
          </a:p>
          <a:p>
            <a:pPr indent="0" marL="0">
              <a:spcAft>
                <a:spcPts val="500"/>
              </a:spcAft>
              <a:buNone/>
            </a:pPr>
            <a:r>
              <a:rPr lang="en-US" sz="1050" i="1" dirty="0">
                <a:solidFill>
                  <a:srgbClr val="FFFFFF"/>
                </a:solidFill>
                <a:latin typeface="Arial" pitchFamily="34" charset="0"/>
                <a:ea typeface="Arial" pitchFamily="34" charset="-122"/>
                <a:cs typeface="Arial" pitchFamily="34" charset="-120"/>
              </a:rPr>
              <a:t>What does the profile tell us?</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Does it fit the expected customer base?</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Do any patterns point to a typology?</a:t>
            </a:r>
            <a:endParaRPr lang="en-US" sz="1400" dirty="0"/>
          </a:p>
          <a:p>
            <a:pPr marL="127000" indent="-127000">
              <a:spcAft>
                <a:spcPts val="300"/>
              </a:spcAft>
              <a:buSzPct val="100000"/>
              <a:buChar char="•"/>
            </a:pPr>
            <a:r>
              <a:rPr lang="en-US" sz="1050" dirty="0">
                <a:solidFill>
                  <a:srgbClr val="FFFFFF"/>
                </a:solidFill>
                <a:latin typeface="Arial" pitchFamily="34" charset="0"/>
                <a:ea typeface="Arial" pitchFamily="34" charset="-122"/>
                <a:cs typeface="Arial" pitchFamily="34" charset="-120"/>
              </a:rPr>
              <a:t>Does it warrant a closer look or an RFI?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2026-10-13T08:17:31Z</dcterms:created>
  <dcterms:modified xsi:type="dcterms:W3CDTF">2026-10-13T08:17:31Z</dcterms:modified>
</cp:coreProperties>
</file>